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
  </p:notesMasterIdLst>
  <p:handoutMasterIdLst>
    <p:handoutMasterId r:id="rId38"/>
  </p:handoutMasterIdLst>
  <p:sldIdLst>
    <p:sldId id="256" r:id="rId3"/>
    <p:sldId id="257" r:id="rId4"/>
    <p:sldId id="258" r:id="rId5"/>
    <p:sldId id="259" r:id="rId6"/>
    <p:sldId id="260" r:id="rId8"/>
    <p:sldId id="282" r:id="rId9"/>
    <p:sldId id="261" r:id="rId10"/>
    <p:sldId id="262" r:id="rId11"/>
    <p:sldId id="263" r:id="rId12"/>
    <p:sldId id="283" r:id="rId13"/>
    <p:sldId id="267" r:id="rId14"/>
    <p:sldId id="284" r:id="rId15"/>
    <p:sldId id="269" r:id="rId16"/>
    <p:sldId id="285" r:id="rId17"/>
    <p:sldId id="268" r:id="rId18"/>
    <p:sldId id="270" r:id="rId19"/>
    <p:sldId id="265" r:id="rId20"/>
    <p:sldId id="264" r:id="rId21"/>
    <p:sldId id="266" r:id="rId22"/>
    <p:sldId id="271" r:id="rId23"/>
    <p:sldId id="272" r:id="rId24"/>
    <p:sldId id="273" r:id="rId25"/>
    <p:sldId id="274" r:id="rId26"/>
    <p:sldId id="275" r:id="rId27"/>
    <p:sldId id="291" r:id="rId28"/>
    <p:sldId id="290" r:id="rId29"/>
    <p:sldId id="276" r:id="rId30"/>
    <p:sldId id="277" r:id="rId31"/>
    <p:sldId id="278" r:id="rId32"/>
    <p:sldId id="279" r:id="rId33"/>
    <p:sldId id="280" r:id="rId34"/>
    <p:sldId id="289" r:id="rId35"/>
    <p:sldId id="288" r:id="rId36"/>
    <p:sldId id="281" r:id="rId37"/>
  </p:sldIdLst>
  <p:sldSz cx="12192000" cy="6858000"/>
  <p:notesSz cx="6858000" cy="9144000"/>
  <p:embeddedFontLst>
    <p:embeddedFont>
      <p:font typeface="微软雅黑" panose="020B0503020204020204" charset="-122"/>
      <p:regular r:id="rId43"/>
    </p:embeddedFont>
    <p:embeddedFont>
      <p:font typeface="Comic Sans MS" panose="030F0702030302020204"/>
      <p:regular r:id="rId44"/>
      <p:bold r:id="rId45"/>
      <p:italic r:id="rId46"/>
      <p:boldItalic r:id="rId47"/>
    </p:embeddedFont>
    <p:embeddedFont>
      <p:font typeface="华文琥珀" panose="02010800040101010101" charset="-122"/>
      <p:regular r:id="rId48"/>
    </p:embeddedFont>
    <p:embeddedFont>
      <p:font typeface="新宋体" panose="02010609030101010101" charset="-122"/>
      <p:regular r:id="rId49"/>
    </p:embeddedFont>
    <p:embeddedFont>
      <p:font typeface="Calibri" panose="020F0502020204030204" charset="0"/>
      <p:regular r:id="rId50"/>
      <p:bold r:id="rId51"/>
      <p:italic r:id="rId52"/>
      <p:boldItalic r:id="rId53"/>
    </p:embeddedFont>
    <p:embeddedFont>
      <p:font typeface="华文宋体" panose="02010600040101010101" charset="-122"/>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3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031545521" name="幽幽人生" initials="幽"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36"/>
        <p:guide pos="2832"/>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4" Type="http://schemas.openxmlformats.org/officeDocument/2006/relationships/font" Target="fonts/font12.fntdata"/><Relationship Id="rId53" Type="http://schemas.openxmlformats.org/officeDocument/2006/relationships/font" Target="fonts/font11.fntdata"/><Relationship Id="rId52" Type="http://schemas.openxmlformats.org/officeDocument/2006/relationships/font" Target="fonts/font10.fntdata"/><Relationship Id="rId51" Type="http://schemas.openxmlformats.org/officeDocument/2006/relationships/font" Target="fonts/font9.fntdata"/><Relationship Id="rId50" Type="http://schemas.openxmlformats.org/officeDocument/2006/relationships/font" Target="fonts/font8.fntdata"/><Relationship Id="rId5" Type="http://schemas.openxmlformats.org/officeDocument/2006/relationships/slide" Target="slides/slide3.xml"/><Relationship Id="rId49" Type="http://schemas.openxmlformats.org/officeDocument/2006/relationships/font" Target="fonts/font7.fntdata"/><Relationship Id="rId48" Type="http://schemas.openxmlformats.org/officeDocument/2006/relationships/font" Target="fonts/font6.fntdata"/><Relationship Id="rId47" Type="http://schemas.openxmlformats.org/officeDocument/2006/relationships/font" Target="fonts/font5.fntdata"/><Relationship Id="rId46" Type="http://schemas.openxmlformats.org/officeDocument/2006/relationships/font" Target="fonts/font4.fntdata"/><Relationship Id="rId45" Type="http://schemas.openxmlformats.org/officeDocument/2006/relationships/font" Target="fonts/font3.fntdata"/><Relationship Id="rId44" Type="http://schemas.openxmlformats.org/officeDocument/2006/relationships/font" Target="fonts/font2.fntdata"/><Relationship Id="rId43" Type="http://schemas.openxmlformats.org/officeDocument/2006/relationships/font" Target="fonts/font1.fntdata"/><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031545521" dt="2025-02-28T09:36:44.146" idx="1">
    <p:pos x="3781" y="19"/>
    <p:text>特别指出的是，有些传感器发送的是RS485信号，需要转换成TTL信号方可被Arduino MEGA 2560主板接收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当前全球气候变化已进入</a:t>
            </a:r>
            <a:r>
              <a:rPr lang="en-US" altLang="zh-CN"/>
              <a:t>"</a:t>
            </a:r>
            <a:r>
              <a:rPr lang="zh-CN" altLang="en-US"/>
              <a:t>加速模式</a:t>
            </a:r>
            <a:r>
              <a:rPr lang="en-US" altLang="zh-CN"/>
              <a:t>"</a:t>
            </a:r>
            <a:r>
              <a:rPr lang="zh-CN" altLang="en-US"/>
              <a:t>，全球变暖、冰川融化等危机不断加剧</a:t>
            </a:r>
            <a:r>
              <a:rPr lang="en-US" altLang="zh-CN"/>
              <a:t>‌</a:t>
            </a:r>
            <a:r>
              <a:rPr lang="zh-CN" altLang="en-US"/>
              <a:t>。从《巴黎协定》到</a:t>
            </a:r>
            <a:r>
              <a:rPr lang="en-US" altLang="zh-CN"/>
              <a:t>COP28</a:t>
            </a:r>
            <a:r>
              <a:rPr lang="zh-CN" altLang="en-US"/>
              <a:t>气候峰会，国际社会已形成</a:t>
            </a:r>
            <a:r>
              <a:rPr lang="en-US" altLang="zh-CN"/>
              <a:t>"</a:t>
            </a:r>
            <a:r>
              <a:rPr lang="zh-CN" altLang="en-US"/>
              <a:t>监测先行</a:t>
            </a:r>
            <a:r>
              <a:rPr lang="en-US" altLang="zh-CN"/>
              <a:t>"</a:t>
            </a:r>
            <a:r>
              <a:rPr lang="zh-CN" altLang="en-US"/>
              <a:t>的共识</a:t>
            </a:r>
            <a:r>
              <a:rPr lang="en-US" altLang="zh-CN"/>
              <a:t>‌</a:t>
            </a:r>
            <a:r>
              <a:rPr lang="zh-CN" altLang="en-US"/>
              <a:t>。各国要求建立</a:t>
            </a:r>
            <a:r>
              <a:rPr lang="en-US" altLang="zh-CN"/>
              <a:t>‌</a:t>
            </a:r>
            <a:r>
              <a:rPr lang="zh-CN" altLang="en-US"/>
              <a:t>透明化、可追溯的碳排放。</a:t>
            </a:r>
            <a:r>
              <a:rPr lang="en-US" altLang="zh-CN"/>
              <a:t>‌</a:t>
            </a:r>
            <a:r>
              <a:rPr lang="zh-CN" altLang="en-US"/>
              <a:t>传统人工监测存在数据滞后、误差率高的问题。因此，我们设计了这套智能碳排放检测系统。</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感知层：</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由各类传感器组成，负责实时采集环境中的各种参数。</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endParaRPr>
          </a:p>
          <a:p>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rPr>
              <a:t>网络层：</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通过WIFI模块将感知层收集的数据传输至</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平台层</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处理，采用无线方式传输。</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r>
              <a:rPr lang="zh-CN" alt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rPr>
              <a:t>平台层：</a:t>
            </a:r>
            <a:r>
              <a:rPr 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rPr>
              <a:t>接收网络层数据，进行存储、分析和处理，提供用户交互界面和决策支持。</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rPr>
              <a:t>应用层：</a:t>
            </a:r>
            <a:r>
              <a:rPr 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rPr>
              <a:t>根据平台层的指令，调整碳排放源的工作状态</a:t>
            </a:r>
            <a:r>
              <a:rPr lang="zh-CN" alt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rPr>
              <a:t>，并决策是否启动执行层。</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rPr>
              <a:t>执行层：</a:t>
            </a:r>
            <a:r>
              <a:rPr lang="zh-CN" alt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rPr>
              <a:t>如收到应用</a:t>
            </a:r>
            <a:r>
              <a:rPr 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rPr>
              <a:t>层的指令，控制执行机构调节报警灯、小风扇、蜂鸣器等</a:t>
            </a:r>
            <a:r>
              <a:rPr lang="zh-CN" alt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rPr>
              <a:t>，启动报警。</a:t>
            </a:r>
            <a:endParaRPr lang="zh-CN" altLang="en-US">
              <a:solidFill>
                <a:srgbClr val="222222">
                  <a:alpha val="100000"/>
                </a:srgbClr>
              </a:solidFill>
              <a:latin typeface="微软雅黑" panose="020B0503020204020204" charset="-122"/>
              <a:ea typeface="微软雅黑" panose="020B0503020204020204" charset="-122"/>
              <a:cs typeface="微软雅黑" panose="020B0503020204020204" charset="-122"/>
              <a:sym typeface="+mn-ea"/>
            </a:endParaRPr>
          </a:p>
          <a:p>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a:solidFill>
                  <a:schemeClr val="accent5">
                    <a:alpha val="100000"/>
                  </a:schemeClr>
                </a:solidFill>
                <a:latin typeface="微软雅黑" panose="020B0503020204020204" charset="-122"/>
                <a:ea typeface="微软雅黑" panose="020B0503020204020204" charset="-122"/>
                <a:cs typeface="微软雅黑" panose="020B0503020204020204" charset="-122"/>
                <a:sym typeface="+mn-ea"/>
              </a:rPr>
              <a:t>设备搭建</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：将各类传感器作为从机去连接</a:t>
            </a:r>
            <a:r>
              <a:rPr lang="en-US" altLang="zh-CN">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Arduino MEGA 2560</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主板（主机），通过面包板，按照正负电压，引脚资源等为各个传感器提供所需资源。</a:t>
            </a:r>
            <a:endPar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b="1">
                <a:solidFill>
                  <a:schemeClr val="accent5">
                    <a:alpha val="100000"/>
                  </a:schemeClr>
                </a:solidFill>
                <a:latin typeface="微软雅黑" panose="020B0503020204020204" charset="-122"/>
                <a:ea typeface="微软雅黑" panose="020B0503020204020204" charset="-122"/>
                <a:cs typeface="微软雅黑" panose="020B0503020204020204" charset="-122"/>
                <a:sym typeface="+mn-ea"/>
              </a:rPr>
              <a:t>WiFi通信</a:t>
            </a:r>
            <a:r>
              <a:rPr lang="zh-CN" altLang="en-US" b="1">
                <a:solidFill>
                  <a:schemeClr val="accent5">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通过</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编写</a:t>
            </a:r>
            <a:r>
              <a:rPr lang="en-US" altLang="zh-CN">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C</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语言代码程序，让</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WiFi网络</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实现</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稳定连接，确保数据传输的高效性与可靠性。</a:t>
            </a:r>
            <a:endParaRPr lang="en-US" b="1">
              <a:solidFill>
                <a:schemeClr val="accent5">
                  <a:alpha val="100000"/>
                </a:schemeClr>
              </a:solidFill>
              <a:latin typeface="微软雅黑" panose="020B0503020204020204" charset="-122"/>
              <a:ea typeface="微软雅黑" panose="020B0503020204020204" charset="-122"/>
              <a:cs typeface="微软雅黑" panose="020B0503020204020204" charset="-122"/>
              <a:sym typeface="+mn-ea"/>
            </a:endParaRPr>
          </a:p>
          <a:p>
            <a:r>
              <a:rPr lang="en-US" b="1">
                <a:solidFill>
                  <a:schemeClr val="accent5">
                    <a:alpha val="100000"/>
                  </a:schemeClr>
                </a:solidFill>
                <a:latin typeface="微软雅黑" panose="020B0503020204020204" charset="-122"/>
                <a:ea typeface="微软雅黑" panose="020B0503020204020204" charset="-122"/>
                <a:cs typeface="微软雅黑" panose="020B0503020204020204" charset="-122"/>
                <a:sym typeface="+mn-ea"/>
              </a:rPr>
              <a:t>Arduino MEGA 2560获取传感器数据</a:t>
            </a:r>
            <a:r>
              <a:rPr lang="zh-CN" altLang="en-US" b="1">
                <a:solidFill>
                  <a:schemeClr val="accent5">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利用Arduino MEGA 2560的编程能力，从多种传感器中实时获取并处理数据，通过ATK-ESP8266-WiFi模块向OneNET云平台发送采集数据。</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spcBef>
                <a:spcPts val="270"/>
              </a:spcBef>
              <a:defRPr/>
            </a:pPr>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OneNET云平台搭建</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在OneNET云平台创建应用，搭建云平台环境，为后续开发提供基础。</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spcBef>
                <a:spcPts val="270"/>
              </a:spcBef>
              <a:defRPr/>
            </a:pPr>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物理设备配置</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在</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OneNET</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云平台上将</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传感器、数据采集器等设备</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进行设备</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配置，确保能够实时采集环境数据。</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spcBef>
                <a:spcPts val="270"/>
              </a:spcBef>
              <a:defRPr/>
            </a:pPr>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OneNET云平台提供API接口</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OneNET云平台提供丰富的API接口，包括设备接入、数据读取等，便于开发者进行二次开发</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endParaRPr>
          </a:p>
          <a:p>
            <a:pPr algn="l">
              <a:spcBef>
                <a:spcPts val="270"/>
              </a:spcBef>
              <a:defRPr/>
            </a:pPr>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下发命令</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通过OneNET云平台，向设备下发控制命令，如启动报警信号、终止报警信号等，实现远程管理。</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spcBef>
                <a:spcPts val="270"/>
              </a:spcBef>
              <a:defRPr/>
            </a:pPr>
            <a:endParaRPr lang="zh-CN" altLang="en-US" b="1">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框架选择</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基于SpringBoot框架，利用其简单易用的特性，快速构建稳定可靠的后端系统。</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消息传递</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通过连接OneNET云平台提供的API接口，实现系统组件间通信与同步，确保数据流转高效。</a:t>
            </a:r>
            <a:endPar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任务调度</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使用@Scheduled注解配置，实现定时任务管理，如</a:t>
            </a:r>
            <a:r>
              <a:rPr lang="en-US">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定期数据采集</a:t>
            </a:r>
            <a:r>
              <a:rPr lang="zh-CN" altLang="en-US">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ltLang="zh-CN">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10s</a:t>
            </a:r>
            <a:r>
              <a:rPr lang="zh-CN" altLang="en-US">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zh-CN" alt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等。</a:t>
            </a:r>
            <a:endPar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安全控制</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采用Spring Security框架，实现用户认证与授权，保障系统访问安全。</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endPar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a:p>
            <a:endPar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注册和登入界面</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提供清晰注册和登入流程，支持用户名、密码及验证码登录，保障用户账户安全。</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系统</a:t>
            </a:r>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首页</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用户登入后跳转至首页，侧栏展示系统核心功能名称，如设备管理、工厂管理等。</a:t>
            </a:r>
            <a:endParaRPr lang="en-US">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endPar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a:p>
            <a:endPar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设备管理界面</a:t>
            </a:r>
            <a:r>
              <a:rPr lang="zh-CN" alt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在该界面中，</a:t>
            </a:r>
            <a:r>
              <a:rPr lang="zh-CN" alt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可以直观查看到设备的运行状态，了解设备是否故障。</a:t>
            </a:r>
            <a:r>
              <a:rPr 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用户可在检索框中输入工厂名进行搜索，即可查看到所有工厂的信息</a:t>
            </a:r>
            <a:r>
              <a:rPr lang="zh-CN" alt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实时数据监测界面</a:t>
            </a:r>
            <a:r>
              <a:rPr lang="zh-CN" alt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a:t>
            </a:r>
            <a:r>
              <a:rPr 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在该界面中，可以实时查看三类监测气体的实时气体浓度，空气流速，每小时的碳排放量以及该类气体一个月内的碳排放总量</a:t>
            </a:r>
            <a:r>
              <a:rPr lang="zh-CN" alt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endParaRPr lang="zh-CN" altLang="en-US"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r>
              <a:rPr lang="en-US"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历史数据界面</a:t>
            </a:r>
            <a:r>
              <a:rPr lang="zh-CN" alt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sym typeface="+mn-ea"/>
              </a:rPr>
              <a:t>用户可以详细的查看到历史数据，同时可以通过工厂名筛选查看所选工厂的历史数据。</a:t>
            </a:r>
            <a:endParaRPr lang="en-US">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endParaRPr lang="zh-CN" altLang="en-US">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nSpc>
                <a:spcPct val="100000"/>
              </a:lnSpc>
              <a:spcBef>
                <a:spcPts val="375"/>
              </a:spcBef>
            </a:pPr>
            <a:r>
              <a:rPr lang="zh-CN" altLang="en-US"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我们</a:t>
            </a:r>
            <a:r>
              <a:rPr lang="en-US"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以图表的形式对采集到的数据进行对比展示，可以使用户更加清晰明了的观察到各个工厂内的二氧化碳浓度的变化情况，并根据相关情况做出调整效果。</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数据预测</a:t>
            </a:r>
            <a:r>
              <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a:t>
            </a:r>
            <a:r>
              <a:rPr 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使用python中request库，向后端发出调用所有监测数据的HTTP请求，读取factory的csv文件，采用基于时间序列分析的自回归积分滑动平均（ARIMA）模型创建预测模型，</a:t>
            </a:r>
            <a:r>
              <a:rPr lang="zh-CN" alt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用</a:t>
            </a:r>
            <a:r>
              <a:rPr 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csv</a:t>
            </a:r>
            <a:r>
              <a:rPr lang="zh-CN" alt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文件中的</a:t>
            </a:r>
            <a:r>
              <a:rPr 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数据</a:t>
            </a:r>
            <a:r>
              <a:rPr lang="zh-CN" alt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进行</a:t>
            </a:r>
            <a:r>
              <a:rPr 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预测，将预测结果与测试</a:t>
            </a:r>
            <a:r>
              <a:rPr lang="zh-CN" alt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结果</a:t>
            </a:r>
            <a:r>
              <a:rPr 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进行对比，最后</a:t>
            </a:r>
            <a:r>
              <a:rPr lang="zh-CN" alt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将</a:t>
            </a:r>
            <a:r>
              <a:rPr 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图片呈</a:t>
            </a:r>
            <a:r>
              <a:rPr lang="zh-CN" alt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现在数据预测界面</a:t>
            </a:r>
            <a:r>
              <a:rPr lang="en-US" i="1">
                <a:solidFill>
                  <a:srgbClr val="775604">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该界面收集了所有超出阈值范围的异常数据，给用户起到了一个预警的作用</a:t>
            </a:r>
            <a:r>
              <a:rPr lang="zh-CN" altLang="en-US"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a:t>
            </a:r>
            <a:r>
              <a:rPr lang="en-US"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同时用户可通过检索框搜索工厂</a:t>
            </a:r>
            <a:r>
              <a:rPr lang="zh-CN" altLang="en-US"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名</a:t>
            </a:r>
            <a:r>
              <a:rPr lang="en-US"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来查看该工厂内的异常数据。</a:t>
            </a:r>
            <a:endParaRPr lang="en-US" b="1" i="1">
              <a:solidFill>
                <a:srgbClr val="775604">
                  <a:alpha val="100000"/>
                </a:srgbClr>
              </a:solidFill>
              <a:latin typeface="微软雅黑" panose="020B0503020204020204" charset="-122"/>
              <a:ea typeface="微软雅黑" panose="020B0503020204020204" charset="-122"/>
              <a:cs typeface="新宋体" panose="02010609030101010101" charset="-122"/>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sym typeface="+mn-ea"/>
              </a:rPr>
              <a:t>多维数据监控分析：</a:t>
            </a:r>
            <a:r>
              <a:rPr lang="en-US"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sym typeface="+mn-ea"/>
              </a:rPr>
              <a:t>系统能够实时监测工业环境中的二氧化碳</a:t>
            </a:r>
            <a:r>
              <a:rPr lang="zh-CN" altLang="en-US"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sym typeface="+mn-ea"/>
              </a:rPr>
              <a:t>等气体</a:t>
            </a:r>
            <a:r>
              <a:rPr lang="en-US"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sym typeface="+mn-ea"/>
              </a:rPr>
              <a:t>浓度</a:t>
            </a:r>
            <a:r>
              <a:rPr lang="zh-CN" altLang="en-US"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sym typeface="+mn-ea"/>
              </a:rPr>
              <a:t>，</a:t>
            </a:r>
            <a:r>
              <a:rPr lang="en-US"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sym typeface="+mn-ea"/>
              </a:rPr>
              <a:t>空气流速等关键参数</a:t>
            </a:r>
            <a:r>
              <a:rPr lang="zh-CN" altLang="en-US"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sym typeface="+mn-ea"/>
              </a:rPr>
              <a:t>，</a:t>
            </a:r>
            <a:r>
              <a:rPr lang="en-US" b="1">
                <a:solidFill>
                  <a:srgbClr val="425941">
                    <a:alpha val="100000"/>
                  </a:srgbClr>
                </a:solidFill>
                <a:latin typeface="微软雅黑" panose="020B0503020204020204" charset="-122"/>
                <a:ea typeface="微软雅黑" panose="020B0503020204020204" charset="-122"/>
                <a:cs typeface="宋体" panose="02010600030101010101" pitchFamily="2" charset="-122"/>
                <a:sym typeface="+mn-ea"/>
              </a:rPr>
              <a:t>对收集到的数据进行统计分析，并以图表形式展示，帮助用户发现数据规律和趋势。</a:t>
            </a:r>
            <a:endParaRPr lang="zh-CN" altLang="en-US"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endParaRPr>
          </a:p>
          <a:p>
            <a:r>
              <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sym typeface="+mn-ea"/>
              </a:rPr>
              <a:t>多终端协调：</a:t>
            </a:r>
            <a:r>
              <a:rPr lang="zh-CN" altLang="en-US" b="1">
                <a:solidFill>
                  <a:srgbClr val="425941">
                    <a:alpha val="100000"/>
                  </a:srgbClr>
                </a:solidFill>
                <a:latin typeface="微软雅黑" panose="020B0503020204020204" charset="-122"/>
                <a:ea typeface="微软雅黑" panose="020B0503020204020204" charset="-122"/>
                <a:cs typeface="宋体" panose="02010600030101010101" pitchFamily="2" charset="-122"/>
                <a:sym typeface="+mn-ea"/>
              </a:rPr>
              <a:t>系统采用了物联网终端、</a:t>
            </a:r>
            <a:r>
              <a:rPr lang="en-US" altLang="zh-CN" b="1">
                <a:solidFill>
                  <a:srgbClr val="425941">
                    <a:alpha val="100000"/>
                  </a:srgbClr>
                </a:solidFill>
                <a:latin typeface="微软雅黑" panose="020B0503020204020204" charset="-122"/>
                <a:ea typeface="微软雅黑" panose="020B0503020204020204" charset="-122"/>
                <a:cs typeface="宋体" panose="02010600030101010101" pitchFamily="2" charset="-122"/>
                <a:sym typeface="+mn-ea"/>
              </a:rPr>
              <a:t>PC</a:t>
            </a:r>
            <a:r>
              <a:rPr lang="zh-CN" altLang="en-US" b="1">
                <a:solidFill>
                  <a:srgbClr val="425941">
                    <a:alpha val="100000"/>
                  </a:srgbClr>
                </a:solidFill>
                <a:latin typeface="微软雅黑" panose="020B0503020204020204" charset="-122"/>
                <a:ea typeface="微软雅黑" panose="020B0503020204020204" charset="-122"/>
                <a:cs typeface="宋体" panose="02010600030101010101" pitchFamily="2" charset="-122"/>
                <a:sym typeface="+mn-ea"/>
              </a:rPr>
              <a:t>端和小程序端的协同工作，形成了一个高效的多终端协调架构。</a:t>
            </a:r>
            <a:endParaRPr lang="zh-CN" altLang="en-US" b="1">
              <a:solidFill>
                <a:srgbClr val="425941">
                  <a:alpha val="100000"/>
                </a:srgbClr>
              </a:solidFill>
              <a:latin typeface="微软雅黑" panose="020B0503020204020204" charset="-122"/>
              <a:ea typeface="微软雅黑" panose="020B0503020204020204" charset="-122"/>
              <a:cs typeface="宋体" panose="02010600030101010101" pitchFamily="2" charset="-122"/>
            </a:endParaRPr>
          </a:p>
          <a:p>
            <a:r>
              <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sym typeface="+mn-ea"/>
              </a:rPr>
              <a:t>自动化远程调控：</a:t>
            </a:r>
            <a:r>
              <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面对异常数据，系统能够自动通过下行链路进行远程调控，并及时采取报警措施，确保环境安全与稳定运行。</a:t>
            </a:r>
            <a:endPar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endParaRPr>
          </a:p>
          <a:p>
            <a:r>
              <a:rPr lang="en-US" b="1">
                <a:solidFill>
                  <a:srgbClr val="669B51">
                    <a:alpha val="100000"/>
                  </a:srgbClr>
                </a:solidFill>
                <a:latin typeface="微软雅黑" panose="020B0503020204020204" charset="-122"/>
                <a:ea typeface="微软雅黑" panose="020B0503020204020204" charset="-122"/>
                <a:cs typeface="微软雅黑" panose="020B0503020204020204" charset="-122"/>
                <a:sym typeface="+mn-ea"/>
              </a:rPr>
              <a:t>AI</a:t>
            </a:r>
            <a:r>
              <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sym typeface="+mn-ea"/>
              </a:rPr>
              <a:t>智能预测</a:t>
            </a:r>
            <a:r>
              <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rPr>
              <a:t>：</a:t>
            </a:r>
            <a:r>
              <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为了提高预测精度，我们对四种基于时间序列的预测算法进行了对比，最终选定了预测效果最优的</a:t>
            </a:r>
            <a:r>
              <a:rPr lang="en-US" altLang="zh-CN"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ARIMA</a:t>
            </a:r>
            <a:r>
              <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算法，进一步提升了数据预测的准确性与可靠性。</a:t>
            </a:r>
            <a:endPar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endPar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endParaRPr>
          </a:p>
          <a:p>
            <a:endPar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endParaRPr>
          </a:p>
          <a:p>
            <a:endParaRPr lang="zh-CN" altLang="en-US" b="1">
              <a:solidFill>
                <a:srgbClr val="669B51">
                  <a:alpha val="100000"/>
                </a:srgbClr>
              </a:solidFill>
              <a:latin typeface="微软雅黑" panose="020B0503020204020204" charset="-122"/>
              <a:ea typeface="微软雅黑" panose="020B0503020204020204" charset="-122"/>
              <a:cs typeface="微软雅黑" panose="020B0503020204020204" charset="-122"/>
            </a:endParaRPr>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助力</a:t>
            </a:r>
            <a:r>
              <a:rPr 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减</a:t>
            </a:r>
            <a:r>
              <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碳</a:t>
            </a:r>
            <a:r>
              <a:rPr 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排</a:t>
            </a:r>
            <a:r>
              <a:rPr lang="zh-CN" alt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放</a:t>
            </a:r>
            <a:r>
              <a:rPr lang="en-US"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策略</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png"/><Relationship Id="rId11" Type="http://schemas.openxmlformats.org/officeDocument/2006/relationships/slideLayout" Target="../slideLayouts/slideLayout7.xml"/><Relationship Id="rId10" Type="http://schemas.openxmlformats.org/officeDocument/2006/relationships/tags" Target="../tags/tag8.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image" Target="../media/image5.jpeg"/><Relationship Id="rId16" Type="http://schemas.openxmlformats.org/officeDocument/2006/relationships/notesSlide" Target="../notesSlides/notesSlide1.xml"/><Relationship Id="rId15" Type="http://schemas.openxmlformats.org/officeDocument/2006/relationships/slideLayout" Target="../slideLayouts/slideLayout7.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tags" Target="../tags/tag17.xml"/><Relationship Id="rId10" Type="http://schemas.openxmlformats.org/officeDocument/2006/relationships/tags" Target="../tags/tag16.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image" Target="../media/image6.jpeg"/><Relationship Id="rId15" Type="http://schemas.openxmlformats.org/officeDocument/2006/relationships/slideLayout" Target="../slideLayouts/slideLayout7.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6.jpe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image" Target="../media/image12.jpeg"/><Relationship Id="rId8" Type="http://schemas.openxmlformats.org/officeDocument/2006/relationships/tags" Target="../tags/tag36.xml"/><Relationship Id="rId7" Type="http://schemas.openxmlformats.org/officeDocument/2006/relationships/image" Target="../media/image11.jpeg"/><Relationship Id="rId6" Type="http://schemas.openxmlformats.org/officeDocument/2006/relationships/tags" Target="../tags/tag35.xml"/><Relationship Id="rId5" Type="http://schemas.openxmlformats.org/officeDocument/2006/relationships/image" Target="../media/image10.jpeg"/><Relationship Id="rId4" Type="http://schemas.openxmlformats.org/officeDocument/2006/relationships/tags" Target="../tags/tag34.xml"/><Relationship Id="rId3" Type="http://schemas.openxmlformats.org/officeDocument/2006/relationships/image" Target="../media/image9.jpeg"/><Relationship Id="rId2" Type="http://schemas.openxmlformats.org/officeDocument/2006/relationships/tags" Target="../tags/tag33.xml"/><Relationship Id="rId18" Type="http://schemas.openxmlformats.org/officeDocument/2006/relationships/slideLayout" Target="../slideLayouts/slideLayout7.xml"/><Relationship Id="rId17" Type="http://schemas.openxmlformats.org/officeDocument/2006/relationships/tags" Target="../tags/tag44.xml"/><Relationship Id="rId16" Type="http://schemas.openxmlformats.org/officeDocument/2006/relationships/tags" Target="../tags/tag43.xml"/><Relationship Id="rId15" Type="http://schemas.openxmlformats.org/officeDocument/2006/relationships/tags" Target="../tags/tag42.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jpeg"/><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1" Type="http://schemas.openxmlformats.org/officeDocument/2006/relationships/comments" Target="../comments/comment1.xml"/><Relationship Id="rId10" Type="http://schemas.openxmlformats.org/officeDocument/2006/relationships/notesSlide" Target="../notesSlides/notesSlide3.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tags" Target="../tags/tag56.xml"/><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image" Target="../media/image21.jpeg"/><Relationship Id="rId16" Type="http://schemas.openxmlformats.org/officeDocument/2006/relationships/notesSlide" Target="../notesSlides/notesSlide6.xml"/><Relationship Id="rId15" Type="http://schemas.openxmlformats.org/officeDocument/2006/relationships/slideLayout" Target="../slideLayouts/slideLayout7.xml"/><Relationship Id="rId14" Type="http://schemas.openxmlformats.org/officeDocument/2006/relationships/tags" Target="../tags/tag62.xml"/><Relationship Id="rId13" Type="http://schemas.openxmlformats.org/officeDocument/2006/relationships/tags" Target="../tags/tag61.xml"/><Relationship Id="rId12" Type="http://schemas.openxmlformats.org/officeDocument/2006/relationships/tags" Target="../tags/tag60.xml"/><Relationship Id="rId11" Type="http://schemas.openxmlformats.org/officeDocument/2006/relationships/tags" Target="../tags/tag59.xml"/><Relationship Id="rId10" Type="http://schemas.openxmlformats.org/officeDocument/2006/relationships/tags" Target="../tags/tag58.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jpe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3.png"/><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image" Target="../media/image24.png"/><Relationship Id="rId12" Type="http://schemas.openxmlformats.org/officeDocument/2006/relationships/notesSlide" Target="../notesSlides/notesSlide7.xml"/><Relationship Id="rId11" Type="http://schemas.openxmlformats.org/officeDocument/2006/relationships/slideLayout" Target="../slideLayouts/slideLayout7.xml"/><Relationship Id="rId10" Type="http://schemas.openxmlformats.org/officeDocument/2006/relationships/image" Target="../media/image26.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image" Target="../media/image27.png"/><Relationship Id="rId2" Type="http://schemas.openxmlformats.org/officeDocument/2006/relationships/tags" Target="../tags/tag75.xml"/><Relationship Id="rId19" Type="http://schemas.openxmlformats.org/officeDocument/2006/relationships/notesSlide" Target="../notesSlides/notesSlide8.xml"/><Relationship Id="rId18" Type="http://schemas.openxmlformats.org/officeDocument/2006/relationships/slideLayout" Target="../slideLayouts/slideLayout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image" Target="../media/image30.png"/><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image" Target="../media/image29.png"/><Relationship Id="rId10" Type="http://schemas.openxmlformats.org/officeDocument/2006/relationships/tags" Target="../tags/tag8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40.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image" Target="../media/image42.png"/><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image" Target="../media/image41.png"/><Relationship Id="rId2" Type="http://schemas.openxmlformats.org/officeDocument/2006/relationships/tags" Target="../tags/tag87.xml"/><Relationship Id="rId13" Type="http://schemas.openxmlformats.org/officeDocument/2006/relationships/notesSlide" Target="../notesSlides/notesSlide12.xml"/><Relationship Id="rId12" Type="http://schemas.openxmlformats.org/officeDocument/2006/relationships/slideLayout" Target="../slideLayouts/slideLayout7.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9" Type="http://schemas.openxmlformats.org/officeDocument/2006/relationships/tags" Target="../tags/tag102.xml"/><Relationship Id="rId8" Type="http://schemas.openxmlformats.org/officeDocument/2006/relationships/tags" Target="../tags/tag101.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9" Type="http://schemas.openxmlformats.org/officeDocument/2006/relationships/notesSlide" Target="../notesSlides/notesSlide13.xml"/><Relationship Id="rId18" Type="http://schemas.openxmlformats.org/officeDocument/2006/relationships/slideLayout" Target="../slideLayouts/slideLayout7.xml"/><Relationship Id="rId17" Type="http://schemas.openxmlformats.org/officeDocument/2006/relationships/tags" Target="../tags/tag110.xml"/><Relationship Id="rId16" Type="http://schemas.openxmlformats.org/officeDocument/2006/relationships/tags" Target="../tags/tag109.xml"/><Relationship Id="rId15" Type="http://schemas.openxmlformats.org/officeDocument/2006/relationships/tags" Target="../tags/tag108.xml"/><Relationship Id="rId14" Type="http://schemas.openxmlformats.org/officeDocument/2006/relationships/tags" Target="../tags/tag107.xml"/><Relationship Id="rId13" Type="http://schemas.openxmlformats.org/officeDocument/2006/relationships/tags" Target="../tags/tag106.xml"/><Relationship Id="rId12" Type="http://schemas.openxmlformats.org/officeDocument/2006/relationships/tags" Target="../tags/tag105.xml"/><Relationship Id="rId11" Type="http://schemas.openxmlformats.org/officeDocument/2006/relationships/tags" Target="../tags/tag104.xml"/><Relationship Id="rId10" Type="http://schemas.openxmlformats.org/officeDocument/2006/relationships/tags" Target="../tags/tag103.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image" Target="../media/image47.jpeg"/><Relationship Id="rId2" Type="http://schemas.openxmlformats.org/officeDocument/2006/relationships/tags" Target="../tags/tag112.xml"/><Relationship Id="rId1" Type="http://schemas.openxmlformats.org/officeDocument/2006/relationships/tags" Target="../tags/tag111.xml"/></Relationships>
</file>

<file path=ppt/slides/_rels/slide33.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6" Type="http://schemas.openxmlformats.org/officeDocument/2006/relationships/slideLayout" Target="../slideLayouts/slideLayout7.xml"/><Relationship Id="rId15" Type="http://schemas.openxmlformats.org/officeDocument/2006/relationships/image" Target="../media/image50.png"/><Relationship Id="rId14" Type="http://schemas.openxmlformats.org/officeDocument/2006/relationships/image" Target="../media/image49.jpeg"/><Relationship Id="rId13" Type="http://schemas.openxmlformats.org/officeDocument/2006/relationships/tags" Target="../tags/tag128.xml"/><Relationship Id="rId12" Type="http://schemas.openxmlformats.org/officeDocument/2006/relationships/tags" Target="../tags/tag127.xml"/><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image" Target="../media/image48.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662416" y="1218946"/>
            <a:ext cx="7153124" cy="2085975"/>
          </a:xfrm>
          <a:prstGeom prst="rect">
            <a:avLst/>
          </a:prstGeom>
        </p:spPr>
        <p:txBody>
          <a:bodyPr vert="horz" wrap="square" lIns="114300" tIns="57150" rIns="114300" bIns="57150" rtlCol="0" anchor="ctr" anchorCtr="0">
            <a:normAutofit/>
          </a:bodyPr>
          <a:lstStyle/>
          <a:p>
            <a:pPr>
              <a:lnSpc>
                <a:spcPct val="115000"/>
              </a:lnSpc>
            </a:pPr>
            <a:r>
              <a:rPr lang="zh-CN" altLang="en-US" sz="4000" b="1">
                <a:solidFill>
                  <a:srgbClr val="669B51">
                    <a:alpha val="100000"/>
                  </a:srgbClr>
                </a:solidFill>
                <a:latin typeface="微软雅黑" panose="020B0503020204020204" charset="-122"/>
                <a:ea typeface="微软雅黑" panose="020B0503020204020204" charset="-122"/>
                <a:cs typeface="微软雅黑" panose="020B0503020204020204" charset="-122"/>
              </a:rPr>
              <a:t>智碳方舟</a:t>
            </a:r>
            <a:r>
              <a:rPr lang="en-US" altLang="zh-CN" sz="4000" b="1">
                <a:solidFill>
                  <a:srgbClr val="669B51">
                    <a:alpha val="100000"/>
                  </a:srgbClr>
                </a:solidFill>
                <a:latin typeface="微软雅黑" panose="020B0503020204020204" charset="-122"/>
                <a:ea typeface="微软雅黑" panose="020B0503020204020204" charset="-122"/>
                <a:cs typeface="微软雅黑" panose="020B0503020204020204" charset="-122"/>
              </a:rPr>
              <a:t>E-Ark——</a:t>
            </a:r>
            <a:endParaRPr lang="en-US" altLang="zh-CN" sz="48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a:p>
            <a:pPr>
              <a:lnSpc>
                <a:spcPct val="115000"/>
              </a:lnSpc>
            </a:pPr>
            <a:r>
              <a:rPr lang="zh-CN" altLang="en-US" sz="5400" b="1">
                <a:solidFill>
                  <a:srgbClr val="669B51">
                    <a:alpha val="100000"/>
                  </a:srgbClr>
                </a:solidFill>
                <a:latin typeface="微软雅黑" panose="020B0503020204020204" charset="-122"/>
                <a:ea typeface="微软雅黑" panose="020B0503020204020204" charset="-122"/>
                <a:cs typeface="微软雅黑" panose="020B0503020204020204" charset="-122"/>
              </a:rPr>
              <a:t>智能碳排放监测系统</a:t>
            </a:r>
            <a:endParaRPr lang="zh-CN" altLang="en-US" sz="5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3" name="TextBox 3"/>
          <p:cNvSpPr txBox="1"/>
          <p:nvPr/>
        </p:nvSpPr>
        <p:spPr>
          <a:xfrm>
            <a:off x="939800" y="3956050"/>
            <a:ext cx="2855595" cy="1290955"/>
          </a:xfrm>
          <a:prstGeom prst="rect">
            <a:avLst/>
          </a:prstGeom>
        </p:spPr>
        <p:txBody>
          <a:bodyPr vert="horz" wrap="square" lIns="114300" tIns="57150" rIns="114300" bIns="57150" rtlCol="0" anchor="t" anchorCtr="0">
            <a:normAutofit/>
          </a:bodyPr>
          <a:lstStyle/>
          <a:p>
            <a:pPr>
              <a:lnSpc>
                <a:spcPct val="120000"/>
              </a:lnSpc>
            </a:pPr>
            <a:r>
              <a:rPr lang="zh-CN" altLang="en-US" sz="1425">
                <a:solidFill>
                  <a:schemeClr val="accent5">
                    <a:alpha val="100000"/>
                  </a:schemeClr>
                </a:solidFill>
                <a:latin typeface="微软雅黑" panose="020B0503020204020204" charset="-122"/>
                <a:ea typeface="微软雅黑" panose="020B0503020204020204" charset="-122"/>
                <a:cs typeface="微软雅黑" panose="020B0503020204020204" charset="-122"/>
              </a:rPr>
              <a:t>学校：苏州城市学院</a:t>
            </a:r>
            <a:endParaRPr lang="en-US" sz="1425">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a:p>
            <a:pPr>
              <a:lnSpc>
                <a:spcPct val="120000"/>
              </a:lnSpc>
            </a:pPr>
            <a:r>
              <a:rPr lang="en-US" sz="1425">
                <a:solidFill>
                  <a:schemeClr val="accent5">
                    <a:alpha val="100000"/>
                  </a:schemeClr>
                </a:solidFill>
                <a:latin typeface="微软雅黑" panose="020B0503020204020204" charset="-122"/>
                <a:ea typeface="微软雅黑" panose="020B0503020204020204" charset="-122"/>
                <a:cs typeface="微软雅黑" panose="020B0503020204020204" charset="-122"/>
              </a:rPr>
              <a:t>汇报人：王子超</a:t>
            </a:r>
            <a:endParaRPr lang="en-US" sz="1425">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a:p>
            <a:pPr>
              <a:lnSpc>
                <a:spcPct val="120000"/>
              </a:lnSpc>
            </a:pPr>
            <a:r>
              <a:rPr lang="en-US" sz="1425">
                <a:solidFill>
                  <a:schemeClr val="accent5">
                    <a:alpha val="100000"/>
                  </a:schemeClr>
                </a:solidFill>
                <a:latin typeface="微软雅黑" panose="020B0503020204020204" charset="-122"/>
                <a:ea typeface="微软雅黑" panose="020B0503020204020204" charset="-122"/>
                <a:cs typeface="微软雅黑" panose="020B0503020204020204" charset="-122"/>
              </a:rPr>
              <a:t>小组成员：熊梓妍、冯冰语</a:t>
            </a:r>
            <a:endParaRPr lang="en-US" sz="1425">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 name="TextBox 4"/>
          <p:cNvSpPr txBox="1"/>
          <p:nvPr/>
        </p:nvSpPr>
        <p:spPr>
          <a:xfrm>
            <a:off x="939607" y="5246811"/>
            <a:ext cx="3217241" cy="438564"/>
          </a:xfrm>
          <a:prstGeom prst="rect">
            <a:avLst/>
          </a:prstGeom>
          <a:noFill/>
        </p:spPr>
        <p:txBody>
          <a:bodyPr vert="horz" wrap="square" lIns="114300" tIns="57150" rIns="114300" bIns="57150" rtlCol="0" anchor="t" anchorCtr="0">
            <a:normAutofit/>
          </a:bodyPr>
          <a:lstStyle/>
          <a:p>
            <a:pPr algn="l">
              <a:lnSpc>
                <a:spcPct val="120000"/>
              </a:lnSpc>
            </a:pPr>
            <a:r>
              <a:rPr lang="en-US" sz="1425">
                <a:solidFill>
                  <a:srgbClr val="587757">
                    <a:alpha val="100000"/>
                  </a:srgbClr>
                </a:solidFill>
                <a:latin typeface="微软雅黑" panose="020B0503020204020204" charset="-122"/>
                <a:ea typeface="微软雅黑" panose="020B0503020204020204" charset="-122"/>
                <a:cs typeface="微软雅黑" panose="020B0503020204020204" charset="-122"/>
              </a:rPr>
              <a:t>日期：2025-02-20</a:t>
            </a:r>
            <a:endParaRPr lang="en-US" sz="1425">
              <a:solidFill>
                <a:srgbClr val="587757">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p:spPr>
      </p:pic>
      <p:sp>
        <p:nvSpPr>
          <p:cNvPr id="3" name="TextBox 3"/>
          <p:cNvSpPr txBox="1"/>
          <p:nvPr/>
        </p:nvSpPr>
        <p:spPr>
          <a:xfrm>
            <a:off x="5181458" y="420468"/>
            <a:ext cx="1764635" cy="977265"/>
          </a:xfrm>
          <a:prstGeom prst="rect">
            <a:avLst/>
          </a:prstGeom>
        </p:spPr>
        <p:txBody>
          <a:bodyPr vert="horz" wrap="square" lIns="91440" tIns="45720" rIns="91440" bIns="45720" rtlCol="0" anchor="ctr" anchorCtr="0">
            <a:normAutofit/>
          </a:bodyPr>
          <a:lstStyle/>
          <a:p>
            <a:pPr algn="r">
              <a:lnSpc>
                <a:spcPct val="100000"/>
              </a:lnSpc>
              <a:spcBef>
                <a:spcPts val="375"/>
              </a:spcBef>
            </a:pPr>
            <a:r>
              <a:rPr lang="en-US" sz="5250" b="1">
                <a:solidFill>
                  <a:srgbClr val="669B51">
                    <a:alpha val="100000"/>
                  </a:srgbClr>
                </a:solidFill>
                <a:latin typeface="微软雅黑" panose="020B0503020204020204" charset="-122"/>
                <a:ea typeface="微软雅黑" panose="020B0503020204020204" charset="-122"/>
                <a:cs typeface="微软雅黑" panose="020B0503020204020204" charset="-122"/>
              </a:rPr>
              <a:t>目录</a:t>
            </a:r>
            <a:endParaRPr lang="en-US" sz="525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TextBox 4"/>
          <p:cNvSpPr txBox="1"/>
          <p:nvPr>
            <p:custDataLst>
              <p:tags r:id="rId3"/>
            </p:custDataLst>
          </p:nvPr>
        </p:nvSpPr>
        <p:spPr>
          <a:xfrm>
            <a:off x="5103902" y="2117087"/>
            <a:ext cx="663650" cy="507365"/>
          </a:xfrm>
          <a:prstGeom prst="rect">
            <a:avLst/>
          </a:prstGeom>
        </p:spPr>
        <p:txBody>
          <a:bodyPr vert="horz" wrap="square" lIns="0" tIns="0" rIns="0" bIns="0" rtlCol="0" anchor="t" anchorCtr="0">
            <a:spAutoFit/>
          </a:bodyPr>
          <a:lstStyle/>
          <a:p>
            <a:pPr>
              <a:lnSpc>
                <a:spcPct val="100000"/>
              </a:lnSpc>
              <a:spcBef>
                <a:spcPts val="375"/>
              </a:spcBef>
            </a:pP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一</a:t>
            </a: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a:t>
            </a:r>
            <a:endPar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custDataLst>
              <p:tags r:id="rId4"/>
            </p:custDataLst>
          </p:nvPr>
        </p:nvSpPr>
        <p:spPr>
          <a:xfrm>
            <a:off x="5103902" y="3045004"/>
            <a:ext cx="663650" cy="507365"/>
          </a:xfrm>
          <a:prstGeom prst="rect">
            <a:avLst/>
          </a:prstGeom>
        </p:spPr>
        <p:txBody>
          <a:bodyPr vert="horz" wrap="square" lIns="0" tIns="0" rIns="0" bIns="0" rtlCol="0" anchor="t" anchorCtr="0">
            <a:spAutoFit/>
          </a:bodyPr>
          <a:lstStyle/>
          <a:p>
            <a:pPr>
              <a:lnSpc>
                <a:spcPct val="100000"/>
              </a:lnSpc>
              <a:spcBef>
                <a:spcPts val="375"/>
              </a:spcBef>
            </a:pP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二</a:t>
            </a: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a:t>
            </a:r>
            <a:endPar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custDataLst>
              <p:tags r:id="rId5"/>
            </p:custDataLst>
          </p:nvPr>
        </p:nvSpPr>
        <p:spPr>
          <a:xfrm>
            <a:off x="5103902" y="3908974"/>
            <a:ext cx="663650" cy="507365"/>
          </a:xfrm>
          <a:prstGeom prst="rect">
            <a:avLst/>
          </a:prstGeom>
        </p:spPr>
        <p:txBody>
          <a:bodyPr vert="horz" wrap="square" lIns="0" tIns="0" rIns="0" bIns="0" rtlCol="0" anchor="t" anchorCtr="0">
            <a:spAutoFit/>
          </a:bodyPr>
          <a:lstStyle/>
          <a:p>
            <a:pPr>
              <a:lnSpc>
                <a:spcPct val="100000"/>
              </a:lnSpc>
              <a:spcBef>
                <a:spcPts val="375"/>
              </a:spcBef>
            </a:pP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三</a:t>
            </a: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a:t>
            </a:r>
            <a:endPar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custDataLst>
              <p:tags r:id="rId6"/>
            </p:custDataLst>
          </p:nvPr>
        </p:nvSpPr>
        <p:spPr>
          <a:xfrm>
            <a:off x="5103902" y="4802655"/>
            <a:ext cx="663650" cy="507365"/>
          </a:xfrm>
          <a:prstGeom prst="rect">
            <a:avLst/>
          </a:prstGeom>
        </p:spPr>
        <p:txBody>
          <a:bodyPr vert="horz" wrap="square" lIns="0" tIns="0" rIns="0" bIns="0" rtlCol="0" anchor="t" anchorCtr="0">
            <a:spAutoFit/>
          </a:bodyPr>
          <a:lstStyle/>
          <a:p>
            <a:pPr>
              <a:lnSpc>
                <a:spcPct val="100000"/>
              </a:lnSpc>
              <a:spcBef>
                <a:spcPts val="375"/>
              </a:spcBef>
            </a:pP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四</a:t>
            </a:r>
            <a:r>
              <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rPr>
              <a:t>、</a:t>
            </a:r>
            <a:endParaRPr lang="zh-CN" altLang="en-US" sz="3300">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8" name="TextBox 8"/>
          <p:cNvSpPr txBox="1"/>
          <p:nvPr>
            <p:custDataLst>
              <p:tags r:id="rId7"/>
            </p:custDataLst>
          </p:nvPr>
        </p:nvSpPr>
        <p:spPr>
          <a:xfrm>
            <a:off x="5985510" y="2117087"/>
            <a:ext cx="4324350" cy="461645"/>
          </a:xfrm>
          <a:prstGeom prst="rect">
            <a:avLst/>
          </a:prstGeom>
        </p:spPr>
        <p:txBody>
          <a:bodyPr vert="horz" wrap="square" lIns="0" tIns="0" rIns="0" bIns="0" rtlCol="0" anchor="t" anchorCtr="0">
            <a:spAutoFit/>
          </a:bodyPr>
          <a:lstStyle/>
          <a:p>
            <a:pPr>
              <a:lnSpc>
                <a:spcPct val="100000"/>
              </a:lnSpc>
              <a:spcBef>
                <a:spcPts val="375"/>
              </a:spcBef>
            </a:pPr>
            <a:r>
              <a:rPr lang="en-US" sz="3000" b="1">
                <a:solidFill>
                  <a:schemeClr val="accent6">
                    <a:alpha val="100000"/>
                  </a:schemeClr>
                </a:solidFill>
                <a:latin typeface="微软雅黑" panose="020B0503020204020204" charset="-122"/>
                <a:ea typeface="微软雅黑" panose="020B0503020204020204" charset="-122"/>
                <a:cs typeface="Comic Sans MS" panose="030F0702030302020204"/>
              </a:rPr>
              <a:t>设计思想</a:t>
            </a:r>
            <a:endParaRPr lang="en-US" sz="3000" b="1">
              <a:solidFill>
                <a:schemeClr val="accent6">
                  <a:alpha val="100000"/>
                </a:schemeClr>
              </a:solidFill>
              <a:latin typeface="微软雅黑" panose="020B0503020204020204" charset="-122"/>
              <a:ea typeface="微软雅黑" panose="020B0503020204020204" charset="-122"/>
              <a:cs typeface="Comic Sans MS" panose="030F0702030302020204"/>
            </a:endParaRPr>
          </a:p>
        </p:txBody>
      </p:sp>
      <p:sp>
        <p:nvSpPr>
          <p:cNvPr id="9" name="TextBox 9"/>
          <p:cNvSpPr txBox="1"/>
          <p:nvPr>
            <p:custDataLst>
              <p:tags r:id="rId8"/>
            </p:custDataLst>
          </p:nvPr>
        </p:nvSpPr>
        <p:spPr>
          <a:xfrm>
            <a:off x="5985510" y="3045004"/>
            <a:ext cx="4324350" cy="461645"/>
          </a:xfrm>
          <a:prstGeom prst="rect">
            <a:avLst/>
          </a:prstGeom>
          <a:noFill/>
        </p:spPr>
        <p:txBody>
          <a:bodyPr vert="horz" wrap="square" lIns="0" tIns="0" rIns="0" bIns="0" rtlCol="0" anchor="t" anchorCtr="0">
            <a:spAutoFit/>
          </a:bodyPr>
          <a:lstStyle/>
          <a:p>
            <a:pPr algn="l">
              <a:lnSpc>
                <a:spcPct val="100000"/>
              </a:lnSpc>
              <a:spcBef>
                <a:spcPts val="375"/>
              </a:spcBef>
            </a:pPr>
            <a:r>
              <a:rPr lang="zh-CN" altLang="en-US" sz="3000" b="1">
                <a:solidFill>
                  <a:srgbClr val="24443F">
                    <a:alpha val="100000"/>
                  </a:srgbClr>
                </a:solidFill>
                <a:latin typeface="微软雅黑" panose="020B0503020204020204" charset="-122"/>
                <a:ea typeface="微软雅黑" panose="020B0503020204020204" charset="-122"/>
                <a:cs typeface="Comic Sans MS" panose="030F0702030302020204"/>
              </a:rPr>
              <a:t>系统</a:t>
            </a:r>
            <a:r>
              <a:rPr lang="en-US" sz="3000" b="1">
                <a:solidFill>
                  <a:srgbClr val="24443F">
                    <a:alpha val="100000"/>
                  </a:srgbClr>
                </a:solidFill>
                <a:latin typeface="微软雅黑" panose="020B0503020204020204" charset="-122"/>
                <a:ea typeface="微软雅黑" panose="020B0503020204020204" charset="-122"/>
                <a:cs typeface="Comic Sans MS" panose="030F0702030302020204"/>
              </a:rPr>
              <a:t>实现</a:t>
            </a:r>
            <a:endParaRPr lang="en-US" sz="3000" b="1">
              <a:solidFill>
                <a:srgbClr val="24443F">
                  <a:alpha val="100000"/>
                </a:srgbClr>
              </a:solidFill>
              <a:latin typeface="微软雅黑" panose="020B0503020204020204" charset="-122"/>
              <a:ea typeface="微软雅黑" panose="020B0503020204020204" charset="-122"/>
              <a:cs typeface="Comic Sans MS" panose="030F0702030302020204"/>
            </a:endParaRPr>
          </a:p>
        </p:txBody>
      </p:sp>
      <p:sp>
        <p:nvSpPr>
          <p:cNvPr id="10" name="TextBox 10"/>
          <p:cNvSpPr txBox="1"/>
          <p:nvPr>
            <p:custDataLst>
              <p:tags r:id="rId9"/>
            </p:custDataLst>
          </p:nvPr>
        </p:nvSpPr>
        <p:spPr>
          <a:xfrm>
            <a:off x="5985510" y="3908974"/>
            <a:ext cx="4324350" cy="461645"/>
          </a:xfrm>
          <a:prstGeom prst="rect">
            <a:avLst/>
          </a:prstGeom>
          <a:noFill/>
        </p:spPr>
        <p:txBody>
          <a:bodyPr vert="horz" wrap="square" lIns="0" tIns="0" rIns="0" bIns="0" rtlCol="0" anchor="t" anchorCtr="0">
            <a:spAutoFit/>
          </a:bodyPr>
          <a:lstStyle/>
          <a:p>
            <a:pPr algn="l">
              <a:lnSpc>
                <a:spcPct val="100000"/>
              </a:lnSpc>
              <a:spcBef>
                <a:spcPts val="375"/>
              </a:spcBef>
            </a:pPr>
            <a:r>
              <a:rPr lang="en-US" sz="3000" b="1">
                <a:solidFill>
                  <a:srgbClr val="24443F">
                    <a:alpha val="100000"/>
                  </a:srgbClr>
                </a:solidFill>
                <a:latin typeface="微软雅黑" panose="020B0503020204020204" charset="-122"/>
                <a:ea typeface="微软雅黑" panose="020B0503020204020204" charset="-122"/>
                <a:cs typeface="Comic Sans MS" panose="030F0702030302020204"/>
              </a:rPr>
              <a:t>应用效果</a:t>
            </a:r>
            <a:endParaRPr lang="en-US" sz="3000" b="1">
              <a:solidFill>
                <a:srgbClr val="24443F">
                  <a:alpha val="100000"/>
                </a:srgbClr>
              </a:solidFill>
              <a:latin typeface="微软雅黑" panose="020B0503020204020204" charset="-122"/>
              <a:ea typeface="微软雅黑" panose="020B0503020204020204" charset="-122"/>
              <a:cs typeface="Comic Sans MS" panose="030F0702030302020204"/>
            </a:endParaRPr>
          </a:p>
        </p:txBody>
      </p:sp>
      <p:sp>
        <p:nvSpPr>
          <p:cNvPr id="11" name="TextBox 11"/>
          <p:cNvSpPr txBox="1"/>
          <p:nvPr>
            <p:custDataLst>
              <p:tags r:id="rId10"/>
            </p:custDataLst>
          </p:nvPr>
        </p:nvSpPr>
        <p:spPr>
          <a:xfrm>
            <a:off x="5985510" y="4802655"/>
            <a:ext cx="4324350" cy="461645"/>
          </a:xfrm>
          <a:prstGeom prst="rect">
            <a:avLst/>
          </a:prstGeom>
          <a:noFill/>
        </p:spPr>
        <p:txBody>
          <a:bodyPr vert="horz" wrap="square" lIns="0" tIns="0" rIns="0" bIns="0" rtlCol="0" anchor="t" anchorCtr="0">
            <a:spAutoFit/>
          </a:bodyPr>
          <a:lstStyle/>
          <a:p>
            <a:pPr algn="l">
              <a:lnSpc>
                <a:spcPct val="100000"/>
              </a:lnSpc>
              <a:spcBef>
                <a:spcPts val="375"/>
              </a:spcBef>
            </a:pPr>
            <a:r>
              <a:rPr lang="zh-CN" altLang="en-US" sz="3000" b="1">
                <a:solidFill>
                  <a:srgbClr val="24443F">
                    <a:alpha val="100000"/>
                  </a:srgbClr>
                </a:solidFill>
                <a:latin typeface="微软雅黑" panose="020B0503020204020204" charset="-122"/>
                <a:ea typeface="微软雅黑" panose="020B0503020204020204" charset="-122"/>
                <a:cs typeface="Comic Sans MS" panose="030F0702030302020204"/>
              </a:rPr>
              <a:t>创新亮点</a:t>
            </a:r>
            <a:endParaRPr lang="zh-CN" altLang="en-US" sz="3000" b="1">
              <a:solidFill>
                <a:srgbClr val="24443F">
                  <a:alpha val="100000"/>
                </a:srgbClr>
              </a:solidFill>
              <a:latin typeface="微软雅黑" panose="020B0503020204020204" charset="-122"/>
              <a:ea typeface="微软雅黑" panose="020B0503020204020204" charset="-122"/>
              <a:cs typeface="Comic Sans MS" panose="030F0702030302020204"/>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1126879" y="1871347"/>
            <a:ext cx="10484808" cy="1798058"/>
          </a:xfrm>
          <a:prstGeom prst="rect">
            <a:avLst/>
          </a:prstGeom>
        </p:spPr>
        <p:txBody>
          <a:bodyPr vert="horz" wrap="square" lIns="114300" tIns="57150" rIns="114300" bIns="57150" rtlCol="0" anchor="t" anchorCtr="0">
            <a:normAutofit/>
          </a:bodyPr>
          <a:lstStyle/>
          <a:p>
            <a:pPr algn="l">
              <a:lnSpc>
                <a:spcPct val="120000"/>
              </a:lnSpc>
            </a:pPr>
            <a:r>
              <a:rPr lang="zh-CN" alt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一、</a:t>
            </a:r>
            <a:r>
              <a:rPr 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设计思想</a:t>
            </a:r>
            <a:endParaRPr lang="en-US" sz="5700">
              <a:solidFill>
                <a:srgbClr val="669B51">
                  <a:alpha val="100000"/>
                </a:srgbClr>
              </a:solidFill>
              <a:latin typeface="微软雅黑" panose="020B0503020204020204" charset="-122"/>
              <a:ea typeface="微软雅黑" panose="020B0503020204020204" charset="-122"/>
              <a:cs typeface="华文琥珀" panose="02010800040101010101"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00000"/>
          </a:blip>
          <a:srcRect l="7634" r="7634"/>
          <a:stretch>
            <a:fillRect/>
          </a:stretch>
        </p:blipFill>
        <p:spPr>
          <a:xfrm>
            <a:off x="6203747" y="1487175"/>
            <a:ext cx="5238701" cy="4637054"/>
          </a:xfrm>
          <a:prstGeom prst="rect">
            <a:avLst/>
          </a:prstGeom>
        </p:spPr>
      </p:pic>
      <p:sp>
        <p:nvSpPr>
          <p:cNvPr id="9" name="TextBox 9"/>
          <p:cNvSpPr txBox="1"/>
          <p:nvPr/>
        </p:nvSpPr>
        <p:spPr>
          <a:xfrm>
            <a:off x="838200" y="0"/>
            <a:ext cx="12080875" cy="1625600"/>
          </a:xfrm>
          <a:prstGeom prst="rect">
            <a:avLst/>
          </a:prstGeom>
        </p:spPr>
        <p:txBody>
          <a:bodyPr vert="horz" wrap="square" lIns="123825" tIns="123825" rIns="57150" bIns="123825" rtlCol="0" anchor="t" anchorCtr="0">
            <a:noAutofit/>
          </a:bodyPr>
          <a:lstStyle/>
          <a:p>
            <a:pPr>
              <a:lnSpc>
                <a:spcPct val="140000"/>
              </a:lnSpc>
            </a:pPr>
            <a:r>
              <a:rPr lang="zh-CN" altLang="en-US" sz="36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rPr>
              <a:t>一、</a:t>
            </a:r>
            <a:r>
              <a:rPr lang="zh-CN" altLang="en-US" sz="36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rPr>
              <a:t>设计思想</a:t>
            </a:r>
            <a:endParaRPr lang="zh-CN" altLang="en-US" sz="36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4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rPr>
              <a:t>（一）</a:t>
            </a:r>
            <a:r>
              <a:rPr lang="en-US" sz="24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rPr>
              <a:t>设计背景</a:t>
            </a:r>
            <a:r>
              <a:rPr lang="en-US" sz="36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rPr>
              <a:t>								    							</a:t>
            </a:r>
            <a:endParaRPr lang="en-US" sz="36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endParaRPr>
          </a:p>
        </p:txBody>
      </p:sp>
      <p:grpSp>
        <p:nvGrpSpPr>
          <p:cNvPr id="16" name="组合 15"/>
          <p:cNvGrpSpPr/>
          <p:nvPr/>
        </p:nvGrpSpPr>
        <p:grpSpPr>
          <a:xfrm>
            <a:off x="583565" y="1680210"/>
            <a:ext cx="5178425" cy="4920615"/>
            <a:chOff x="854" y="2159"/>
            <a:chExt cx="8155" cy="7749"/>
          </a:xfrm>
        </p:grpSpPr>
        <p:sp>
          <p:nvSpPr>
            <p:cNvPr id="3" name="TextBox 3"/>
            <p:cNvSpPr txBox="1"/>
            <p:nvPr>
              <p:custDataLst>
                <p:tags r:id="rId3"/>
              </p:custDataLst>
            </p:nvPr>
          </p:nvSpPr>
          <p:spPr>
            <a:xfrm>
              <a:off x="2335" y="3068"/>
              <a:ext cx="6675" cy="1440"/>
            </a:xfrm>
            <a:prstGeom prst="rect">
              <a:avLst/>
            </a:prstGeom>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全球气候变化问题日益严重，二氧化碳排放量的监测与控制成为国际社会关注的焦点。</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 name="TextBox 4"/>
            <p:cNvSpPr txBox="1"/>
            <p:nvPr>
              <p:custDataLst>
                <p:tags r:id="rId4"/>
              </p:custDataLst>
            </p:nvPr>
          </p:nvSpPr>
          <p:spPr>
            <a:xfrm>
              <a:off x="2335" y="2159"/>
              <a:ext cx="6645" cy="1163"/>
            </a:xfrm>
            <a:prstGeom prst="rect">
              <a:avLst/>
            </a:prstGeom>
          </p:spPr>
          <p:txBody>
            <a:bodyPr vert="horz" wrap="square" lIns="123825" tIns="123825" rIns="57150" bIns="123825" rtlCol="0" anchor="ctr" anchorCtr="0">
              <a:noAutofit/>
            </a:bodyPr>
            <a:lstStyle/>
            <a:p>
              <a:pPr>
                <a:lnSpc>
                  <a:spcPct val="15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气候变化挑战</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custDataLst>
                <p:tags r:id="rId5"/>
              </p:custDataLst>
            </p:nvPr>
          </p:nvSpPr>
          <p:spPr>
            <a:xfrm>
              <a:off x="2335" y="5847"/>
              <a:ext cx="6675" cy="1440"/>
            </a:xfrm>
            <a:prstGeom prst="rect">
              <a:avLst/>
            </a:prstGeom>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为了应对气候变化，各国政府和企业对碳排放监测系统的需求迫切，以实现减排目标。</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custDataLst>
                <p:tags r:id="rId6"/>
              </p:custDataLst>
            </p:nvPr>
          </p:nvSpPr>
          <p:spPr>
            <a:xfrm>
              <a:off x="2335" y="4908"/>
              <a:ext cx="6645" cy="1160"/>
            </a:xfrm>
            <a:prstGeom prst="rect">
              <a:avLst/>
            </a:prstGeom>
          </p:spPr>
          <p:txBody>
            <a:bodyPr vert="horz" wrap="square" lIns="123825" tIns="123825" rIns="57150" bIns="123825" rtlCol="0" anchor="ctr" anchorCtr="0">
              <a:noAutofit/>
            </a:bodyPr>
            <a:lstStyle/>
            <a:p>
              <a:pPr>
                <a:lnSpc>
                  <a:spcPct val="15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监测需求迫切</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custDataLst>
                <p:tags r:id="rId7"/>
              </p:custDataLst>
            </p:nvPr>
          </p:nvSpPr>
          <p:spPr>
            <a:xfrm>
              <a:off x="2335" y="8468"/>
              <a:ext cx="6675" cy="1440"/>
            </a:xfrm>
            <a:prstGeom prst="rect">
              <a:avLst/>
            </a:prstGeom>
          </p:spPr>
          <p:txBody>
            <a:bodyPr vert="horz" wrap="square" lIns="123825" tIns="123825" rIns="57150" bIns="123825" rtlCol="0" anchor="t" anchorCtr="0">
              <a:noAutofit/>
            </a:bodyPr>
            <a:lstStyle/>
            <a:p>
              <a:pPr>
                <a:lnSpc>
                  <a:spcPct val="140000"/>
                </a:lnSpc>
              </a:pP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系统</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创新为碳排放监测系统的发展提供了有力支持，推动系统向智能化、高效化方向迈进。</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8" name="TextBox 8"/>
            <p:cNvSpPr txBox="1"/>
            <p:nvPr>
              <p:custDataLst>
                <p:tags r:id="rId8"/>
              </p:custDataLst>
            </p:nvPr>
          </p:nvSpPr>
          <p:spPr>
            <a:xfrm>
              <a:off x="2335" y="7559"/>
              <a:ext cx="6645" cy="1180"/>
            </a:xfrm>
            <a:prstGeom prst="rect">
              <a:avLst/>
            </a:prstGeom>
          </p:spPr>
          <p:txBody>
            <a:bodyPr vert="horz" wrap="square" lIns="123825" tIns="123825" rIns="57150" bIns="123825" rtlCol="0" anchor="ctr" anchorCtr="0">
              <a:noAutofit/>
            </a:bodyPr>
            <a:lstStyle/>
            <a:p>
              <a:pPr>
                <a:lnSpc>
                  <a:spcPct val="150000"/>
                </a:lnSpc>
              </a:pPr>
              <a:r>
                <a:rPr lang="zh-CN" alt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系统</a:t>
              </a: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创新推动</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0" name="TextBox 10"/>
            <p:cNvSpPr txBox="1"/>
            <p:nvPr>
              <p:custDataLst>
                <p:tags r:id="rId9"/>
              </p:custDataLst>
            </p:nvPr>
          </p:nvSpPr>
          <p:spPr>
            <a:xfrm>
              <a:off x="854" y="2640"/>
              <a:ext cx="1338" cy="759"/>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01</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1" name="TextBox 11"/>
            <p:cNvSpPr txBox="1"/>
            <p:nvPr>
              <p:custDataLst>
                <p:tags r:id="rId10"/>
              </p:custDataLst>
            </p:nvPr>
          </p:nvSpPr>
          <p:spPr>
            <a:xfrm>
              <a:off x="854" y="5378"/>
              <a:ext cx="1338" cy="759"/>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02</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custDataLst>
                <p:tags r:id="rId11"/>
              </p:custDataLst>
            </p:nvPr>
          </p:nvSpPr>
          <p:spPr>
            <a:xfrm>
              <a:off x="854" y="8088"/>
              <a:ext cx="1338" cy="759"/>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03</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 name="AutoShape 13"/>
            <p:cNvSpPr/>
            <p:nvPr>
              <p:custDataLst>
                <p:tags r:id="rId12"/>
              </p:custDataLst>
            </p:nvPr>
          </p:nvSpPr>
          <p:spPr>
            <a:xfrm>
              <a:off x="1020" y="2516"/>
              <a:ext cx="1006" cy="1006"/>
            </a:xfrm>
            <a:prstGeom prst="rect">
              <a:avLst/>
            </a:prstGeom>
            <a:noFill/>
            <a:ln w="19050">
              <a:solidFill>
                <a:schemeClr val="accent1">
                  <a:alpha val="100000"/>
                </a:schemeClr>
              </a:solidFill>
              <a:prstDash val="solid"/>
            </a:ln>
          </p:spPr>
        </p:sp>
        <p:sp>
          <p:nvSpPr>
            <p:cNvPr id="14" name="AutoShape 14"/>
            <p:cNvSpPr/>
            <p:nvPr>
              <p:custDataLst>
                <p:tags r:id="rId13"/>
              </p:custDataLst>
            </p:nvPr>
          </p:nvSpPr>
          <p:spPr>
            <a:xfrm>
              <a:off x="1020" y="5241"/>
              <a:ext cx="1006" cy="1006"/>
            </a:xfrm>
            <a:prstGeom prst="rect">
              <a:avLst/>
            </a:prstGeom>
            <a:noFill/>
            <a:ln w="19050">
              <a:solidFill>
                <a:schemeClr val="accent1">
                  <a:alpha val="100000"/>
                </a:schemeClr>
              </a:solidFill>
              <a:prstDash val="solid"/>
            </a:ln>
          </p:spPr>
        </p:sp>
        <p:sp>
          <p:nvSpPr>
            <p:cNvPr id="15" name="AutoShape 15"/>
            <p:cNvSpPr/>
            <p:nvPr>
              <p:custDataLst>
                <p:tags r:id="rId14"/>
              </p:custDataLst>
            </p:nvPr>
          </p:nvSpPr>
          <p:spPr>
            <a:xfrm>
              <a:off x="1020" y="7965"/>
              <a:ext cx="1006" cy="1006"/>
            </a:xfrm>
            <a:prstGeom prst="rect">
              <a:avLst/>
            </a:prstGeom>
            <a:noFill/>
            <a:ln w="19050">
              <a:solidFill>
                <a:schemeClr val="accent1">
                  <a:alpha val="100000"/>
                </a:schemeClr>
              </a:solidFill>
              <a:prstDash val="solid"/>
            </a:ln>
          </p:spPr>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00000"/>
          </a:blip>
          <a:srcRect l="30000" r="30000"/>
          <a:stretch>
            <a:fillRect/>
          </a:stretch>
        </p:blipFill>
        <p:spPr>
          <a:xfrm>
            <a:off x="426085" y="2383790"/>
            <a:ext cx="2961640" cy="2961640"/>
          </a:xfrm>
          <a:prstGeom prst="ellipse">
            <a:avLst/>
          </a:prstGeom>
        </p:spPr>
      </p:pic>
      <p:sp>
        <p:nvSpPr>
          <p:cNvPr id="3" name="TextBox 3"/>
          <p:cNvSpPr txBox="1"/>
          <p:nvPr/>
        </p:nvSpPr>
        <p:spPr>
          <a:xfrm>
            <a:off x="663575" y="364490"/>
            <a:ext cx="12532360" cy="1797685"/>
          </a:xfrm>
          <a:prstGeom prst="rect">
            <a:avLst/>
          </a:prstGeom>
          <a:noFill/>
        </p:spPr>
        <p:txBody>
          <a:bodyPr vert="horz" wrap="square" lIns="123825" tIns="123825" rIns="57150" bIns="123825" rtlCol="0" anchor="t" anchorCtr="0">
            <a:spAutoFit/>
          </a:bodyPr>
          <a:lstStyle/>
          <a:p>
            <a:pPr>
              <a:lnSpc>
                <a:spcPct val="140000"/>
              </a:lnSpc>
            </a:pPr>
            <a:r>
              <a:rPr lang="zh-CN" altLang="en-US" sz="36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sym typeface="+mn-ea"/>
              </a:rPr>
              <a:t>一、设计思想</a:t>
            </a:r>
            <a:endParaRPr lang="zh-CN" altLang="en-US" sz="36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endParaRPr>
          </a:p>
          <a:p>
            <a:pPr>
              <a:lnSpc>
                <a:spcPct val="140000"/>
              </a:lnSpc>
            </a:pPr>
            <a:r>
              <a:rPr lang="zh-CN" altLang="en-US" sz="2800" b="1">
                <a:solidFill>
                  <a:schemeClr val="accent5">
                    <a:lumMod val="75000"/>
                    <a:alpha val="100000"/>
                  </a:schemeClr>
                </a:solidFill>
                <a:latin typeface="微软雅黑" panose="020B0503020204020204" charset="-122"/>
                <a:ea typeface="微软雅黑" panose="020B0503020204020204" charset="-122"/>
                <a:cs typeface="微软雅黑" panose="020B0503020204020204" charset="-122"/>
                <a:sym typeface="+mn-ea"/>
              </a:rPr>
              <a:t>（二）系统结构</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custDataLst>
              <p:tags r:id="rId3"/>
            </p:custDataLst>
          </p:nvPr>
        </p:nvSpPr>
        <p:spPr>
          <a:xfrm>
            <a:off x="4113475" y="1643082"/>
            <a:ext cx="3657600" cy="2219857"/>
          </a:xfrm>
          <a:prstGeom prst="roundRect">
            <a:avLst>
              <a:gd name="adj" fmla="val 16667"/>
            </a:avLst>
          </a:prstGeom>
          <a:solidFill>
            <a:schemeClr val="lt2">
              <a:alpha val="100000"/>
            </a:schemeClr>
          </a:solidFill>
          <a:ln w="19050">
            <a:solidFill>
              <a:schemeClr val="accent1">
                <a:alpha val="100000"/>
                <a:lumMod val="40000"/>
                <a:lumMod val="60000"/>
              </a:schemeClr>
            </a:solidFill>
            <a:prstDash val="solid"/>
          </a:ln>
        </p:spPr>
      </p:sp>
      <p:sp>
        <p:nvSpPr>
          <p:cNvPr id="5" name="TextBox 5"/>
          <p:cNvSpPr txBox="1"/>
          <p:nvPr>
            <p:custDataLst>
              <p:tags r:id="rId4"/>
            </p:custDataLst>
          </p:nvPr>
        </p:nvSpPr>
        <p:spPr>
          <a:xfrm>
            <a:off x="4312581" y="1893684"/>
            <a:ext cx="3251104" cy="490334"/>
          </a:xfrm>
          <a:prstGeom prst="rect">
            <a:avLst/>
          </a:prstGeom>
          <a:solidFill>
            <a:schemeClr val="lt2">
              <a:alpha val="100000"/>
            </a:schemeClr>
          </a:solidFill>
          <a:ln w="19050">
            <a:solidFill>
              <a:schemeClr val="accent1">
                <a:alpha val="100000"/>
                <a:lumMod val="40000"/>
                <a:lumMod val="60000"/>
              </a:schemeClr>
            </a:solidFill>
            <a:prstDash val="solid"/>
          </a:ln>
        </p:spPr>
        <p:txBody>
          <a:bodyPr vert="horz" wrap="square" lIns="66008" tIns="33052" rIns="66008" bIns="33052" rtlCol="0" anchor="ctr" anchorCtr="0">
            <a:noAutofit/>
          </a:bodyPr>
          <a:lstStyle/>
          <a:p>
            <a:pPr algn="ctr">
              <a:lnSpc>
                <a:spcPct val="120000"/>
              </a:lnSpc>
            </a:pPr>
            <a:r>
              <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rPr>
              <a:t>感知层</a:t>
            </a:r>
            <a:endPar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custDataLst>
              <p:tags r:id="rId5"/>
            </p:custDataLst>
          </p:nvPr>
        </p:nvSpPr>
        <p:spPr>
          <a:xfrm>
            <a:off x="4312581" y="2463837"/>
            <a:ext cx="3251104" cy="1055857"/>
          </a:xfrm>
          <a:prstGeom prst="rect">
            <a:avLst/>
          </a:prstGeom>
        </p:spPr>
        <p:txBody>
          <a:bodyPr vert="horz" wrap="square" lIns="66008" tIns="33052" rIns="66008" bIns="33052" rtlCol="0" anchor="t" anchorCtr="0">
            <a:no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由各类传感器组成，负责实时采集环境中的各种参数。</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AutoShape 7"/>
          <p:cNvSpPr/>
          <p:nvPr>
            <p:custDataLst>
              <p:tags r:id="rId6"/>
            </p:custDataLst>
          </p:nvPr>
        </p:nvSpPr>
        <p:spPr>
          <a:xfrm>
            <a:off x="8070842" y="1650556"/>
            <a:ext cx="3657600" cy="2219857"/>
          </a:xfrm>
          <a:prstGeom prst="roundRect">
            <a:avLst>
              <a:gd name="adj" fmla="val 16667"/>
            </a:avLst>
          </a:prstGeom>
          <a:solidFill>
            <a:schemeClr val="lt2">
              <a:alpha val="100000"/>
            </a:schemeClr>
          </a:solidFill>
          <a:ln w="19050">
            <a:solidFill>
              <a:schemeClr val="accent1">
                <a:alpha val="100000"/>
                <a:lumMod val="40000"/>
                <a:lumMod val="60000"/>
              </a:schemeClr>
            </a:solidFill>
            <a:prstDash val="solid"/>
          </a:ln>
        </p:spPr>
      </p:sp>
      <p:sp>
        <p:nvSpPr>
          <p:cNvPr id="8" name="TextBox 8"/>
          <p:cNvSpPr txBox="1"/>
          <p:nvPr>
            <p:custDataLst>
              <p:tags r:id="rId7"/>
            </p:custDataLst>
          </p:nvPr>
        </p:nvSpPr>
        <p:spPr>
          <a:xfrm>
            <a:off x="8269948" y="1901159"/>
            <a:ext cx="3251104" cy="490334"/>
          </a:xfrm>
          <a:prstGeom prst="rect">
            <a:avLst/>
          </a:prstGeom>
          <a:solidFill>
            <a:schemeClr val="lt2">
              <a:alpha val="100000"/>
            </a:schemeClr>
          </a:solidFill>
          <a:ln w="19050">
            <a:solidFill>
              <a:schemeClr val="accent1">
                <a:alpha val="100000"/>
                <a:lumMod val="40000"/>
                <a:lumMod val="60000"/>
              </a:schemeClr>
            </a:solidFill>
            <a:prstDash val="solid"/>
          </a:ln>
        </p:spPr>
        <p:txBody>
          <a:bodyPr vert="horz" wrap="square" lIns="66008" tIns="33052" rIns="66008" bIns="33052" rtlCol="0" anchor="ctr" anchorCtr="0">
            <a:noAutofit/>
          </a:bodyPr>
          <a:lstStyle/>
          <a:p>
            <a:pPr algn="ctr">
              <a:lnSpc>
                <a:spcPct val="120000"/>
              </a:lnSpc>
            </a:pPr>
            <a:r>
              <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rPr>
              <a:t>网络层</a:t>
            </a:r>
            <a:endPar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custDataLst>
              <p:tags r:id="rId8"/>
            </p:custDataLst>
          </p:nvPr>
        </p:nvSpPr>
        <p:spPr>
          <a:xfrm>
            <a:off x="8269948" y="2471312"/>
            <a:ext cx="3251104" cy="1055857"/>
          </a:xfrm>
          <a:prstGeom prst="rect">
            <a:avLst/>
          </a:prstGeom>
        </p:spPr>
        <p:txBody>
          <a:bodyPr vert="horz" wrap="square" lIns="66008" tIns="33052" rIns="66008" bIns="33052" rtlCol="0" anchor="t" anchorCtr="0">
            <a:no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通过WIFI模块将感知层收集的数据传输至处理层，采用无线方式传输。</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0" name="AutoShape 10"/>
          <p:cNvSpPr/>
          <p:nvPr>
            <p:custDataLst>
              <p:tags r:id="rId9"/>
            </p:custDataLst>
          </p:nvPr>
        </p:nvSpPr>
        <p:spPr>
          <a:xfrm>
            <a:off x="4120950" y="4294709"/>
            <a:ext cx="3657600" cy="2219857"/>
          </a:xfrm>
          <a:prstGeom prst="roundRect">
            <a:avLst>
              <a:gd name="adj" fmla="val 16667"/>
            </a:avLst>
          </a:prstGeom>
          <a:solidFill>
            <a:schemeClr val="lt2">
              <a:alpha val="100000"/>
            </a:schemeClr>
          </a:solidFill>
          <a:ln w="19050">
            <a:solidFill>
              <a:schemeClr val="accent1">
                <a:alpha val="100000"/>
                <a:lumMod val="40000"/>
                <a:lumMod val="60000"/>
              </a:schemeClr>
            </a:solidFill>
            <a:prstDash val="solid"/>
          </a:ln>
        </p:spPr>
      </p:sp>
      <p:sp>
        <p:nvSpPr>
          <p:cNvPr id="11" name="TextBox 11"/>
          <p:cNvSpPr txBox="1"/>
          <p:nvPr>
            <p:custDataLst>
              <p:tags r:id="rId10"/>
            </p:custDataLst>
          </p:nvPr>
        </p:nvSpPr>
        <p:spPr>
          <a:xfrm>
            <a:off x="4320056" y="4545312"/>
            <a:ext cx="3251104" cy="490334"/>
          </a:xfrm>
          <a:prstGeom prst="rect">
            <a:avLst/>
          </a:prstGeom>
          <a:solidFill>
            <a:schemeClr val="lt2">
              <a:alpha val="100000"/>
            </a:schemeClr>
          </a:solidFill>
          <a:ln w="19050">
            <a:solidFill>
              <a:schemeClr val="accent1">
                <a:alpha val="100000"/>
                <a:lumMod val="40000"/>
                <a:lumMod val="60000"/>
              </a:schemeClr>
            </a:solidFill>
            <a:prstDash val="solid"/>
          </a:ln>
        </p:spPr>
        <p:txBody>
          <a:bodyPr vert="horz" wrap="square" lIns="66008" tIns="33052" rIns="66008" bIns="33052" rtlCol="0" anchor="ctr" anchorCtr="0">
            <a:noAutofit/>
          </a:bodyPr>
          <a:lstStyle/>
          <a:p>
            <a:pPr algn="ctr">
              <a:lnSpc>
                <a:spcPct val="120000"/>
              </a:lnSpc>
            </a:pPr>
            <a:r>
              <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rPr>
              <a:t>平台层</a:t>
            </a:r>
            <a:endPar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custDataLst>
              <p:tags r:id="rId11"/>
            </p:custDataLst>
          </p:nvPr>
        </p:nvSpPr>
        <p:spPr>
          <a:xfrm>
            <a:off x="4320056" y="5115465"/>
            <a:ext cx="3251104" cy="1055857"/>
          </a:xfrm>
          <a:prstGeom prst="rect">
            <a:avLst/>
          </a:prstGeom>
          <a:noFill/>
        </p:spPr>
        <p:txBody>
          <a:bodyPr vert="horz" wrap="square" lIns="66008" tIns="33052" rIns="66008" bIns="33052" rtlCol="0" anchor="t" anchorCtr="0">
            <a:noAutofit/>
          </a:bodyPr>
          <a:lstStyle/>
          <a:p>
            <a:pPr algn="ctr">
              <a:lnSpc>
                <a:spcPct val="140000"/>
              </a:lnSpc>
            </a:pPr>
            <a:r>
              <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rPr>
              <a:t>接收网络层数据，进行存储、分析和处理，提供用户交互界面和决策支持。</a:t>
            </a:r>
            <a:endPar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 name="AutoShape 13"/>
          <p:cNvSpPr/>
          <p:nvPr>
            <p:custDataLst>
              <p:tags r:id="rId12"/>
            </p:custDataLst>
          </p:nvPr>
        </p:nvSpPr>
        <p:spPr>
          <a:xfrm>
            <a:off x="8078316" y="4302184"/>
            <a:ext cx="3657600" cy="2219857"/>
          </a:xfrm>
          <a:prstGeom prst="roundRect">
            <a:avLst>
              <a:gd name="adj" fmla="val 16667"/>
            </a:avLst>
          </a:prstGeom>
          <a:solidFill>
            <a:schemeClr val="lt2">
              <a:alpha val="100000"/>
            </a:schemeClr>
          </a:solidFill>
          <a:ln w="19050">
            <a:solidFill>
              <a:schemeClr val="accent1">
                <a:alpha val="100000"/>
                <a:lumMod val="40000"/>
                <a:lumMod val="60000"/>
              </a:schemeClr>
            </a:solidFill>
            <a:prstDash val="solid"/>
          </a:ln>
        </p:spPr>
      </p:sp>
      <p:sp>
        <p:nvSpPr>
          <p:cNvPr id="14" name="TextBox 14"/>
          <p:cNvSpPr txBox="1"/>
          <p:nvPr>
            <p:custDataLst>
              <p:tags r:id="rId13"/>
            </p:custDataLst>
          </p:nvPr>
        </p:nvSpPr>
        <p:spPr>
          <a:xfrm>
            <a:off x="8277423" y="4552787"/>
            <a:ext cx="3251104" cy="490334"/>
          </a:xfrm>
          <a:prstGeom prst="rect">
            <a:avLst/>
          </a:prstGeom>
          <a:solidFill>
            <a:schemeClr val="lt2">
              <a:alpha val="100000"/>
            </a:schemeClr>
          </a:solidFill>
          <a:ln w="19050">
            <a:solidFill>
              <a:schemeClr val="accent1">
                <a:alpha val="100000"/>
                <a:lumMod val="40000"/>
                <a:lumMod val="60000"/>
              </a:schemeClr>
            </a:solidFill>
            <a:prstDash val="solid"/>
          </a:ln>
        </p:spPr>
        <p:txBody>
          <a:bodyPr vert="horz" wrap="square" lIns="66008" tIns="33052" rIns="66008" bIns="33052" rtlCol="0" anchor="ctr" anchorCtr="0">
            <a:noAutofit/>
          </a:bodyPr>
          <a:lstStyle/>
          <a:p>
            <a:pPr algn="ctr">
              <a:lnSpc>
                <a:spcPct val="120000"/>
              </a:lnSpc>
            </a:pPr>
            <a:r>
              <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rPr>
              <a:t>执行层</a:t>
            </a:r>
            <a:endParaRPr lang="en-US" sz="20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custDataLst>
              <p:tags r:id="rId14"/>
            </p:custDataLst>
          </p:nvPr>
        </p:nvSpPr>
        <p:spPr>
          <a:xfrm>
            <a:off x="8277423" y="5122940"/>
            <a:ext cx="3251104" cy="1055857"/>
          </a:xfrm>
          <a:prstGeom prst="rect">
            <a:avLst/>
          </a:prstGeom>
          <a:noFill/>
        </p:spPr>
        <p:txBody>
          <a:bodyPr vert="horz" wrap="square" lIns="66008" tIns="33052" rIns="66008" bIns="33052" rtlCol="0" anchor="t" anchorCtr="0">
            <a:noAutofit/>
          </a:bodyPr>
          <a:lstStyle/>
          <a:p>
            <a:pPr algn="ctr">
              <a:lnSpc>
                <a:spcPct val="140000"/>
              </a:lnSpc>
            </a:pPr>
            <a:r>
              <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rPr>
              <a:t>根据平台层的指令，控制执行机构调节报警灯、小风扇、蜂鸣器等，调整碳排放源的工作状态。</a:t>
            </a:r>
            <a:endPar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8229600" y="1981200"/>
            <a:ext cx="4117975" cy="3613785"/>
          </a:xfrm>
          <a:prstGeom prst="rect">
            <a:avLst/>
          </a:prstGeom>
        </p:spPr>
      </p:pic>
      <p:pic>
        <p:nvPicPr>
          <p:cNvPr id="5" name="图片 4"/>
          <p:cNvPicPr>
            <a:picLocks noChangeAspect="1"/>
          </p:cNvPicPr>
          <p:nvPr/>
        </p:nvPicPr>
        <p:blipFill>
          <a:blip r:embed="rId3"/>
          <a:stretch>
            <a:fillRect/>
          </a:stretch>
        </p:blipFill>
        <p:spPr>
          <a:xfrm>
            <a:off x="114300" y="1905000"/>
            <a:ext cx="8267700" cy="3781425"/>
          </a:xfrm>
          <a:prstGeom prst="rect">
            <a:avLst/>
          </a:prstGeom>
        </p:spPr>
      </p:pic>
      <p:sp>
        <p:nvSpPr>
          <p:cNvPr id="3" name="TextBox 3"/>
          <p:cNvSpPr txBox="1"/>
          <p:nvPr/>
        </p:nvSpPr>
        <p:spPr>
          <a:xfrm>
            <a:off x="663575" y="228600"/>
            <a:ext cx="12494895"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一</a:t>
            </a: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、设计思想</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800" b="1">
                <a:solidFill>
                  <a:srgbClr val="425941">
                    <a:alpha val="100000"/>
                  </a:srgbClr>
                </a:solidFill>
                <a:latin typeface="微软雅黑" panose="020B0503020204020204" charset="-122"/>
                <a:ea typeface="微软雅黑" panose="020B0503020204020204" charset="-122"/>
                <a:cs typeface="微软雅黑" panose="020B0503020204020204" charset="-122"/>
              </a:rPr>
              <a:t>（</a:t>
            </a:r>
            <a:r>
              <a:rPr lang="zh-CN" altLang="en-US" sz="2800" b="1">
                <a:solidFill>
                  <a:srgbClr val="425941">
                    <a:alpha val="100000"/>
                  </a:srgbClr>
                </a:solidFill>
                <a:latin typeface="微软雅黑" panose="020B0503020204020204" charset="-122"/>
                <a:ea typeface="微软雅黑" panose="020B0503020204020204" charset="-122"/>
                <a:cs typeface="微软雅黑" panose="020B0503020204020204" charset="-122"/>
              </a:rPr>
              <a:t>二）系统</a:t>
            </a:r>
            <a:r>
              <a:rPr lang="en-US" sz="2800" b="1">
                <a:solidFill>
                  <a:srgbClr val="425941">
                    <a:alpha val="100000"/>
                  </a:srgbClr>
                </a:solidFill>
                <a:latin typeface="微软雅黑" panose="020B0503020204020204" charset="-122"/>
                <a:ea typeface="微软雅黑" panose="020B0503020204020204" charset="-122"/>
                <a:cs typeface="微软雅黑" panose="020B0503020204020204" charset="-122"/>
              </a:rPr>
              <a:t>结构</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24" name="Picture 2"/>
          <p:cNvPicPr>
            <a:picLocks noChangeAspect="1"/>
          </p:cNvPicPr>
          <p:nvPr/>
        </p:nvPicPr>
        <p:blipFill>
          <a:blip r:embed="rId4">
            <a:alphaModFix amt="100000"/>
          </a:blip>
          <a:srcRect l="30000" r="30000"/>
          <a:stretch>
            <a:fillRect/>
          </a:stretch>
        </p:blipFill>
        <p:spPr>
          <a:xfrm>
            <a:off x="10482580" y="152400"/>
            <a:ext cx="1485900" cy="1485900"/>
          </a:xfrm>
          <a:prstGeom prst="ellipse">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custDataLst>
              <p:tags r:id="rId2"/>
            </p:custDataLst>
          </p:nvPr>
        </p:nvPicPr>
        <p:blipFill>
          <a:blip r:embed="rId3"/>
          <a:srcRect/>
          <a:stretch>
            <a:fillRect/>
          </a:stretch>
        </p:blipFill>
        <p:spPr>
          <a:xfrm>
            <a:off x="685732" y="4432100"/>
            <a:ext cx="2667000" cy="1962150"/>
          </a:xfrm>
          <a:prstGeom prst="rect">
            <a:avLst/>
          </a:prstGeom>
        </p:spPr>
      </p:pic>
      <p:pic>
        <p:nvPicPr>
          <p:cNvPr id="3" name="Picture 3"/>
          <p:cNvPicPr>
            <a:picLocks noChangeAspect="1"/>
          </p:cNvPicPr>
          <p:nvPr>
            <p:custDataLst>
              <p:tags r:id="rId4"/>
            </p:custDataLst>
          </p:nvPr>
        </p:nvPicPr>
        <p:blipFill>
          <a:blip r:embed="rId5"/>
          <a:srcRect l="11772" r="11772"/>
          <a:stretch>
            <a:fillRect/>
          </a:stretch>
        </p:blipFill>
        <p:spPr>
          <a:xfrm>
            <a:off x="685732" y="1696920"/>
            <a:ext cx="2667000" cy="1962150"/>
          </a:xfrm>
          <a:prstGeom prst="rect">
            <a:avLst/>
          </a:prstGeom>
        </p:spPr>
      </p:pic>
      <p:pic>
        <p:nvPicPr>
          <p:cNvPr id="4" name="Picture 4"/>
          <p:cNvPicPr>
            <a:picLocks noChangeAspect="1"/>
          </p:cNvPicPr>
          <p:nvPr>
            <p:custDataLst>
              <p:tags r:id="rId6"/>
            </p:custDataLst>
          </p:nvPr>
        </p:nvPicPr>
        <p:blipFill>
          <a:blip r:embed="rId7"/>
          <a:srcRect l="2427" r="2427"/>
          <a:stretch>
            <a:fillRect/>
          </a:stretch>
        </p:blipFill>
        <p:spPr>
          <a:xfrm>
            <a:off x="6474634" y="4424919"/>
            <a:ext cx="2667000" cy="1962150"/>
          </a:xfrm>
          <a:prstGeom prst="rect">
            <a:avLst/>
          </a:prstGeom>
        </p:spPr>
      </p:pic>
      <p:pic>
        <p:nvPicPr>
          <p:cNvPr id="5" name="Picture 5"/>
          <p:cNvPicPr>
            <a:picLocks noChangeAspect="1"/>
          </p:cNvPicPr>
          <p:nvPr>
            <p:custDataLst>
              <p:tags r:id="rId8"/>
            </p:custDataLst>
          </p:nvPr>
        </p:nvPicPr>
        <p:blipFill>
          <a:blip r:embed="rId9"/>
          <a:srcRect t="1007" b="1007"/>
          <a:stretch>
            <a:fillRect/>
          </a:stretch>
        </p:blipFill>
        <p:spPr>
          <a:xfrm>
            <a:off x="6474634" y="1696920"/>
            <a:ext cx="2667000" cy="1962150"/>
          </a:xfrm>
          <a:prstGeom prst="rect">
            <a:avLst/>
          </a:prstGeom>
        </p:spPr>
      </p:pic>
      <p:sp>
        <p:nvSpPr>
          <p:cNvPr id="6" name="TextBox 6"/>
          <p:cNvSpPr txBox="1"/>
          <p:nvPr/>
        </p:nvSpPr>
        <p:spPr>
          <a:xfrm>
            <a:off x="457200" y="116840"/>
            <a:ext cx="11960860" cy="1395095"/>
          </a:xfrm>
          <a:prstGeom prst="rect">
            <a:avLst/>
          </a:prstGeom>
          <a:noFill/>
        </p:spPr>
        <p:txBody>
          <a:bodyPr vert="horz" wrap="square" lIns="123825" tIns="123825" rIns="57150" bIns="123825" rtlCol="0" anchor="ctr" anchorCtr="0">
            <a:no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一、设计思想</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三）</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主要功能</a:t>
            </a:r>
            <a:r>
              <a:rPr lang="en-US" sz="32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custDataLst>
              <p:tags r:id="rId10"/>
            </p:custDataLst>
          </p:nvPr>
        </p:nvSpPr>
        <p:spPr>
          <a:xfrm>
            <a:off x="3470998" y="1801047"/>
            <a:ext cx="2426717" cy="490334"/>
          </a:xfrm>
          <a:prstGeom prst="rect">
            <a:avLst/>
          </a:prstGeom>
        </p:spPr>
        <p:txBody>
          <a:bodyPr vert="horz" wrap="square" lIns="66008" tIns="33052" rIns="66008" bIns="33052" rtlCol="0" anchor="ctr" anchorCtr="0">
            <a:noAutofit/>
          </a:bodyPr>
          <a:lstStyle/>
          <a:p>
            <a:pPr algn="l">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实时监测</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8" name="TextBox 8"/>
          <p:cNvSpPr txBox="1"/>
          <p:nvPr>
            <p:custDataLst>
              <p:tags r:id="rId11"/>
            </p:custDataLst>
          </p:nvPr>
        </p:nvSpPr>
        <p:spPr>
          <a:xfrm>
            <a:off x="3470998" y="2373400"/>
            <a:ext cx="2267763" cy="1197322"/>
          </a:xfrm>
          <a:prstGeom prst="rect">
            <a:avLst/>
          </a:prstGeom>
        </p:spPr>
        <p:txBody>
          <a:bodyPr vert="horz" wrap="square" lIns="66008" tIns="33052" rIns="66008" bIns="33052" rtlCol="0" anchor="ctr" anchorCtr="0">
            <a:noAutofit/>
          </a:bodyPr>
          <a:lstStyle/>
          <a:p>
            <a:pPr algn="l">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系统实时采集二氧化碳浓度、流速、一氧化二氮及甲烷浓度等参数，主要以二氧化碳展开汇报。</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custDataLst>
              <p:tags r:id="rId12"/>
            </p:custDataLst>
          </p:nvPr>
        </p:nvSpPr>
        <p:spPr>
          <a:xfrm>
            <a:off x="9372869" y="1829091"/>
            <a:ext cx="2426717" cy="490334"/>
          </a:xfrm>
          <a:prstGeom prst="rect">
            <a:avLst/>
          </a:prstGeom>
        </p:spPr>
        <p:txBody>
          <a:bodyPr vert="horz" wrap="square" lIns="66008" tIns="33052" rIns="66008" bIns="33052" rtlCol="0" anchor="ctr" anchorCtr="0">
            <a:noAutofit/>
          </a:bodyPr>
          <a:lstStyle/>
          <a:p>
            <a:pPr algn="l">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数据分析</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0" name="TextBox 10"/>
          <p:cNvSpPr txBox="1"/>
          <p:nvPr>
            <p:custDataLst>
              <p:tags r:id="rId13"/>
            </p:custDataLst>
          </p:nvPr>
        </p:nvSpPr>
        <p:spPr>
          <a:xfrm>
            <a:off x="9360169" y="2373400"/>
            <a:ext cx="2267763" cy="1197322"/>
          </a:xfrm>
          <a:prstGeom prst="rect">
            <a:avLst/>
          </a:prstGeom>
        </p:spPr>
        <p:txBody>
          <a:bodyPr vert="horz" wrap="square" lIns="66008" tIns="33052" rIns="66008" bIns="33052" rtlCol="0" anchor="ctr" anchorCtr="0">
            <a:noAutofit/>
          </a:bodyPr>
          <a:lstStyle/>
          <a:p>
            <a:pPr algn="l">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对收集到的数据进行深入分析，</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可视化处理展现给用户，让用户直观了解到碳排放趋势</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1" name="TextBox 11"/>
          <p:cNvSpPr txBox="1"/>
          <p:nvPr>
            <p:custDataLst>
              <p:tags r:id="rId14"/>
            </p:custDataLst>
          </p:nvPr>
        </p:nvSpPr>
        <p:spPr>
          <a:xfrm>
            <a:off x="3546529" y="4432100"/>
            <a:ext cx="2426717" cy="490334"/>
          </a:xfrm>
          <a:prstGeom prst="rect">
            <a:avLst/>
          </a:prstGeom>
        </p:spPr>
        <p:txBody>
          <a:bodyPr vert="horz" wrap="square" lIns="66008" tIns="33052" rIns="66008" bIns="33052" rtlCol="0" anchor="ctr" anchorCtr="0">
            <a:noAutofit/>
          </a:bodyPr>
          <a:lstStyle/>
          <a:p>
            <a:pPr algn="l">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预测预警</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custDataLst>
              <p:tags r:id="rId15"/>
            </p:custDataLst>
          </p:nvPr>
        </p:nvSpPr>
        <p:spPr>
          <a:xfrm>
            <a:off x="3546529" y="5028920"/>
            <a:ext cx="2267763" cy="1197322"/>
          </a:xfrm>
          <a:prstGeom prst="rect">
            <a:avLst/>
          </a:prstGeom>
        </p:spPr>
        <p:txBody>
          <a:bodyPr vert="horz" wrap="square" lIns="66008" tIns="33052" rIns="66008" bIns="33052" rtlCol="0" anchor="ctr" anchorCtr="0">
            <a:noAutofit/>
          </a:bodyPr>
          <a:lstStyle/>
          <a:p>
            <a:pPr algn="l">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利用数据预测算法，预测未来碳排放趋势，提前发出预警信号，做出预警措施。</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custDataLst>
              <p:tags r:id="rId16"/>
            </p:custDataLst>
          </p:nvPr>
        </p:nvSpPr>
        <p:spPr>
          <a:xfrm>
            <a:off x="9360169" y="4538587"/>
            <a:ext cx="2426717" cy="490334"/>
          </a:xfrm>
          <a:prstGeom prst="rect">
            <a:avLst/>
          </a:prstGeom>
        </p:spPr>
        <p:txBody>
          <a:bodyPr vert="horz" wrap="square" lIns="66008" tIns="33052" rIns="66008" bIns="33052" rtlCol="0" anchor="ctr" anchorCtr="0">
            <a:noAutofit/>
          </a:bodyPr>
          <a:lstStyle/>
          <a:p>
            <a:pPr algn="l">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决策支持</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custDataLst>
              <p:tags r:id="rId17"/>
            </p:custDataLst>
          </p:nvPr>
        </p:nvSpPr>
        <p:spPr>
          <a:xfrm>
            <a:off x="9360169" y="4845129"/>
            <a:ext cx="2267763" cy="1303809"/>
          </a:xfrm>
          <a:prstGeom prst="rect">
            <a:avLst/>
          </a:prstGeom>
        </p:spPr>
        <p:txBody>
          <a:bodyPr vert="horz" wrap="square" lIns="66008" tIns="33052" rIns="66008" bIns="33052" rtlCol="0" anchor="ctr" anchorCtr="0">
            <a:noAutofit/>
          </a:bodyPr>
          <a:lstStyle/>
          <a:p>
            <a:pPr algn="l">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为政府和企业提供减排策略建议，助力制定科学的碳中和政策。</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1193139" y="1926564"/>
            <a:ext cx="10484808" cy="1798058"/>
          </a:xfrm>
          <a:prstGeom prst="rect">
            <a:avLst/>
          </a:prstGeom>
          <a:noFill/>
        </p:spPr>
        <p:txBody>
          <a:bodyPr vert="horz" wrap="square" lIns="114300" tIns="57150" rIns="114300" bIns="57150" rtlCol="0" anchor="t" anchorCtr="0">
            <a:normAutofit/>
          </a:bodyPr>
          <a:lstStyle/>
          <a:p>
            <a:pPr algn="l">
              <a:lnSpc>
                <a:spcPct val="120000"/>
              </a:lnSpc>
            </a:pPr>
            <a:r>
              <a:rPr lang="zh-CN" alt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二</a:t>
            </a:r>
            <a:r>
              <a:rPr lang="zh-CN" alt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、系统</a:t>
            </a:r>
            <a:r>
              <a:rPr 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实现</a:t>
            </a:r>
            <a:endParaRPr lang="en-US" sz="5700">
              <a:solidFill>
                <a:srgbClr val="669B51">
                  <a:alpha val="100000"/>
                </a:srgbClr>
              </a:solidFill>
              <a:latin typeface="微软雅黑" panose="020B0503020204020204" charset="-122"/>
              <a:ea typeface="微软雅黑" panose="020B0503020204020204" charset="-122"/>
              <a:cs typeface="华文琥珀" panose="020108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4489734" y="3976440"/>
            <a:ext cx="3273285" cy="911020"/>
          </a:xfrm>
          <a:prstGeom prst="roundRect">
            <a:avLst>
              <a:gd name="adj" fmla="val 28095"/>
            </a:avLst>
          </a:prstGeom>
          <a:solidFill>
            <a:schemeClr val="accent1">
              <a:alpha val="100000"/>
            </a:schemeClr>
          </a:solidFill>
        </p:spPr>
      </p:sp>
      <p:sp>
        <p:nvSpPr>
          <p:cNvPr id="3" name="AutoShape 3"/>
          <p:cNvSpPr/>
          <p:nvPr/>
        </p:nvSpPr>
        <p:spPr>
          <a:xfrm>
            <a:off x="650433" y="3976440"/>
            <a:ext cx="3273285" cy="911020"/>
          </a:xfrm>
          <a:prstGeom prst="roundRect">
            <a:avLst>
              <a:gd name="adj" fmla="val 28095"/>
            </a:avLst>
          </a:prstGeom>
          <a:solidFill>
            <a:schemeClr val="accent1">
              <a:alpha val="100000"/>
            </a:schemeClr>
          </a:solidFill>
        </p:spPr>
      </p:sp>
      <p:sp>
        <p:nvSpPr>
          <p:cNvPr id="4" name="AutoShape 4"/>
          <p:cNvSpPr/>
          <p:nvPr/>
        </p:nvSpPr>
        <p:spPr>
          <a:xfrm>
            <a:off x="4489734" y="1474577"/>
            <a:ext cx="3273285" cy="955194"/>
          </a:xfrm>
          <a:prstGeom prst="roundRect">
            <a:avLst>
              <a:gd name="adj" fmla="val 28095"/>
            </a:avLst>
          </a:prstGeom>
          <a:solidFill>
            <a:schemeClr val="accent1">
              <a:alpha val="100000"/>
            </a:schemeClr>
          </a:solidFill>
        </p:spPr>
      </p:sp>
      <p:sp>
        <p:nvSpPr>
          <p:cNvPr id="5" name="AutoShape 5"/>
          <p:cNvSpPr/>
          <p:nvPr/>
        </p:nvSpPr>
        <p:spPr>
          <a:xfrm>
            <a:off x="650433" y="1474577"/>
            <a:ext cx="3273285" cy="955194"/>
          </a:xfrm>
          <a:prstGeom prst="roundRect">
            <a:avLst>
              <a:gd name="adj" fmla="val 28095"/>
            </a:avLst>
          </a:prstGeom>
          <a:solidFill>
            <a:schemeClr val="accent1">
              <a:alpha val="100000"/>
            </a:schemeClr>
          </a:solidFill>
        </p:spPr>
      </p:sp>
      <p:pic>
        <p:nvPicPr>
          <p:cNvPr id="6" name="Picture 6"/>
          <p:cNvPicPr>
            <a:picLocks noChangeAspect="1"/>
          </p:cNvPicPr>
          <p:nvPr/>
        </p:nvPicPr>
        <p:blipFill>
          <a:blip r:embed="rId2">
            <a:alphaModFix amt="100000"/>
          </a:blip>
          <a:srcRect l="27844" r="27844"/>
          <a:stretch>
            <a:fillRect/>
          </a:stretch>
        </p:blipFill>
        <p:spPr>
          <a:xfrm>
            <a:off x="8293144" y="1482730"/>
            <a:ext cx="3422379" cy="4563172"/>
          </a:xfrm>
          <a:prstGeom prst="roundRect">
            <a:avLst/>
          </a:prstGeom>
        </p:spPr>
      </p:pic>
      <p:sp>
        <p:nvSpPr>
          <p:cNvPr id="7" name="TextBox 7"/>
          <p:cNvSpPr txBox="1"/>
          <p:nvPr/>
        </p:nvSpPr>
        <p:spPr>
          <a:xfrm>
            <a:off x="878205" y="2597150"/>
            <a:ext cx="2791460" cy="1104900"/>
          </a:xfrm>
          <a:prstGeom prst="rect">
            <a:avLst/>
          </a:prstGeom>
          <a:noFill/>
        </p:spPr>
        <p:txBody>
          <a:bodyPr vert="horz" wrap="square" lIns="123825" tIns="123825" rIns="57150" bIns="123825" rtlCol="0" anchor="t" anchorCtr="0">
            <a:noAutofit/>
          </a:bodyPr>
          <a:lstStyle/>
          <a:p>
            <a:pPr algn="ctr">
              <a:lnSpc>
                <a:spcPct val="100000"/>
              </a:lnSpc>
              <a:spcBef>
                <a:spcPts val="375"/>
              </a:spcBef>
            </a:pPr>
            <a:r>
              <a:rPr lang="zh-CN" altLang="en-US"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rPr>
              <a:t>借助</a:t>
            </a:r>
            <a:r>
              <a:rPr lang="en-US" altLang="zh-CN"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rPr>
              <a:t> Spring Boot</a:t>
            </a:r>
            <a:r>
              <a:rPr lang="zh-CN" altLang="en-US"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rPr>
              <a:t>，开发者可以快速启动项目，并方便地集成各种第三方工具和库，构建高效、稳定的应用程序。</a:t>
            </a:r>
            <a:endParaRPr lang="zh-CN" altLang="en-US"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endParaRPr>
          </a:p>
        </p:txBody>
      </p:sp>
      <p:sp>
        <p:nvSpPr>
          <p:cNvPr id="8" name="TextBox 8"/>
          <p:cNvSpPr txBox="1"/>
          <p:nvPr/>
        </p:nvSpPr>
        <p:spPr>
          <a:xfrm>
            <a:off x="4583551" y="2429771"/>
            <a:ext cx="3085651" cy="1184336"/>
          </a:xfrm>
          <a:prstGeom prst="rect">
            <a:avLst/>
          </a:prstGeom>
          <a:noFill/>
        </p:spPr>
        <p:txBody>
          <a:bodyPr vert="horz" wrap="square" lIns="123825" tIns="123825" rIns="57150" bIns="123825" rtlCol="0" anchor="t" anchorCtr="0">
            <a:noAutofit/>
          </a:bodyPr>
          <a:lstStyle/>
          <a:p>
            <a:pPr algn="ctr">
              <a:lnSpc>
                <a:spcPct val="140000"/>
              </a:lnSpc>
            </a:pP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rPr>
              <a:t>Vue可以帮助开发者更轻松地创建 Web 应用程序和服务；小程序依托微信平台运行，使用户能够在移动端便捷地访问和操作数据。</a:t>
            </a:r>
            <a:endParaRPr lang="en-US" sz="1500" b="1">
              <a:solidFill>
                <a:srgbClr val="3E4E2E">
                  <a:alpha val="100000"/>
                </a:srgbClr>
              </a:solidFill>
              <a:latin typeface="新宋体" panose="02010609030101010101" charset="-122"/>
              <a:ea typeface="新宋体" panose="02010609030101010101" charset="-122"/>
              <a:cs typeface="新宋体" panose="02010609030101010101" charset="-122"/>
            </a:endParaRPr>
          </a:p>
        </p:txBody>
      </p:sp>
      <p:sp>
        <p:nvSpPr>
          <p:cNvPr id="9" name="TextBox 9"/>
          <p:cNvSpPr txBox="1"/>
          <p:nvPr/>
        </p:nvSpPr>
        <p:spPr>
          <a:xfrm>
            <a:off x="829698" y="4915720"/>
            <a:ext cx="2914755" cy="1671595"/>
          </a:xfrm>
          <a:prstGeom prst="rect">
            <a:avLst/>
          </a:prstGeom>
          <a:noFill/>
        </p:spPr>
        <p:txBody>
          <a:bodyPr vert="horz" wrap="square" lIns="123825" tIns="123825" rIns="57150" bIns="123825" rtlCol="0" anchor="t" anchorCtr="0">
            <a:noAutofit/>
          </a:bodyPr>
          <a:lstStyle/>
          <a:p>
            <a:pPr algn="ctr">
              <a:lnSpc>
                <a:spcPct val="140000"/>
              </a:lnSpc>
            </a:pP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rPr>
              <a:t>使用结构化查询语言（SQL）进行数据库管理，它是一个标准的数据库语言，用于处理关系数据库管理系统中的数据</a:t>
            </a:r>
            <a:endParaRPr lang="en-US" sz="1500" b="1">
              <a:solidFill>
                <a:srgbClr val="3E4E2E">
                  <a:alpha val="100000"/>
                </a:srgbClr>
              </a:solidFill>
              <a:latin typeface="新宋体" panose="02010609030101010101" charset="-122"/>
              <a:ea typeface="新宋体" panose="02010609030101010101" charset="-122"/>
              <a:cs typeface="新宋体" panose="02010609030101010101" charset="-122"/>
            </a:endParaRPr>
          </a:p>
        </p:txBody>
      </p:sp>
      <p:sp>
        <p:nvSpPr>
          <p:cNvPr id="10" name="TextBox 10"/>
          <p:cNvSpPr txBox="1"/>
          <p:nvPr/>
        </p:nvSpPr>
        <p:spPr>
          <a:xfrm>
            <a:off x="4407114" y="4915720"/>
            <a:ext cx="3029916" cy="1428639"/>
          </a:xfrm>
          <a:prstGeom prst="rect">
            <a:avLst/>
          </a:prstGeom>
          <a:noFill/>
        </p:spPr>
        <p:txBody>
          <a:bodyPr vert="horz" wrap="square" lIns="123825" tIns="123825" rIns="57150" bIns="123825" rtlCol="0" anchor="t" anchorCtr="0">
            <a:noAutofit/>
          </a:bodyPr>
          <a:lstStyle/>
          <a:p>
            <a:pPr algn="ctr">
              <a:lnSpc>
                <a:spcPct val="140000"/>
              </a:lnSpc>
            </a:pP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rPr>
              <a:t>物联网技术通过</a:t>
            </a:r>
            <a:r>
              <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rPr>
              <a:t>多种</a:t>
            </a: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rPr>
              <a:t>传感器设备，实时采集环境数据，为碳</a:t>
            </a:r>
            <a:r>
              <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rPr>
              <a:t>排放</a:t>
            </a: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rPr>
              <a:t>监测提供基础数据支持。</a:t>
            </a:r>
            <a:endParaRPr lang="en-US" sz="1500" b="1">
              <a:solidFill>
                <a:srgbClr val="3E4E2E">
                  <a:alpha val="100000"/>
                </a:srgbClr>
              </a:solidFill>
              <a:latin typeface="新宋体" panose="02010609030101010101" charset="-122"/>
              <a:ea typeface="新宋体" panose="02010609030101010101" charset="-122"/>
              <a:cs typeface="新宋体" panose="02010609030101010101" charset="-122"/>
            </a:endParaRPr>
          </a:p>
        </p:txBody>
      </p:sp>
      <p:sp>
        <p:nvSpPr>
          <p:cNvPr id="11" name="TextBox 11"/>
          <p:cNvSpPr txBox="1"/>
          <p:nvPr/>
        </p:nvSpPr>
        <p:spPr>
          <a:xfrm>
            <a:off x="650433" y="188024"/>
            <a:ext cx="11239500" cy="1022350"/>
          </a:xfrm>
          <a:prstGeom prst="rect">
            <a:avLst/>
          </a:prstGeom>
          <a:noFill/>
        </p:spPr>
        <p:txBody>
          <a:bodyPr vert="horz" wrap="square" lIns="123825" tIns="123825" rIns="57150" bIns="123825" rtlCol="0" anchor="t" anchorCtr="0">
            <a:spAutoFit/>
          </a:bodyPr>
          <a:lstStyle/>
          <a:p>
            <a:pPr algn="l">
              <a:lnSpc>
                <a:spcPct val="140000"/>
              </a:lnSpc>
            </a:pP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相关技术</a:t>
            </a: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架构</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838067" y="1662215"/>
            <a:ext cx="2898018" cy="579918"/>
          </a:xfrm>
          <a:prstGeom prst="rect">
            <a:avLst/>
          </a:prstGeom>
          <a:noFill/>
        </p:spPr>
        <p:txBody>
          <a:bodyPr vert="horz" wrap="square" lIns="123825" tIns="123825" rIns="57150" bIns="123825" rtlCol="0" anchor="ctr" anchorCtr="0">
            <a:noAutofit/>
          </a:bodyPr>
          <a:lstStyle/>
          <a:p>
            <a:pPr algn="ctr">
              <a:lnSpc>
                <a:spcPct val="120000"/>
              </a:lnSpc>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rPr>
              <a:t>Spring Boot后端技术</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nvSpPr>
        <p:spPr>
          <a:xfrm>
            <a:off x="4677367" y="1634607"/>
            <a:ext cx="2898018" cy="635136"/>
          </a:xfrm>
          <a:prstGeom prst="rect">
            <a:avLst/>
          </a:prstGeom>
        </p:spPr>
        <p:txBody>
          <a:bodyPr vert="horz" wrap="square" lIns="123825" tIns="123825" rIns="57150" bIns="123825" rtlCol="0" anchor="ctr" anchorCtr="0">
            <a:noAutofit/>
          </a:bodyPr>
          <a:lstStyle/>
          <a:p>
            <a:pPr algn="ctr">
              <a:lnSpc>
                <a:spcPct val="120000"/>
              </a:lnSpc>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rPr>
              <a:t>Web前端/小程序</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rPr>
              <a:t>技术</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nvSpPr>
        <p:spPr>
          <a:xfrm>
            <a:off x="838067" y="4114382"/>
            <a:ext cx="2898018" cy="635136"/>
          </a:xfrm>
          <a:prstGeom prst="rect">
            <a:avLst/>
          </a:prstGeom>
          <a:noFill/>
        </p:spPr>
        <p:txBody>
          <a:bodyPr vert="horz" wrap="square" lIns="123825" tIns="123825" rIns="57150" bIns="123825" rtlCol="0" anchor="ctr" anchorCtr="0">
            <a:noAutofit/>
          </a:bodyPr>
          <a:lstStyle/>
          <a:p>
            <a:pPr algn="ctr">
              <a:lnSpc>
                <a:spcPct val="100000"/>
              </a:lnSpc>
              <a:spcBef>
                <a:spcPts val="375"/>
              </a:spcBef>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rPr>
              <a:t>MySQL数据库</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nvSpPr>
        <p:spPr>
          <a:xfrm>
            <a:off x="4677367" y="4114382"/>
            <a:ext cx="2898018" cy="635136"/>
          </a:xfrm>
          <a:prstGeom prst="rect">
            <a:avLst/>
          </a:prstGeom>
        </p:spPr>
        <p:txBody>
          <a:bodyPr vert="horz" wrap="square" lIns="123825" tIns="123825" rIns="57150" bIns="123825" rtlCol="0" anchor="ctr" anchorCtr="0">
            <a:noAutofit/>
          </a:bodyPr>
          <a:lstStyle/>
          <a:p>
            <a:pPr algn="ctr">
              <a:lnSpc>
                <a:spcPct val="120000"/>
              </a:lnSpc>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rPr>
              <a:t>物联网技术</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6" name="右箭头 15"/>
          <p:cNvSpPr/>
          <p:nvPr/>
        </p:nvSpPr>
        <p:spPr>
          <a:xfrm>
            <a:off x="4054475" y="1800225"/>
            <a:ext cx="304800" cy="3048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右箭头 17"/>
          <p:cNvSpPr/>
          <p:nvPr/>
        </p:nvSpPr>
        <p:spPr>
          <a:xfrm>
            <a:off x="4054475" y="4267200"/>
            <a:ext cx="304800" cy="3048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右箭头 20"/>
          <p:cNvSpPr/>
          <p:nvPr/>
        </p:nvSpPr>
        <p:spPr>
          <a:xfrm>
            <a:off x="215265" y="4267200"/>
            <a:ext cx="304800" cy="3048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11" name="TextBox 11"/>
          <p:cNvSpPr txBox="1"/>
          <p:nvPr/>
        </p:nvSpPr>
        <p:spPr>
          <a:xfrm>
            <a:off x="304800" y="-76200"/>
            <a:ext cx="11534775"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（一）</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相关技术</a:t>
            </a:r>
            <a:r>
              <a:rPr lang="en-US" altLang="zh-CN"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altLang="zh-CN"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grpSp>
        <p:nvGrpSpPr>
          <p:cNvPr id="17" name="组合 16"/>
          <p:cNvGrpSpPr/>
          <p:nvPr/>
        </p:nvGrpSpPr>
        <p:grpSpPr>
          <a:xfrm>
            <a:off x="2386965" y="1676400"/>
            <a:ext cx="7112000" cy="5112385"/>
            <a:chOff x="1024" y="2322"/>
            <a:chExt cx="11200" cy="8051"/>
          </a:xfrm>
        </p:grpSpPr>
        <p:sp>
          <p:nvSpPr>
            <p:cNvPr id="2" name="AutoShape 2"/>
            <p:cNvSpPr/>
            <p:nvPr/>
          </p:nvSpPr>
          <p:spPr>
            <a:xfrm>
              <a:off x="7070" y="6262"/>
              <a:ext cx="5155" cy="1435"/>
            </a:xfrm>
            <a:prstGeom prst="roundRect">
              <a:avLst>
                <a:gd name="adj" fmla="val 28095"/>
              </a:avLst>
            </a:prstGeom>
            <a:solidFill>
              <a:schemeClr val="accent1">
                <a:alpha val="100000"/>
              </a:schemeClr>
            </a:solidFill>
          </p:spPr>
        </p:sp>
        <p:sp>
          <p:nvSpPr>
            <p:cNvPr id="3" name="AutoShape 3"/>
            <p:cNvSpPr/>
            <p:nvPr/>
          </p:nvSpPr>
          <p:spPr>
            <a:xfrm>
              <a:off x="1024" y="6262"/>
              <a:ext cx="5155" cy="1435"/>
            </a:xfrm>
            <a:prstGeom prst="roundRect">
              <a:avLst>
                <a:gd name="adj" fmla="val 28095"/>
              </a:avLst>
            </a:prstGeom>
            <a:solidFill>
              <a:schemeClr val="accent1">
                <a:alpha val="100000"/>
              </a:schemeClr>
            </a:solidFill>
          </p:spPr>
        </p:sp>
        <p:sp>
          <p:nvSpPr>
            <p:cNvPr id="4" name="AutoShape 4"/>
            <p:cNvSpPr/>
            <p:nvPr/>
          </p:nvSpPr>
          <p:spPr>
            <a:xfrm>
              <a:off x="7070" y="2322"/>
              <a:ext cx="5155" cy="1504"/>
            </a:xfrm>
            <a:prstGeom prst="roundRect">
              <a:avLst>
                <a:gd name="adj" fmla="val 28095"/>
              </a:avLst>
            </a:prstGeom>
            <a:solidFill>
              <a:schemeClr val="accent1">
                <a:alpha val="100000"/>
              </a:schemeClr>
            </a:solidFill>
          </p:spPr>
        </p:sp>
        <p:sp>
          <p:nvSpPr>
            <p:cNvPr id="5" name="AutoShape 5"/>
            <p:cNvSpPr/>
            <p:nvPr/>
          </p:nvSpPr>
          <p:spPr>
            <a:xfrm>
              <a:off x="1024" y="2322"/>
              <a:ext cx="5155" cy="1504"/>
            </a:xfrm>
            <a:prstGeom prst="roundRect">
              <a:avLst>
                <a:gd name="adj" fmla="val 28095"/>
              </a:avLst>
            </a:prstGeom>
            <a:solidFill>
              <a:schemeClr val="accent1">
                <a:alpha val="100000"/>
              </a:schemeClr>
            </a:solidFill>
          </p:spPr>
        </p:sp>
        <p:sp>
          <p:nvSpPr>
            <p:cNvPr id="7" name="TextBox 7"/>
            <p:cNvSpPr txBox="1"/>
            <p:nvPr/>
          </p:nvSpPr>
          <p:spPr>
            <a:xfrm>
              <a:off x="1383" y="4090"/>
              <a:ext cx="4396" cy="1740"/>
            </a:xfrm>
            <a:prstGeom prst="rect">
              <a:avLst/>
            </a:prstGeom>
            <a:noFill/>
          </p:spPr>
          <p:txBody>
            <a:bodyPr vert="horz" wrap="square" lIns="123825" tIns="123825" rIns="57150" bIns="123825" rtlCol="0" anchor="t" anchorCtr="0">
              <a:noAutofit/>
            </a:bodyPr>
            <a:lstStyle/>
            <a:p>
              <a:pPr algn="ctr">
                <a:lnSpc>
                  <a:spcPct val="140000"/>
                </a:lnSpc>
              </a:pP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物联网技术通过</a:t>
              </a:r>
              <a:r>
                <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多种</a:t>
              </a: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传感器设备，实时采集环境数据，为碳</a:t>
              </a:r>
              <a:r>
                <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排放</a:t>
              </a: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监测提供基础数据支持。</a:t>
              </a:r>
              <a:endParaRPr lang="zh-CN" altLang="en-US"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endParaRPr>
            </a:p>
          </p:txBody>
        </p:sp>
        <p:sp>
          <p:nvSpPr>
            <p:cNvPr id="8" name="TextBox 8"/>
            <p:cNvSpPr txBox="1"/>
            <p:nvPr/>
          </p:nvSpPr>
          <p:spPr>
            <a:xfrm>
              <a:off x="7200" y="4200"/>
              <a:ext cx="4859" cy="1865"/>
            </a:xfrm>
            <a:prstGeom prst="rect">
              <a:avLst/>
            </a:prstGeom>
            <a:noFill/>
          </p:spPr>
          <p:txBody>
            <a:bodyPr vert="horz" wrap="square" lIns="123825" tIns="123825" rIns="57150" bIns="123825" rtlCol="0" anchor="t" anchorCtr="0">
              <a:noAutofit/>
            </a:bodyPr>
            <a:lstStyle/>
            <a:p>
              <a:pPr algn="ctr">
                <a:lnSpc>
                  <a:spcPct val="100000"/>
                </a:lnSpc>
                <a:spcBef>
                  <a:spcPts val="375"/>
                </a:spcBef>
              </a:pPr>
              <a:r>
                <a:rPr lang="zh-CN" altLang="en-US"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sym typeface="+mn-ea"/>
                </a:rPr>
                <a:t>借助</a:t>
              </a:r>
              <a:r>
                <a:rPr lang="en-US" altLang="zh-CN"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sym typeface="+mn-ea"/>
                </a:rPr>
                <a:t> Spring Boot</a:t>
              </a:r>
              <a:r>
                <a:rPr lang="zh-CN" altLang="en-US" sz="1500" b="1">
                  <a:solidFill>
                    <a:schemeClr val="accent4">
                      <a:lumMod val="50000"/>
                      <a:alpha val="100000"/>
                    </a:schemeClr>
                  </a:solidFill>
                  <a:latin typeface="新宋体" panose="02010609030101010101" charset="-122"/>
                  <a:ea typeface="新宋体" panose="02010609030101010101" charset="-122"/>
                  <a:cs typeface="新宋体" panose="02010609030101010101" charset="-122"/>
                  <a:sym typeface="+mn-ea"/>
                </a:rPr>
                <a:t>，开发者可以快速启动项目，并方便地集成各种第三方工具和库，构建高效、稳定的应用程序。</a:t>
              </a:r>
              <a:endParaRPr lang="en-US" sz="1500" b="1">
                <a:solidFill>
                  <a:srgbClr val="3E4E2E">
                    <a:alpha val="100000"/>
                  </a:srgbClr>
                </a:solidFill>
                <a:latin typeface="新宋体" panose="02010609030101010101" charset="-122"/>
                <a:ea typeface="新宋体" panose="02010609030101010101" charset="-122"/>
                <a:cs typeface="新宋体" panose="02010609030101010101" charset="-122"/>
              </a:endParaRPr>
            </a:p>
          </p:txBody>
        </p:sp>
        <p:sp>
          <p:nvSpPr>
            <p:cNvPr id="9" name="TextBox 9"/>
            <p:cNvSpPr txBox="1"/>
            <p:nvPr/>
          </p:nvSpPr>
          <p:spPr>
            <a:xfrm>
              <a:off x="1307" y="7741"/>
              <a:ext cx="4590" cy="2632"/>
            </a:xfrm>
            <a:prstGeom prst="rect">
              <a:avLst/>
            </a:prstGeom>
            <a:noFill/>
          </p:spPr>
          <p:txBody>
            <a:bodyPr vert="horz" wrap="square" lIns="123825" tIns="123825" rIns="57150" bIns="123825" rtlCol="0" anchor="t" anchorCtr="0">
              <a:noAutofit/>
            </a:bodyPr>
            <a:lstStyle/>
            <a:p>
              <a:pPr algn="ctr">
                <a:lnSpc>
                  <a:spcPct val="140000"/>
                </a:lnSpc>
              </a:pP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Vue可以帮助开发者更</a:t>
              </a:r>
              <a:r>
                <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容易</a:t>
              </a: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创建 Web 应用程序和服务；小程序依托微信平台运行，使用户能够在移动端便捷地访问</a:t>
              </a:r>
              <a:r>
                <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和</a:t>
              </a: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操作数据。</a:t>
              </a:r>
              <a:endParaRPr lang="en-US" sz="1500" b="1">
                <a:solidFill>
                  <a:srgbClr val="3E4E2E">
                    <a:alpha val="100000"/>
                  </a:srgbClr>
                </a:solidFill>
                <a:latin typeface="新宋体" panose="02010609030101010101" charset="-122"/>
                <a:ea typeface="新宋体" panose="02010609030101010101" charset="-122"/>
                <a:cs typeface="新宋体" panose="02010609030101010101" charset="-122"/>
              </a:endParaRPr>
            </a:p>
          </p:txBody>
        </p:sp>
        <p:sp>
          <p:nvSpPr>
            <p:cNvPr id="10" name="TextBox 10"/>
            <p:cNvSpPr txBox="1"/>
            <p:nvPr/>
          </p:nvSpPr>
          <p:spPr>
            <a:xfrm>
              <a:off x="6940" y="7741"/>
              <a:ext cx="4772" cy="2250"/>
            </a:xfrm>
            <a:prstGeom prst="rect">
              <a:avLst/>
            </a:prstGeom>
            <a:noFill/>
          </p:spPr>
          <p:txBody>
            <a:bodyPr vert="horz" wrap="square" lIns="123825" tIns="123825" rIns="57150" bIns="123825" rtlCol="0" anchor="t" anchorCtr="0">
              <a:noAutofit/>
            </a:bodyPr>
            <a:lstStyle/>
            <a:p>
              <a:pPr algn="ctr">
                <a:lnSpc>
                  <a:spcPct val="140000"/>
                </a:lnSpc>
              </a:pPr>
              <a:r>
                <a:rPr 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使用结构化查询语言（SQL）进行数据库管理，它是一个标准的数据库语言，用于处理关系数据库管理系统中的数据</a:t>
              </a:r>
              <a:r>
                <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rPr>
                <a:t>。</a:t>
              </a:r>
              <a:endParaRPr lang="zh-CN" altLang="en-US" sz="1500" b="1">
                <a:solidFill>
                  <a:srgbClr val="3E4E2E">
                    <a:alpha val="100000"/>
                  </a:srgbClr>
                </a:solidFill>
                <a:latin typeface="新宋体" panose="02010609030101010101" charset="-122"/>
                <a:ea typeface="新宋体" panose="02010609030101010101" charset="-122"/>
                <a:cs typeface="新宋体" panose="02010609030101010101" charset="-122"/>
                <a:sym typeface="+mn-ea"/>
              </a:endParaRPr>
            </a:p>
          </p:txBody>
        </p:sp>
        <p:sp>
          <p:nvSpPr>
            <p:cNvPr id="12" name="TextBox 12"/>
            <p:cNvSpPr txBox="1"/>
            <p:nvPr/>
          </p:nvSpPr>
          <p:spPr>
            <a:xfrm>
              <a:off x="1320" y="2618"/>
              <a:ext cx="4564" cy="913"/>
            </a:xfrm>
            <a:prstGeom prst="rect">
              <a:avLst/>
            </a:prstGeom>
            <a:noFill/>
          </p:spPr>
          <p:txBody>
            <a:bodyPr vert="horz" wrap="square" lIns="123825" tIns="123825" rIns="57150" bIns="123825" rtlCol="0" anchor="ctr" anchorCtr="0">
              <a:noAutofit/>
            </a:bodyPr>
            <a:lstStyle/>
            <a:p>
              <a:pPr algn="ctr">
                <a:lnSpc>
                  <a:spcPct val="120000"/>
                </a:lnSpc>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物联网技术</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nvSpPr>
          <p:spPr>
            <a:xfrm>
              <a:off x="7366" y="2574"/>
              <a:ext cx="4564" cy="1000"/>
            </a:xfrm>
            <a:prstGeom prst="rect">
              <a:avLst/>
            </a:prstGeom>
          </p:spPr>
          <p:txBody>
            <a:bodyPr vert="horz" wrap="square" lIns="123825" tIns="123825" rIns="57150" bIns="123825" rtlCol="0" anchor="ctr" anchorCtr="0">
              <a:noAutofit/>
            </a:bodyPr>
            <a:lstStyle/>
            <a:p>
              <a:pPr algn="ctr">
                <a:lnSpc>
                  <a:spcPct val="120000"/>
                </a:lnSpc>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Spring Boot后端</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nvSpPr>
          <p:spPr>
            <a:xfrm>
              <a:off x="1320" y="6479"/>
              <a:ext cx="4564" cy="1000"/>
            </a:xfrm>
            <a:prstGeom prst="rect">
              <a:avLst/>
            </a:prstGeom>
            <a:noFill/>
          </p:spPr>
          <p:txBody>
            <a:bodyPr vert="horz" wrap="square" lIns="123825" tIns="123825" rIns="57150" bIns="123825" rtlCol="0" anchor="ctr" anchorCtr="0">
              <a:noAutofit/>
            </a:bodyPr>
            <a:lstStyle/>
            <a:p>
              <a:pPr algn="ctr">
                <a:lnSpc>
                  <a:spcPct val="120000"/>
                </a:lnSpc>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Web前端/小程序</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nvSpPr>
          <p:spPr>
            <a:xfrm>
              <a:off x="7366" y="6479"/>
              <a:ext cx="4564" cy="1000"/>
            </a:xfrm>
            <a:prstGeom prst="rect">
              <a:avLst/>
            </a:prstGeom>
          </p:spPr>
          <p:txBody>
            <a:bodyPr vert="horz" wrap="square" lIns="123825" tIns="123825" rIns="57150" bIns="123825" rtlCol="0" anchor="ctr" anchorCtr="0">
              <a:noAutofit/>
            </a:bodyPr>
            <a:lstStyle/>
            <a:p>
              <a:pPr algn="ctr">
                <a:lnSpc>
                  <a:spcPct val="100000"/>
                </a:lnSpc>
                <a:spcBef>
                  <a:spcPts val="375"/>
                </a:spcBef>
              </a:pPr>
              <a:r>
                <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sym typeface="+mn-ea"/>
                </a:rPr>
                <a:t>MySQL数据库</a:t>
              </a:r>
              <a:endParaRPr lang="en-US" sz="2400" b="1">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6" name="右箭头 15"/>
            <p:cNvSpPr/>
            <p:nvPr/>
          </p:nvSpPr>
          <p:spPr>
            <a:xfrm>
              <a:off x="6385" y="2835"/>
              <a:ext cx="480" cy="48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右箭头 17"/>
            <p:cNvSpPr/>
            <p:nvPr/>
          </p:nvSpPr>
          <p:spPr>
            <a:xfrm rot="10800000">
              <a:off x="6385" y="6720"/>
              <a:ext cx="480" cy="48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9" name="右弧形箭头 18"/>
          <p:cNvSpPr/>
          <p:nvPr/>
        </p:nvSpPr>
        <p:spPr>
          <a:xfrm>
            <a:off x="9753600" y="2362200"/>
            <a:ext cx="1295400" cy="2438400"/>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l="12579" r="24528"/>
          <a:stretch>
            <a:fillRect/>
          </a:stretch>
        </p:blipFill>
        <p:spPr>
          <a:xfrm>
            <a:off x="6956303" y="1704939"/>
            <a:ext cx="4966371" cy="4177773"/>
          </a:xfrm>
          <a:prstGeom prst="rect">
            <a:avLst/>
          </a:prstGeom>
        </p:spPr>
      </p:pic>
      <p:sp>
        <p:nvSpPr>
          <p:cNvPr id="3" name="TextBox 3"/>
          <p:cNvSpPr txBox="1"/>
          <p:nvPr/>
        </p:nvSpPr>
        <p:spPr>
          <a:xfrm>
            <a:off x="556553" y="375763"/>
            <a:ext cx="11239500" cy="1047750"/>
          </a:xfrm>
          <a:prstGeom prst="rect">
            <a:avLst/>
          </a:prstGeom>
          <a:noFill/>
        </p:spPr>
        <p:txBody>
          <a:bodyPr vert="horz" wrap="square" lIns="123825" tIns="123825" rIns="57150" bIns="123825" rtlCol="0" anchor="t" anchorCtr="0">
            <a:spAutoFit/>
          </a:bodyPr>
          <a:lstStyle/>
          <a:p>
            <a:pPr algn="l">
              <a:lnSpc>
                <a:spcPct val="140000"/>
              </a:lnSpc>
            </a:pP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云平台软件开发技术</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nvSpPr>
        <p:spPr>
          <a:xfrm>
            <a:off x="3729746" y="1769675"/>
            <a:ext cx="3031629" cy="4285329"/>
          </a:xfrm>
          <a:prstGeom prst="roundRect">
            <a:avLst>
              <a:gd name="adj" fmla="val 0"/>
            </a:avLst>
          </a:prstGeom>
          <a:solidFill>
            <a:schemeClr val="lt2">
              <a:alpha val="80000"/>
            </a:schemeClr>
          </a:solidFill>
          <a:ln w="19050">
            <a:solidFill>
              <a:schemeClr val="lt1">
                <a:alpha val="80000"/>
                <a:lumMod val="50000"/>
              </a:schemeClr>
            </a:solidFill>
            <a:prstDash val="solid"/>
          </a:ln>
        </p:spPr>
      </p:sp>
      <p:sp>
        <p:nvSpPr>
          <p:cNvPr id="5" name="TextBox 5"/>
          <p:cNvSpPr txBox="1"/>
          <p:nvPr/>
        </p:nvSpPr>
        <p:spPr>
          <a:xfrm>
            <a:off x="3923235" y="2035795"/>
            <a:ext cx="2644651" cy="649939"/>
          </a:xfrm>
          <a:prstGeom prst="rect">
            <a:avLst/>
          </a:prstGeom>
        </p:spPr>
        <p:txBody>
          <a:bodyPr vert="horz" wrap="square" lIns="66008" tIns="33052" rIns="66008" bIns="33052" rtlCol="0" anchor="ctr" anchorCtr="0">
            <a:noAutofit/>
          </a:bodyPr>
          <a:lstStyle/>
          <a:p>
            <a:pPr algn="ctr">
              <a:lnSpc>
                <a:spcPct val="120000"/>
              </a:lnSpc>
            </a:pPr>
            <a:r>
              <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rPr>
              <a:t>Arduino MEGA 2560获取传感器数据</a:t>
            </a:r>
            <a:endPar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nvSpPr>
        <p:spPr>
          <a:xfrm>
            <a:off x="4322442" y="3108999"/>
            <a:ext cx="2040446" cy="2773713"/>
          </a:xfrm>
          <a:prstGeom prst="rect">
            <a:avLst/>
          </a:prstGeom>
        </p:spPr>
        <p:txBody>
          <a:bodyPr vert="horz" wrap="square" lIns="66008" tIns="33052" rIns="66008" bIns="33052" rtlCol="0" anchor="t" anchorCtr="0">
            <a:noAutofit/>
          </a:bodyPr>
          <a:lstStyle/>
          <a:p>
            <a:pPr algn="ctr">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利用Arduino MEGA 2560的编程能力，从多种传感器中实时获取并处理数据，通过ESP8266-WiFi模块向OneNET云平台发送采集数据。</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AutoShape 7"/>
          <p:cNvSpPr/>
          <p:nvPr/>
        </p:nvSpPr>
        <p:spPr>
          <a:xfrm>
            <a:off x="556553" y="1764765"/>
            <a:ext cx="3031629" cy="4285329"/>
          </a:xfrm>
          <a:prstGeom prst="roundRect">
            <a:avLst>
              <a:gd name="adj" fmla="val 0"/>
            </a:avLst>
          </a:prstGeom>
          <a:solidFill>
            <a:schemeClr val="lt2">
              <a:alpha val="80000"/>
            </a:schemeClr>
          </a:solidFill>
          <a:ln w="19050">
            <a:solidFill>
              <a:schemeClr val="lt1">
                <a:alpha val="80000"/>
                <a:lumMod val="50000"/>
              </a:schemeClr>
            </a:solidFill>
            <a:prstDash val="solid"/>
          </a:ln>
        </p:spPr>
      </p:sp>
      <p:sp>
        <p:nvSpPr>
          <p:cNvPr id="8" name="TextBox 8"/>
          <p:cNvSpPr txBox="1"/>
          <p:nvPr/>
        </p:nvSpPr>
        <p:spPr>
          <a:xfrm>
            <a:off x="750042" y="2035795"/>
            <a:ext cx="2644651" cy="649939"/>
          </a:xfrm>
          <a:prstGeom prst="rect">
            <a:avLst/>
          </a:prstGeom>
        </p:spPr>
        <p:txBody>
          <a:bodyPr vert="horz" wrap="square" lIns="66008" tIns="33052" rIns="66008" bIns="33052" rtlCol="0" anchor="ctr" anchorCtr="0">
            <a:noAutofit/>
          </a:bodyPr>
          <a:lstStyle/>
          <a:p>
            <a:pPr algn="ctr">
              <a:lnSpc>
                <a:spcPct val="120000"/>
              </a:lnSpc>
            </a:pPr>
            <a:r>
              <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rPr>
              <a:t>OneNET云平台的WiFi通信</a:t>
            </a:r>
            <a:endPar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nvSpPr>
        <p:spPr>
          <a:xfrm>
            <a:off x="944251" y="3108999"/>
            <a:ext cx="2256233" cy="2752134"/>
          </a:xfrm>
          <a:prstGeom prst="rect">
            <a:avLst/>
          </a:prstGeom>
        </p:spPr>
        <p:txBody>
          <a:bodyPr vert="horz" wrap="square" lIns="66008" tIns="33052" rIns="66008" bIns="33052" rtlCol="0" anchor="t" anchorCtr="0">
            <a:noAutofit/>
          </a:bodyPr>
          <a:lstStyle/>
          <a:p>
            <a:pPr algn="ctr">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通过OneNET云平台实现设备与WiFi网络的稳定连接，确保数据传输的高效性与可靠性。</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533400" y="-92710"/>
            <a:ext cx="1160145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（二）数据采集</a:t>
            </a:r>
            <a:r>
              <a:rPr lang="en-US" altLang="zh-CN" sz="2400" b="1">
                <a:solidFill>
                  <a:srgbClr val="425941">
                    <a:alpha val="100000"/>
                  </a:srgbClr>
                </a:solidFill>
                <a:latin typeface="微软雅黑" panose="020B0503020204020204" charset="-122"/>
                <a:ea typeface="微软雅黑" panose="020B0503020204020204" charset="-122"/>
                <a:cs typeface="微软雅黑" panose="020B0503020204020204" charset="-122"/>
              </a:rPr>
              <a:t>-</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前期准备</a:t>
            </a:r>
            <a:r>
              <a:rPr lang="en-US" altLang="zh-CN"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altLang="zh-CN"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custDataLst>
              <p:tags r:id="rId2"/>
            </p:custDataLst>
          </p:nvPr>
        </p:nvSpPr>
        <p:spPr>
          <a:xfrm>
            <a:off x="3729746" y="1769675"/>
            <a:ext cx="3031629" cy="4285329"/>
          </a:xfrm>
          <a:prstGeom prst="roundRect">
            <a:avLst>
              <a:gd name="adj" fmla="val 0"/>
            </a:avLst>
          </a:prstGeom>
          <a:solidFill>
            <a:schemeClr val="lt2">
              <a:alpha val="80000"/>
            </a:schemeClr>
          </a:solidFill>
          <a:ln w="19050">
            <a:solidFill>
              <a:schemeClr val="lt1">
                <a:alpha val="80000"/>
                <a:lumMod val="50000"/>
              </a:schemeClr>
            </a:solidFill>
            <a:prstDash val="solid"/>
          </a:ln>
        </p:spPr>
      </p:sp>
      <p:sp>
        <p:nvSpPr>
          <p:cNvPr id="5" name="TextBox 5"/>
          <p:cNvSpPr txBox="1"/>
          <p:nvPr>
            <p:custDataLst>
              <p:tags r:id="rId3"/>
            </p:custDataLst>
          </p:nvPr>
        </p:nvSpPr>
        <p:spPr>
          <a:xfrm>
            <a:off x="3923235" y="2035795"/>
            <a:ext cx="2644651" cy="649939"/>
          </a:xfrm>
          <a:prstGeom prst="rect">
            <a:avLst/>
          </a:prstGeom>
        </p:spPr>
        <p:txBody>
          <a:bodyPr vert="horz" wrap="square" lIns="66008" tIns="33052" rIns="66008" bIns="33052" rtlCol="0" anchor="ctr" anchorCtr="0">
            <a:noAutofit/>
          </a:bodyPr>
          <a:lstStyle/>
          <a:p>
            <a:pPr algn="ctr">
              <a:lnSpc>
                <a:spcPct val="120000"/>
              </a:lnSpc>
            </a:pPr>
            <a:r>
              <a:rPr lang="zh-CN" alt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rPr>
              <a:t>设备搭建</a:t>
            </a:r>
            <a:endParaRPr lang="zh-CN" alt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custDataLst>
              <p:tags r:id="rId4"/>
            </p:custDataLst>
          </p:nvPr>
        </p:nvSpPr>
        <p:spPr>
          <a:xfrm>
            <a:off x="3729990" y="3108960"/>
            <a:ext cx="3028950" cy="2773680"/>
          </a:xfrm>
          <a:prstGeom prst="rect">
            <a:avLst/>
          </a:prstGeom>
        </p:spPr>
        <p:txBody>
          <a:bodyPr vert="horz" wrap="square" lIns="66008" tIns="33052" rIns="66008" bIns="33052" rtlCol="0" anchor="t" anchorCtr="0">
            <a:noAutofit/>
          </a:bodyPr>
          <a:lstStyle/>
          <a:p>
            <a:pPr algn="l">
              <a:lnSpc>
                <a:spcPct val="140000"/>
              </a:lnSpc>
            </a:pPr>
            <a:r>
              <a:rPr lang="en-US" altLang="zh-CN" sz="1575">
                <a:solidFill>
                  <a:schemeClr val="dk1">
                    <a:alpha val="100000"/>
                  </a:schemeClr>
                </a:solidFill>
                <a:latin typeface="微软雅黑" panose="020B0503020204020204" charset="-122"/>
                <a:ea typeface="微软雅黑" panose="020B0503020204020204" charset="-122"/>
                <a:cs typeface="微软雅黑" panose="020B0503020204020204" charset="-122"/>
              </a:rPr>
              <a:t>1.</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采用</a:t>
            </a:r>
            <a:r>
              <a:rPr lang="en-US" altLang="zh-CN" sz="1575">
                <a:solidFill>
                  <a:schemeClr val="dk1">
                    <a:alpha val="100000"/>
                  </a:schemeClr>
                </a:solidFill>
                <a:latin typeface="微软雅黑" panose="020B0503020204020204" charset="-122"/>
                <a:ea typeface="微软雅黑" panose="020B0503020204020204" charset="-122"/>
                <a:cs typeface="微软雅黑" panose="020B0503020204020204" charset="-122"/>
              </a:rPr>
              <a:t>IIC</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主从机模式连接</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设备</a:t>
            </a: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en-US" altLang="zh-CN" sz="1575">
                <a:solidFill>
                  <a:schemeClr val="dk1">
                    <a:alpha val="100000"/>
                  </a:schemeClr>
                </a:solidFill>
                <a:latin typeface="微软雅黑" panose="020B0503020204020204" charset="-122"/>
                <a:ea typeface="微软雅黑" panose="020B0503020204020204" charset="-122"/>
                <a:cs typeface="微软雅黑" panose="020B0503020204020204" charset="-122"/>
              </a:rPr>
              <a:t>2.</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设备连接</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为各个传感器提供所需资源</a:t>
            </a: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AutoShape 7"/>
          <p:cNvSpPr/>
          <p:nvPr>
            <p:custDataLst>
              <p:tags r:id="rId5"/>
            </p:custDataLst>
          </p:nvPr>
        </p:nvSpPr>
        <p:spPr>
          <a:xfrm>
            <a:off x="556553" y="1764765"/>
            <a:ext cx="3031629" cy="4285329"/>
          </a:xfrm>
          <a:prstGeom prst="roundRect">
            <a:avLst>
              <a:gd name="adj" fmla="val 0"/>
            </a:avLst>
          </a:prstGeom>
          <a:solidFill>
            <a:schemeClr val="lt2">
              <a:alpha val="80000"/>
            </a:schemeClr>
          </a:solidFill>
          <a:ln w="19050">
            <a:solidFill>
              <a:schemeClr val="lt1">
                <a:alpha val="80000"/>
                <a:lumMod val="50000"/>
              </a:schemeClr>
            </a:solidFill>
            <a:prstDash val="solid"/>
          </a:ln>
        </p:spPr>
      </p:sp>
      <p:sp>
        <p:nvSpPr>
          <p:cNvPr id="8" name="TextBox 8"/>
          <p:cNvSpPr txBox="1"/>
          <p:nvPr>
            <p:custDataLst>
              <p:tags r:id="rId6"/>
            </p:custDataLst>
          </p:nvPr>
        </p:nvSpPr>
        <p:spPr>
          <a:xfrm>
            <a:off x="750042" y="2035795"/>
            <a:ext cx="2644651" cy="649939"/>
          </a:xfrm>
          <a:prstGeom prst="rect">
            <a:avLst/>
          </a:prstGeom>
        </p:spPr>
        <p:txBody>
          <a:bodyPr vert="horz" wrap="square" lIns="66008" tIns="33052" rIns="66008" bIns="33052" rtlCol="0" anchor="ctr" anchorCtr="0">
            <a:noAutofit/>
          </a:bodyPr>
          <a:lstStyle/>
          <a:p>
            <a:pPr algn="ctr">
              <a:lnSpc>
                <a:spcPct val="120000"/>
              </a:lnSpc>
            </a:pPr>
            <a:r>
              <a:rPr lang="zh-CN" alt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rPr>
              <a:t>物理</a:t>
            </a:r>
            <a:r>
              <a:rPr lang="zh-CN" alt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rPr>
              <a:t>设备</a:t>
            </a:r>
            <a:endParaRPr lang="zh-CN" alt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custDataLst>
              <p:tags r:id="rId7"/>
            </p:custDataLst>
          </p:nvPr>
        </p:nvSpPr>
        <p:spPr>
          <a:xfrm>
            <a:off x="568960" y="3108960"/>
            <a:ext cx="3019425" cy="2752090"/>
          </a:xfrm>
          <a:prstGeom prst="rect">
            <a:avLst/>
          </a:prstGeom>
        </p:spPr>
        <p:txBody>
          <a:bodyPr vert="horz" wrap="square" lIns="66008" tIns="33052" rIns="66008" bIns="33052" rtlCol="0" anchor="t" anchorCtr="0">
            <a:noAutofit/>
          </a:bodyPr>
          <a:lstStyle/>
          <a:p>
            <a:pPr algn="ctr">
              <a:lnSpc>
                <a:spcPct val="140000"/>
              </a:lnSpc>
            </a:pPr>
            <a:r>
              <a:rPr lang="en-US" altLang="zh-CN" sz="1575">
                <a:solidFill>
                  <a:schemeClr val="accent2">
                    <a:alpha val="100000"/>
                  </a:schemeClr>
                </a:solidFill>
                <a:latin typeface="微软雅黑" panose="020B0503020204020204" charset="-122"/>
                <a:ea typeface="微软雅黑" panose="020B0503020204020204" charset="-122"/>
                <a:cs typeface="微软雅黑" panose="020B0503020204020204" charset="-122"/>
              </a:rPr>
              <a:t>Arduino MEGA 2560</a:t>
            </a:r>
            <a:r>
              <a:rPr lang="zh-CN" altLang="en-US" sz="1575">
                <a:solidFill>
                  <a:schemeClr val="accent2">
                    <a:alpha val="100000"/>
                  </a:schemeClr>
                </a:solidFill>
                <a:latin typeface="微软雅黑" panose="020B0503020204020204" charset="-122"/>
                <a:ea typeface="微软雅黑" panose="020B0503020204020204" charset="-122"/>
                <a:cs typeface="微软雅黑" panose="020B0503020204020204" charset="-122"/>
              </a:rPr>
              <a:t>主板</a:t>
            </a:r>
            <a:endParaRPr lang="zh-CN" altLang="en-US" sz="1575">
              <a:solidFill>
                <a:schemeClr val="accent2">
                  <a:alpha val="100000"/>
                </a:schemeClr>
              </a:solidFill>
              <a:latin typeface="微软雅黑" panose="020B0503020204020204" charset="-122"/>
              <a:ea typeface="微软雅黑" panose="020B0503020204020204" charset="-122"/>
              <a:cs typeface="微软雅黑" panose="020B0503020204020204" charset="-122"/>
            </a:endParaRPr>
          </a:p>
          <a:p>
            <a:pPr algn="ctr">
              <a:lnSpc>
                <a:spcPct val="140000"/>
              </a:lnSpc>
            </a:pPr>
            <a:r>
              <a:rPr lang="zh-CN" altLang="en-US" sz="1575">
                <a:solidFill>
                  <a:schemeClr val="accent2">
                    <a:alpha val="100000"/>
                  </a:schemeClr>
                </a:solidFill>
                <a:latin typeface="微软雅黑" panose="020B0503020204020204" charset="-122"/>
                <a:ea typeface="微软雅黑" panose="020B0503020204020204" charset="-122"/>
                <a:cs typeface="微软雅黑" panose="020B0503020204020204" charset="-122"/>
              </a:rPr>
              <a:t>CO2传感器</a:t>
            </a:r>
            <a:endParaRPr lang="zh-CN" altLang="en-US" sz="1575">
              <a:solidFill>
                <a:schemeClr val="tx1">
                  <a:alpha val="100000"/>
                </a:schemeClr>
              </a:solidFill>
              <a:latin typeface="微软雅黑" panose="020B0503020204020204" charset="-122"/>
              <a:ea typeface="微软雅黑" panose="020B0503020204020204" charset="-122"/>
              <a:cs typeface="微软雅黑" panose="020B0503020204020204" charset="-122"/>
            </a:endParaRPr>
          </a:p>
          <a:p>
            <a:pPr algn="ctr">
              <a:lnSpc>
                <a:spcPct val="140000"/>
              </a:lnSpc>
            </a:pPr>
            <a:r>
              <a:rPr lang="en-US" altLang="zh-CN" sz="1575">
                <a:solidFill>
                  <a:schemeClr val="accent2">
                    <a:alpha val="100000"/>
                  </a:schemeClr>
                </a:solidFill>
                <a:latin typeface="微软雅黑" panose="020B0503020204020204" charset="-122"/>
                <a:ea typeface="微软雅黑" panose="020B0503020204020204" charset="-122"/>
                <a:cs typeface="微软雅黑" panose="020B0503020204020204" charset="-122"/>
              </a:rPr>
              <a:t>N2O</a:t>
            </a:r>
            <a:r>
              <a:rPr lang="zh-CN" altLang="en-US" sz="1575">
                <a:solidFill>
                  <a:schemeClr val="accent2">
                    <a:alpha val="100000"/>
                  </a:schemeClr>
                </a:solidFill>
                <a:latin typeface="微软雅黑" panose="020B0503020204020204" charset="-122"/>
                <a:ea typeface="微软雅黑" panose="020B0503020204020204" charset="-122"/>
                <a:cs typeface="微软雅黑" panose="020B0503020204020204" charset="-122"/>
              </a:rPr>
              <a:t>传感器</a:t>
            </a:r>
            <a:endParaRPr lang="zh-CN" altLang="en-US" sz="1575">
              <a:solidFill>
                <a:schemeClr val="tx1">
                  <a:alpha val="100000"/>
                </a:schemeClr>
              </a:solidFill>
              <a:latin typeface="微软雅黑" panose="020B0503020204020204" charset="-122"/>
              <a:ea typeface="微软雅黑" panose="020B0503020204020204" charset="-122"/>
              <a:cs typeface="微软雅黑" panose="020B0503020204020204" charset="-122"/>
            </a:endParaRPr>
          </a:p>
          <a:p>
            <a:pPr algn="ctr">
              <a:lnSpc>
                <a:spcPct val="140000"/>
              </a:lnSpc>
            </a:pPr>
            <a:r>
              <a:rPr lang="en-US" altLang="zh-CN" sz="1575">
                <a:solidFill>
                  <a:schemeClr val="accent2">
                    <a:alpha val="100000"/>
                  </a:schemeClr>
                </a:solidFill>
                <a:latin typeface="微软雅黑" panose="020B0503020204020204" charset="-122"/>
                <a:ea typeface="微软雅黑" panose="020B0503020204020204" charset="-122"/>
                <a:cs typeface="微软雅黑" panose="020B0503020204020204" charset="-122"/>
              </a:rPr>
              <a:t>CH4</a:t>
            </a:r>
            <a:r>
              <a:rPr lang="zh-CN" altLang="en-US" sz="1575">
                <a:solidFill>
                  <a:schemeClr val="accent2">
                    <a:alpha val="100000"/>
                  </a:schemeClr>
                </a:solidFill>
                <a:latin typeface="微软雅黑" panose="020B0503020204020204" charset="-122"/>
                <a:ea typeface="微软雅黑" panose="020B0503020204020204" charset="-122"/>
                <a:cs typeface="微软雅黑" panose="020B0503020204020204" charset="-122"/>
              </a:rPr>
              <a:t>传感器</a:t>
            </a: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ctr">
              <a:lnSpc>
                <a:spcPct val="140000"/>
              </a:lnSpc>
            </a:pPr>
            <a:r>
              <a:rPr lang="zh-CN" altLang="en-US" sz="1575">
                <a:solidFill>
                  <a:schemeClr val="accent2">
                    <a:alpha val="100000"/>
                  </a:schemeClr>
                </a:solidFill>
                <a:latin typeface="微软雅黑" panose="020B0503020204020204" charset="-122"/>
                <a:ea typeface="微软雅黑" panose="020B0503020204020204" charset="-122"/>
                <a:cs typeface="微软雅黑" panose="020B0503020204020204" charset="-122"/>
              </a:rPr>
              <a:t>流速传感器</a:t>
            </a: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ctr">
              <a:lnSpc>
                <a:spcPct val="140000"/>
              </a:lnSpc>
            </a:pPr>
            <a:r>
              <a:rPr lang="en-US" altLang="zh-CN" sz="1575">
                <a:solidFill>
                  <a:schemeClr val="dk1">
                    <a:alpha val="100000"/>
                  </a:schemeClr>
                </a:solidFill>
                <a:latin typeface="微软雅黑" panose="020B0503020204020204" charset="-122"/>
                <a:ea typeface="微软雅黑" panose="020B0503020204020204" charset="-122"/>
                <a:cs typeface="微软雅黑" panose="020B0503020204020204" charset="-122"/>
              </a:rPr>
              <a:t>ATK-ESP8266</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模块</a:t>
            </a: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ctr">
              <a:lnSpc>
                <a:spcPct val="140000"/>
              </a:lnSpc>
            </a:pPr>
            <a:r>
              <a:rPr lang="en-US" altLang="zh-CN" sz="1575">
                <a:solidFill>
                  <a:schemeClr val="dk1">
                    <a:alpha val="100000"/>
                  </a:schemeClr>
                </a:solidFill>
                <a:latin typeface="微软雅黑" panose="020B0503020204020204" charset="-122"/>
                <a:ea typeface="微软雅黑" panose="020B0503020204020204" charset="-122"/>
                <a:cs typeface="微软雅黑" panose="020B0503020204020204" charset="-122"/>
              </a:rPr>
              <a:t>RS485</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转</a:t>
            </a:r>
            <a:r>
              <a:rPr lang="en-US" altLang="zh-CN" sz="1575">
                <a:solidFill>
                  <a:schemeClr val="dk1">
                    <a:alpha val="100000"/>
                  </a:schemeClr>
                </a:solidFill>
                <a:latin typeface="微软雅黑" panose="020B0503020204020204" charset="-122"/>
                <a:ea typeface="微软雅黑" panose="020B0503020204020204" charset="-122"/>
                <a:cs typeface="微软雅黑" panose="020B0503020204020204" charset="-122"/>
              </a:rPr>
              <a:t>TTL</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转换模块</a:t>
            </a: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pic>
        <p:nvPicPr>
          <p:cNvPr id="10" name="图片 9" descr="物联网设备 2"/>
          <p:cNvPicPr>
            <a:picLocks noChangeAspect="1"/>
          </p:cNvPicPr>
          <p:nvPr/>
        </p:nvPicPr>
        <p:blipFill>
          <a:blip r:embed="rId8"/>
          <a:srcRect r="22192"/>
          <a:stretch>
            <a:fillRect/>
          </a:stretch>
        </p:blipFill>
        <p:spPr>
          <a:xfrm>
            <a:off x="6934200" y="1903730"/>
            <a:ext cx="5110480" cy="39573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00000"/>
          </a:blip>
          <a:srcRect l="24574" r="24574"/>
          <a:stretch>
            <a:fillRect/>
          </a:stretch>
        </p:blipFill>
        <p:spPr>
          <a:xfrm>
            <a:off x="6203747" y="1487175"/>
            <a:ext cx="5238701" cy="4637054"/>
          </a:xfrm>
          <a:prstGeom prst="rect">
            <a:avLst/>
          </a:prstGeom>
        </p:spPr>
      </p:pic>
      <p:sp>
        <p:nvSpPr>
          <p:cNvPr id="3" name="TextBox 3"/>
          <p:cNvSpPr txBox="1"/>
          <p:nvPr/>
        </p:nvSpPr>
        <p:spPr>
          <a:xfrm>
            <a:off x="1482606" y="1947878"/>
            <a:ext cx="4238625" cy="914400"/>
          </a:xfrm>
          <a:prstGeom prst="rect">
            <a:avLst/>
          </a:prstGeom>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ATK-ESP8266是一款基于ESP8266芯片的无线通信模块，具有低功耗、高性能的特点，支持WiFi通信。</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 name="TextBox 4"/>
          <p:cNvSpPr txBox="1"/>
          <p:nvPr/>
        </p:nvSpPr>
        <p:spPr>
          <a:xfrm>
            <a:off x="1482606" y="1370655"/>
            <a:ext cx="4219575" cy="738707"/>
          </a:xfrm>
          <a:prstGeom prst="rect">
            <a:avLst/>
          </a:prstGeom>
        </p:spPr>
        <p:txBody>
          <a:bodyPr vert="horz" wrap="square" lIns="123825" tIns="123825" rIns="57150" bIns="123825" rtlCol="0" anchor="ctr" anchorCtr="0">
            <a:noAutofit/>
          </a:bodyPr>
          <a:lstStyle/>
          <a:p>
            <a:pPr>
              <a:lnSpc>
                <a:spcPct val="15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ATK-ESP8266简介</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1482606" y="3712973"/>
            <a:ext cx="4238625" cy="914400"/>
          </a:xfrm>
          <a:prstGeom prst="rect">
            <a:avLst/>
          </a:prstGeom>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ESP8266支持2.4GHz WiFi频段，提供稳定的网络连接；同时支持AT指令和串口通信，便于与计算机或其他设备交互。</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nvSpPr>
        <p:spPr>
          <a:xfrm>
            <a:off x="1482606" y="3116450"/>
            <a:ext cx="4219575" cy="736876"/>
          </a:xfrm>
          <a:prstGeom prst="rect">
            <a:avLst/>
          </a:prstGeom>
        </p:spPr>
        <p:txBody>
          <a:bodyPr vert="horz" wrap="square" lIns="123825" tIns="123825" rIns="57150" bIns="123825" rtlCol="0" anchor="ctr" anchorCtr="0">
            <a:noAutofit/>
          </a:bodyPr>
          <a:lstStyle/>
          <a:p>
            <a:pPr>
              <a:lnSpc>
                <a:spcPct val="15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ATK-ESP8266特性</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nvSpPr>
        <p:spPr>
          <a:xfrm>
            <a:off x="1482606" y="5377103"/>
            <a:ext cx="4238625" cy="914400"/>
          </a:xfrm>
          <a:prstGeom prst="rect">
            <a:avLst/>
          </a:prstGeom>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WIFI模块是实现无线联网的核心组件，通过该模块，系统可接入互联网或局域网，实现数据传输和共享。</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8" name="TextBox 8"/>
          <p:cNvSpPr txBox="1"/>
          <p:nvPr/>
        </p:nvSpPr>
        <p:spPr>
          <a:xfrm>
            <a:off x="1482606" y="4799881"/>
            <a:ext cx="4219575" cy="749453"/>
          </a:xfrm>
          <a:prstGeom prst="rect">
            <a:avLst/>
          </a:prstGeom>
        </p:spPr>
        <p:txBody>
          <a:bodyPr vert="horz" wrap="square" lIns="123825" tIns="123825" rIns="57150" bIns="123825" rtlCol="0" anchor="ctr" anchorCtr="0">
            <a:noAutofit/>
          </a:bodyPr>
          <a:lstStyle/>
          <a:p>
            <a:pPr>
              <a:lnSpc>
                <a:spcPct val="15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WIFI模块</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nvSpPr>
        <p:spPr>
          <a:xfrm>
            <a:off x="533400" y="-152400"/>
            <a:ext cx="1164717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（三）</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ATK-ESP8266模块</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0" name="TextBox 10"/>
          <p:cNvSpPr txBox="1"/>
          <p:nvPr/>
        </p:nvSpPr>
        <p:spPr>
          <a:xfrm>
            <a:off x="542238" y="1676264"/>
            <a:ext cx="849630" cy="481965"/>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01</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1" name="TextBox 11"/>
          <p:cNvSpPr txBox="1"/>
          <p:nvPr/>
        </p:nvSpPr>
        <p:spPr>
          <a:xfrm>
            <a:off x="542238" y="3414840"/>
            <a:ext cx="849630" cy="481965"/>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02</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542238" y="5136121"/>
            <a:ext cx="849630" cy="481965"/>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03</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 name="AutoShape 13"/>
          <p:cNvSpPr/>
          <p:nvPr/>
        </p:nvSpPr>
        <p:spPr>
          <a:xfrm>
            <a:off x="647738" y="1597932"/>
            <a:ext cx="638629" cy="638629"/>
          </a:xfrm>
          <a:prstGeom prst="rect">
            <a:avLst/>
          </a:prstGeom>
          <a:noFill/>
          <a:ln w="19050">
            <a:solidFill>
              <a:schemeClr val="accent1">
                <a:alpha val="100000"/>
              </a:schemeClr>
            </a:solidFill>
            <a:prstDash val="solid"/>
          </a:ln>
        </p:spPr>
      </p:sp>
      <p:sp>
        <p:nvSpPr>
          <p:cNvPr id="14" name="AutoShape 14"/>
          <p:cNvSpPr/>
          <p:nvPr/>
        </p:nvSpPr>
        <p:spPr>
          <a:xfrm>
            <a:off x="647738" y="3327861"/>
            <a:ext cx="638629" cy="638629"/>
          </a:xfrm>
          <a:prstGeom prst="rect">
            <a:avLst/>
          </a:prstGeom>
          <a:noFill/>
          <a:ln w="19050">
            <a:solidFill>
              <a:schemeClr val="accent1">
                <a:alpha val="100000"/>
              </a:schemeClr>
            </a:solidFill>
            <a:prstDash val="solid"/>
          </a:ln>
        </p:spPr>
      </p:sp>
      <p:sp>
        <p:nvSpPr>
          <p:cNvPr id="15" name="AutoShape 15"/>
          <p:cNvSpPr/>
          <p:nvPr/>
        </p:nvSpPr>
        <p:spPr>
          <a:xfrm>
            <a:off x="647738" y="5057789"/>
            <a:ext cx="638629" cy="638629"/>
          </a:xfrm>
          <a:prstGeom prst="rect">
            <a:avLst/>
          </a:prstGeom>
          <a:noFill/>
          <a:ln w="19050">
            <a:solidFill>
              <a:schemeClr val="accent1">
                <a:alpha val="100000"/>
              </a:schemeClr>
            </a:solidFill>
            <a:prstDash val="solid"/>
          </a:ln>
        </p:spPr>
      </p:sp>
      <p:sp>
        <p:nvSpPr>
          <p:cNvPr id="16" name="TextBox 16"/>
          <p:cNvSpPr txBox="1"/>
          <p:nvPr/>
        </p:nvSpPr>
        <p:spPr>
          <a:xfrm>
            <a:off x="7174938" y="3764796"/>
            <a:ext cx="3668389" cy="1996035"/>
          </a:xfrm>
          <a:prstGeom prst="rect">
            <a:avLst/>
          </a:prstGeom>
        </p:spPr>
        <p:txBody>
          <a:bodyPr vert="horz" wrap="square" lIns="91440" tIns="45720" rIns="91440" bIns="45720" rtlCol="0" anchor="t" anchorCtr="0">
            <a:spAutoFit/>
          </a:bodyPr>
          <a:lstStyle/>
          <a:p>
            <a:pPr>
              <a:lnSpc>
                <a:spcPct val="100000"/>
              </a:lnSpc>
              <a:spcBef>
                <a:spcPts val="375"/>
              </a:spcBef>
            </a:pPr>
            <a:endParaRPr lang="en-US" sz="9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304800" y="-152400"/>
            <a:ext cx="1163574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（四）基于A</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rduino MEGA 2560</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的软件</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开发</a:t>
            </a:r>
            <a:r>
              <a:rPr lang="en-US" sz="32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nvSpPr>
        <p:spPr>
          <a:xfrm>
            <a:off x="3729746" y="1769675"/>
            <a:ext cx="3031629" cy="4285329"/>
          </a:xfrm>
          <a:prstGeom prst="roundRect">
            <a:avLst>
              <a:gd name="adj" fmla="val 0"/>
            </a:avLst>
          </a:prstGeom>
          <a:solidFill>
            <a:schemeClr val="lt2">
              <a:alpha val="80000"/>
            </a:schemeClr>
          </a:solidFill>
          <a:ln w="19050">
            <a:solidFill>
              <a:srgbClr val="FFC000">
                <a:alpha val="80000"/>
              </a:srgbClr>
            </a:solidFill>
            <a:prstDash val="solid"/>
          </a:ln>
        </p:spPr>
      </p:sp>
      <p:sp>
        <p:nvSpPr>
          <p:cNvPr id="5" name="TextBox 5"/>
          <p:cNvSpPr txBox="1"/>
          <p:nvPr/>
        </p:nvSpPr>
        <p:spPr>
          <a:xfrm>
            <a:off x="3923235" y="2133585"/>
            <a:ext cx="2644651" cy="649939"/>
          </a:xfrm>
          <a:prstGeom prst="rect">
            <a:avLst/>
          </a:prstGeom>
        </p:spPr>
        <p:txBody>
          <a:bodyPr vert="horz" wrap="square" lIns="66008" tIns="33052" rIns="66008" bIns="33052" rtlCol="0" anchor="ctr" anchorCtr="0">
            <a:noAutofit/>
          </a:bodyPr>
          <a:lstStyle/>
          <a:p>
            <a:pPr algn="ctr">
              <a:lnSpc>
                <a:spcPct val="120000"/>
              </a:lnSpc>
            </a:pPr>
            <a:r>
              <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rPr>
              <a:t>Arduino MEGA 2560获取传感器数据</a:t>
            </a:r>
            <a:endPar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nvSpPr>
        <p:spPr>
          <a:xfrm>
            <a:off x="3729990" y="3124200"/>
            <a:ext cx="3031490" cy="2773680"/>
          </a:xfrm>
          <a:prstGeom prst="rect">
            <a:avLst/>
          </a:prstGeom>
        </p:spPr>
        <p:txBody>
          <a:bodyPr vert="horz" wrap="square" lIns="66008" tIns="33052" rIns="66008" bIns="33052" rtlCol="0" anchor="t" anchorCtr="0">
            <a:noAutofit/>
          </a:bodyPr>
          <a:lstStyle/>
          <a:p>
            <a:pPr algn="l">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1.Arduino MEGA 2560的</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信号</a:t>
            </a: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编程</a:t>
            </a: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能力</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2.多种传感器实时获取数据</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3.通过ATK-ESP8266-WiFi模块向OneNET云平台发送采集数据</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AutoShape 7"/>
          <p:cNvSpPr/>
          <p:nvPr/>
        </p:nvSpPr>
        <p:spPr>
          <a:xfrm>
            <a:off x="556553" y="1764765"/>
            <a:ext cx="3031629" cy="4285329"/>
          </a:xfrm>
          <a:prstGeom prst="roundRect">
            <a:avLst>
              <a:gd name="adj" fmla="val 0"/>
            </a:avLst>
          </a:prstGeom>
          <a:solidFill>
            <a:schemeClr val="lt2">
              <a:alpha val="80000"/>
            </a:schemeClr>
          </a:solidFill>
          <a:ln w="19050">
            <a:solidFill>
              <a:srgbClr val="FFC000">
                <a:alpha val="80000"/>
              </a:srgbClr>
            </a:solidFill>
            <a:prstDash val="solid"/>
          </a:ln>
        </p:spPr>
      </p:sp>
      <p:sp>
        <p:nvSpPr>
          <p:cNvPr id="8" name="TextBox 8"/>
          <p:cNvSpPr txBox="1"/>
          <p:nvPr/>
        </p:nvSpPr>
        <p:spPr>
          <a:xfrm>
            <a:off x="750042" y="2035795"/>
            <a:ext cx="2644651" cy="649939"/>
          </a:xfrm>
          <a:prstGeom prst="rect">
            <a:avLst/>
          </a:prstGeom>
        </p:spPr>
        <p:txBody>
          <a:bodyPr vert="horz" wrap="square" lIns="66008" tIns="33052" rIns="66008" bIns="33052" rtlCol="0" anchor="ctr" anchorCtr="0">
            <a:noAutofit/>
          </a:bodyPr>
          <a:lstStyle/>
          <a:p>
            <a:pPr algn="ctr">
              <a:lnSpc>
                <a:spcPct val="120000"/>
              </a:lnSpc>
            </a:pPr>
            <a:r>
              <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rPr>
              <a:t>WiFi通信</a:t>
            </a:r>
            <a:endParaRPr lang="en-US" sz="2400" b="1">
              <a:solidFill>
                <a:schemeClr val="accent5">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nvSpPr>
        <p:spPr>
          <a:xfrm>
            <a:off x="676275" y="3429000"/>
            <a:ext cx="2804795" cy="2752090"/>
          </a:xfrm>
          <a:prstGeom prst="rect">
            <a:avLst/>
          </a:prstGeom>
        </p:spPr>
        <p:txBody>
          <a:bodyPr vert="horz" wrap="square" lIns="66008" tIns="33052" rIns="66008" bIns="33052" rtlCol="0" anchor="t" anchorCtr="0">
            <a:noAutofit/>
          </a:bodyPr>
          <a:lstStyle/>
          <a:p>
            <a:pPr algn="l">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1.通过</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编写</a:t>
            </a:r>
            <a:r>
              <a:rPr lang="en-US" altLang="zh-CN" sz="1575">
                <a:solidFill>
                  <a:schemeClr val="dk1">
                    <a:alpha val="100000"/>
                  </a:schemeClr>
                </a:solidFill>
                <a:latin typeface="微软雅黑" panose="020B0503020204020204" charset="-122"/>
                <a:ea typeface="微软雅黑" panose="020B0503020204020204" charset="-122"/>
                <a:cs typeface="微软雅黑" panose="020B0503020204020204" charset="-122"/>
              </a:rPr>
              <a:t>C</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语言代码程序</a:t>
            </a: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endPar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2.WiFi网络</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实现</a:t>
            </a: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稳定连接</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3.确保数据传输高效性</a:t>
            </a:r>
            <a:r>
              <a:rPr lang="zh-CN" alt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a:t>
            </a: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可靠性</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pic>
        <p:nvPicPr>
          <p:cNvPr id="13" name="图片 13" descr="C语言代码2"/>
          <p:cNvPicPr>
            <a:picLocks noChangeAspect="1"/>
          </p:cNvPicPr>
          <p:nvPr/>
        </p:nvPicPr>
        <p:blipFill>
          <a:blip r:embed="rId2"/>
          <a:stretch>
            <a:fillRect/>
          </a:stretch>
        </p:blipFill>
        <p:spPr>
          <a:xfrm>
            <a:off x="7010400" y="1447800"/>
            <a:ext cx="5020945" cy="5029835"/>
          </a:xfrm>
          <a:prstGeom prst="rect">
            <a:avLst/>
          </a:prstGeom>
        </p:spPr>
      </p:pic>
      <p:pic>
        <p:nvPicPr>
          <p:cNvPr id="10" name="图片 6" descr="屏幕截图 2025-01-09 135901"/>
          <p:cNvPicPr>
            <a:picLocks noChangeAspect="1"/>
          </p:cNvPicPr>
          <p:nvPr/>
        </p:nvPicPr>
        <p:blipFill>
          <a:blip r:embed="rId3"/>
          <a:stretch>
            <a:fillRect/>
          </a:stretch>
        </p:blipFill>
        <p:spPr>
          <a:xfrm>
            <a:off x="8305800" y="1447800"/>
            <a:ext cx="3790950" cy="4918710"/>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609600" y="-152400"/>
            <a:ext cx="1153922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（五）</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MQTT协议</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nvSpPr>
        <p:spPr>
          <a:xfrm>
            <a:off x="3729746" y="1769675"/>
            <a:ext cx="3031629" cy="4285329"/>
          </a:xfrm>
          <a:prstGeom prst="roundRect">
            <a:avLst>
              <a:gd name="adj" fmla="val 0"/>
            </a:avLst>
          </a:prstGeom>
          <a:solidFill>
            <a:schemeClr val="lt2">
              <a:alpha val="80000"/>
            </a:schemeClr>
          </a:solidFill>
          <a:ln w="19050">
            <a:solidFill>
              <a:srgbClr val="0071BE">
                <a:alpha val="80000"/>
              </a:srgbClr>
            </a:solidFill>
            <a:prstDash val="solid"/>
          </a:ln>
        </p:spPr>
      </p:sp>
      <p:sp>
        <p:nvSpPr>
          <p:cNvPr id="5" name="TextBox 5"/>
          <p:cNvSpPr txBox="1"/>
          <p:nvPr/>
        </p:nvSpPr>
        <p:spPr>
          <a:xfrm>
            <a:off x="3923235" y="2035795"/>
            <a:ext cx="2644651" cy="649939"/>
          </a:xfrm>
          <a:prstGeom prst="rect">
            <a:avLst/>
          </a:prstGeom>
          <a:noFill/>
        </p:spPr>
        <p:txBody>
          <a:bodyPr vert="horz" wrap="square" lIns="66008" tIns="33052" rIns="66008" bIns="33052" rtlCol="0" anchor="ctr" anchorCtr="0">
            <a:noAutofit/>
          </a:bodyPr>
          <a:lstStyle/>
          <a:p>
            <a:pPr algn="ctr">
              <a:lnSpc>
                <a:spcPct val="120000"/>
              </a:lnSpc>
            </a:pPr>
            <a:r>
              <a:rPr lang="en-US" sz="2400" b="1" i="1">
                <a:solidFill>
                  <a:srgbClr val="AB7B07">
                    <a:alpha val="90980"/>
                    <a:alpha val="91000"/>
                  </a:srgbClr>
                </a:solidFill>
                <a:latin typeface="微软雅黑" panose="020B0503020204020204" charset="-122"/>
                <a:ea typeface="微软雅黑" panose="020B0503020204020204" charset="-122"/>
                <a:cs typeface="微软雅黑" panose="020B0503020204020204" charset="-122"/>
              </a:rPr>
              <a:t>MQTT协议原理</a:t>
            </a:r>
            <a:endParaRPr lang="en-US" sz="2400" b="1" i="1">
              <a:solidFill>
                <a:srgbClr val="AB7B07">
                  <a:alpha val="90980"/>
                  <a:alpha val="91000"/>
                </a:srgb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nvSpPr>
        <p:spPr>
          <a:xfrm>
            <a:off x="4116496" y="2830253"/>
            <a:ext cx="2258129" cy="2714938"/>
          </a:xfrm>
          <a:prstGeom prst="rect">
            <a:avLst/>
          </a:prstGeom>
          <a:noFill/>
        </p:spPr>
        <p:txBody>
          <a:bodyPr vert="horz" wrap="square" lIns="66008" tIns="33052" rIns="66008" bIns="33052" rtlCol="0" anchor="t" anchorCtr="0">
            <a:noAutofit/>
          </a:bodyPr>
          <a:lstStyle/>
          <a:p>
            <a:pPr algn="ctr">
              <a:lnSpc>
                <a:spcPct val="140000"/>
              </a:lnSpc>
            </a:pPr>
            <a:r>
              <a:rPr lang="en-US" sz="1575" b="1">
                <a:solidFill>
                  <a:srgbClr val="222222">
                    <a:alpha val="100000"/>
                  </a:srgbClr>
                </a:solidFill>
                <a:latin typeface="华文宋体" panose="02010600040101010101" charset="-122"/>
                <a:ea typeface="华文宋体" panose="02010600040101010101" charset="-122"/>
                <a:cs typeface="华文宋体" panose="02010600040101010101" charset="-122"/>
              </a:rPr>
              <a:t>基于发布/订阅模式的消息传递机制，MQTT协议能够实现设备之间的高效通信与数据交换。</a:t>
            </a:r>
            <a:endParaRPr lang="en-US" sz="1575" b="1">
              <a:solidFill>
                <a:srgbClr val="222222">
                  <a:alpha val="100000"/>
                </a:srgbClr>
              </a:solidFill>
              <a:latin typeface="华文宋体" panose="02010600040101010101" charset="-122"/>
              <a:ea typeface="华文宋体" panose="02010600040101010101" charset="-122"/>
              <a:cs typeface="华文宋体" panose="02010600040101010101" charset="-122"/>
            </a:endParaRPr>
          </a:p>
        </p:txBody>
      </p:sp>
      <p:sp>
        <p:nvSpPr>
          <p:cNvPr id="7" name="AutoShape 7"/>
          <p:cNvSpPr/>
          <p:nvPr/>
        </p:nvSpPr>
        <p:spPr>
          <a:xfrm>
            <a:off x="556553" y="1764765"/>
            <a:ext cx="3031629" cy="4285329"/>
          </a:xfrm>
          <a:prstGeom prst="roundRect">
            <a:avLst>
              <a:gd name="adj" fmla="val 0"/>
            </a:avLst>
          </a:prstGeom>
          <a:solidFill>
            <a:schemeClr val="lt2">
              <a:alpha val="80000"/>
            </a:schemeClr>
          </a:solidFill>
          <a:ln w="19050">
            <a:solidFill>
              <a:srgbClr val="0071BE">
                <a:alpha val="80000"/>
              </a:srgbClr>
            </a:solidFill>
            <a:prstDash val="solid"/>
          </a:ln>
        </p:spPr>
      </p:sp>
      <p:sp>
        <p:nvSpPr>
          <p:cNvPr id="8" name="TextBox 8"/>
          <p:cNvSpPr txBox="1"/>
          <p:nvPr/>
        </p:nvSpPr>
        <p:spPr>
          <a:xfrm>
            <a:off x="750042" y="2035795"/>
            <a:ext cx="2644651" cy="649939"/>
          </a:xfrm>
          <a:prstGeom prst="rect">
            <a:avLst/>
          </a:prstGeom>
        </p:spPr>
        <p:txBody>
          <a:bodyPr vert="horz" wrap="square" lIns="66008" tIns="33052" rIns="66008" bIns="33052" rtlCol="0" anchor="ctr" anchorCtr="0">
            <a:noAutofit/>
          </a:bodyPr>
          <a:lstStyle/>
          <a:p>
            <a:pPr algn="ctr">
              <a:lnSpc>
                <a:spcPct val="120000"/>
              </a:lnSpc>
            </a:pPr>
            <a:r>
              <a:rPr lang="en-US" sz="2400" b="1" i="1">
                <a:solidFill>
                  <a:srgbClr val="AB7B07">
                    <a:alpha val="90980"/>
                    <a:alpha val="91000"/>
                  </a:srgbClr>
                </a:solidFill>
                <a:latin typeface="微软雅黑" panose="020B0503020204020204" charset="-122"/>
                <a:ea typeface="微软雅黑" panose="020B0503020204020204" charset="-122"/>
                <a:cs typeface="微软雅黑" panose="020B0503020204020204" charset="-122"/>
              </a:rPr>
              <a:t>MQTT协议结构</a:t>
            </a:r>
            <a:endParaRPr lang="en-US" sz="2400" b="1" i="1">
              <a:solidFill>
                <a:srgbClr val="AB7B07">
                  <a:alpha val="90980"/>
                  <a:alpha val="91000"/>
                </a:srgb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nvSpPr>
        <p:spPr>
          <a:xfrm>
            <a:off x="987477" y="2830253"/>
            <a:ext cx="2169781" cy="1864591"/>
          </a:xfrm>
          <a:prstGeom prst="rect">
            <a:avLst/>
          </a:prstGeom>
        </p:spPr>
        <p:txBody>
          <a:bodyPr vert="horz" wrap="square" lIns="66008" tIns="33052" rIns="66008" bIns="33052" rtlCol="0" anchor="t" anchorCtr="0">
            <a:noAutofit/>
          </a:bodyPr>
          <a:lstStyle/>
          <a:p>
            <a:pPr algn="ctr">
              <a:lnSpc>
                <a:spcPct val="140000"/>
              </a:lnSpc>
            </a:pPr>
            <a:r>
              <a:rPr lang="en-US" sz="1575" b="1">
                <a:solidFill>
                  <a:schemeClr val="dk1">
                    <a:alpha val="100000"/>
                  </a:schemeClr>
                </a:solidFill>
                <a:latin typeface="华文宋体" panose="02010600040101010101" charset="-122"/>
                <a:ea typeface="华文宋体" panose="02010600040101010101" charset="-122"/>
                <a:cs typeface="华文宋体" panose="02010600040101010101" charset="-122"/>
              </a:rPr>
              <a:t>MQTT协议是一种轻量级的消息传递协议，具有简单的消息传递结构和高效的传输能力。</a:t>
            </a:r>
            <a:endParaRPr lang="en-US" sz="1575" b="1">
              <a:solidFill>
                <a:schemeClr val="dk1">
                  <a:alpha val="100000"/>
                </a:schemeClr>
              </a:solidFill>
              <a:latin typeface="华文宋体" panose="02010600040101010101" charset="-122"/>
              <a:ea typeface="华文宋体" panose="02010600040101010101" charset="-122"/>
              <a:cs typeface="华文宋体" panose="02010600040101010101" charset="-122"/>
            </a:endParaRPr>
          </a:p>
        </p:txBody>
      </p:sp>
      <p:sp>
        <p:nvSpPr>
          <p:cNvPr id="12" name="矩形 11"/>
          <p:cNvSpPr/>
          <p:nvPr/>
        </p:nvSpPr>
        <p:spPr>
          <a:xfrm>
            <a:off x="7007860" y="4343400"/>
            <a:ext cx="4724400" cy="1542415"/>
          </a:xfrm>
          <a:prstGeom prst="rect">
            <a:avLst/>
          </a:prstGeom>
          <a:solidFill>
            <a:srgbClr val="FFC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4" name="组合 13"/>
          <p:cNvGrpSpPr/>
          <p:nvPr/>
        </p:nvGrpSpPr>
        <p:grpSpPr>
          <a:xfrm>
            <a:off x="6976110" y="1991995"/>
            <a:ext cx="4724400" cy="990600"/>
            <a:chOff x="11106" y="480"/>
            <a:chExt cx="7440" cy="1560"/>
          </a:xfrm>
        </p:grpSpPr>
        <p:sp>
          <p:nvSpPr>
            <p:cNvPr id="11" name="矩形 10"/>
            <p:cNvSpPr/>
            <p:nvPr/>
          </p:nvSpPr>
          <p:spPr>
            <a:xfrm>
              <a:off x="11106" y="480"/>
              <a:ext cx="7440" cy="1560"/>
            </a:xfrm>
            <a:prstGeom prst="rect">
              <a:avLst/>
            </a:prstGeom>
            <a:solidFill>
              <a:srgbClr val="00B0F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11400" y="887"/>
              <a:ext cx="6756" cy="728"/>
            </a:xfrm>
            <a:prstGeom prst="rect">
              <a:avLst/>
            </a:prstGeom>
            <a:noFill/>
          </p:spPr>
          <p:txBody>
            <a:bodyPr wrap="square" rtlCol="0">
              <a:noAutofit/>
            </a:bodyPr>
            <a:p>
              <a:pPr algn="ctr"/>
              <a:r>
                <a:rPr lang="en-US" altLang="zh-CN"/>
                <a:t>Fixed Header </a:t>
              </a:r>
              <a:r>
                <a:rPr lang="zh-CN" altLang="en-US"/>
                <a:t>（固定</a:t>
              </a:r>
              <a:r>
                <a:rPr lang="zh-CN" altLang="en-US"/>
                <a:t>报文头）</a:t>
              </a:r>
              <a:endParaRPr lang="zh-CN" altLang="en-US"/>
            </a:p>
          </p:txBody>
        </p:sp>
      </p:grpSp>
      <p:grpSp>
        <p:nvGrpSpPr>
          <p:cNvPr id="16" name="组合 15"/>
          <p:cNvGrpSpPr/>
          <p:nvPr/>
        </p:nvGrpSpPr>
        <p:grpSpPr>
          <a:xfrm>
            <a:off x="7007860" y="3167380"/>
            <a:ext cx="4724400" cy="990600"/>
            <a:chOff x="11036" y="9308"/>
            <a:chExt cx="7440" cy="1560"/>
          </a:xfrm>
        </p:grpSpPr>
        <p:sp>
          <p:nvSpPr>
            <p:cNvPr id="10" name="矩形 9"/>
            <p:cNvSpPr/>
            <p:nvPr/>
          </p:nvSpPr>
          <p:spPr>
            <a:xfrm>
              <a:off x="11036" y="9308"/>
              <a:ext cx="7440" cy="1560"/>
            </a:xfrm>
            <a:prstGeom prst="rect">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文本框 14"/>
            <p:cNvSpPr txBox="1"/>
            <p:nvPr/>
          </p:nvSpPr>
          <p:spPr>
            <a:xfrm>
              <a:off x="11410" y="9720"/>
              <a:ext cx="6756" cy="728"/>
            </a:xfrm>
            <a:prstGeom prst="rect">
              <a:avLst/>
            </a:prstGeom>
            <a:noFill/>
          </p:spPr>
          <p:txBody>
            <a:bodyPr wrap="square" rtlCol="0">
              <a:noAutofit/>
            </a:bodyPr>
            <a:p>
              <a:pPr algn="ctr"/>
              <a:r>
                <a:rPr lang="en-US" altLang="zh-CN"/>
                <a:t>Variable Header </a:t>
              </a:r>
              <a:r>
                <a:rPr lang="zh-CN" altLang="en-US"/>
                <a:t>（</a:t>
              </a:r>
              <a:r>
                <a:rPr lang="zh-CN" altLang="en-US"/>
                <a:t>可变报文头）</a:t>
              </a:r>
              <a:endParaRPr lang="zh-CN" altLang="en-US"/>
            </a:p>
          </p:txBody>
        </p:sp>
      </p:grpSp>
      <p:sp>
        <p:nvSpPr>
          <p:cNvPr id="17" name="文本框 16"/>
          <p:cNvSpPr txBox="1"/>
          <p:nvPr/>
        </p:nvSpPr>
        <p:spPr>
          <a:xfrm>
            <a:off x="7239000" y="4883150"/>
            <a:ext cx="4290060" cy="462280"/>
          </a:xfrm>
          <a:prstGeom prst="rect">
            <a:avLst/>
          </a:prstGeom>
          <a:noFill/>
        </p:spPr>
        <p:txBody>
          <a:bodyPr wrap="square" rtlCol="0">
            <a:noAutofit/>
          </a:bodyPr>
          <a:p>
            <a:pPr algn="ctr"/>
            <a:r>
              <a:rPr lang="en-US" altLang="zh-CN"/>
              <a:t>Payload </a:t>
            </a:r>
            <a:r>
              <a:rPr lang="zh-CN" altLang="en-US"/>
              <a:t>（报文</a:t>
            </a:r>
            <a:r>
              <a:rPr lang="zh-CN" altLang="en-US"/>
              <a:t>体）</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34060" y="1752600"/>
            <a:ext cx="2612390" cy="770255"/>
          </a:xfrm>
          <a:prstGeom prst="rect">
            <a:avLst/>
          </a:prstGeom>
          <a:noFill/>
        </p:spPr>
        <p:txBody>
          <a:bodyPr vert="horz" wrap="square" lIns="91440" tIns="45720" rIns="91440" bIns="45720" rtlCol="0" anchor="b" anchorCtr="0">
            <a:noAutofit/>
          </a:bodyPr>
          <a:lstStyle/>
          <a:p>
            <a:pPr algn="l">
              <a:spcBef>
                <a:spcPts val="270"/>
              </a:spcBef>
              <a:defRPr/>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1.OneNET云平台搭建</a:t>
            </a:r>
            <a:endParaRPr lang="zh-CN" alt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3" name="AutoShape 3"/>
          <p:cNvSpPr/>
          <p:nvPr/>
        </p:nvSpPr>
        <p:spPr>
          <a:xfrm>
            <a:off x="9006314" y="1752690"/>
            <a:ext cx="2356770" cy="495846"/>
          </a:xfrm>
          <a:prstGeom prst="rect">
            <a:avLst/>
          </a:prstGeom>
          <a:noFill/>
        </p:spPr>
        <p:txBody>
          <a:bodyPr vert="horz" wrap="square" lIns="91440" tIns="45720" rIns="91440" bIns="45720" rtlCol="0" anchor="b" anchorCtr="0">
            <a:noAutofit/>
          </a:bodyPr>
          <a:lstStyle/>
          <a:p>
            <a:pPr algn="l">
              <a:lnSpc>
                <a:spcPct val="120000"/>
              </a:lnSpc>
              <a:defRPr/>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2.物理设备配置</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 name="TextBox 4"/>
          <p:cNvSpPr txBox="1"/>
          <p:nvPr/>
        </p:nvSpPr>
        <p:spPr>
          <a:xfrm>
            <a:off x="838025" y="2514600"/>
            <a:ext cx="2503795" cy="1253916"/>
          </a:xfrm>
          <a:prstGeom prst="rect">
            <a:avLst/>
          </a:prstGeom>
        </p:spPr>
        <p:txBody>
          <a:bodyPr vert="horz" wrap="square" lIns="91440" tIns="45720" rIns="91440" bIns="45720" rtlCol="0" anchor="t" anchorCtr="0">
            <a:noAutofit/>
          </a:bodyPr>
          <a:lstStyle/>
          <a:p>
            <a:pPr algn="l">
              <a:lnSpc>
                <a:spcPct val="140000"/>
              </a:lnSpc>
              <a:spcBef>
                <a:spcPts val="375"/>
              </a:spcBef>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在OneNET云平台创建应用，搭建云平台环境</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 name="TextBox 5"/>
          <p:cNvSpPr txBox="1"/>
          <p:nvPr/>
        </p:nvSpPr>
        <p:spPr>
          <a:xfrm>
            <a:off x="9005679" y="2457422"/>
            <a:ext cx="2677031" cy="1198698"/>
          </a:xfrm>
          <a:prstGeom prst="rect">
            <a:avLst/>
          </a:prstGeom>
        </p:spPr>
        <p:txBody>
          <a:bodyPr vert="horz" wrap="square" lIns="91440" tIns="45720" rIns="91440" bIns="45720" rtlCol="0" anchor="t" anchorCtr="0">
            <a:noAutofit/>
          </a:bodyPr>
          <a:lstStyle/>
          <a:p>
            <a:pPr algn="l">
              <a:lnSpc>
                <a:spcPct val="140000"/>
              </a:lnSpc>
              <a:spcBef>
                <a:spcPts val="375"/>
              </a:spcBef>
            </a:pP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将</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传感器设备配置</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在</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OneNET</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云平台上。</a:t>
            </a:r>
            <a:endPar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TextBox 6"/>
          <p:cNvSpPr txBox="1"/>
          <p:nvPr/>
        </p:nvSpPr>
        <p:spPr>
          <a:xfrm>
            <a:off x="734060" y="-228600"/>
            <a:ext cx="1145794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（六）</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OneNET</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云平台实现应用</a:t>
            </a:r>
            <a:r>
              <a:rPr lang="en-US" altLang="zh-CN" sz="28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r>
              <a:rPr lang="en-US" altLang="zh-CN"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altLang="zh-CN"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7" name="AutoShape 7"/>
          <p:cNvSpPr/>
          <p:nvPr/>
        </p:nvSpPr>
        <p:spPr>
          <a:xfrm>
            <a:off x="734299" y="4442458"/>
            <a:ext cx="2612294" cy="478577"/>
          </a:xfrm>
          <a:prstGeom prst="rect">
            <a:avLst/>
          </a:prstGeom>
          <a:noFill/>
        </p:spPr>
        <p:txBody>
          <a:bodyPr vert="horz" wrap="square" lIns="91440" tIns="45720" rIns="91440" bIns="45720" rtlCol="0" anchor="b" anchorCtr="0">
            <a:noAutofit/>
          </a:bodyPr>
          <a:lstStyle/>
          <a:p>
            <a:pPr algn="l">
              <a:spcBef>
                <a:spcPts val="270"/>
              </a:spcBef>
              <a:defRPr/>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3.OneNET云平台提供API接口</a:t>
            </a:r>
            <a:endParaRPr lang="en-US" sz="1100"/>
          </a:p>
        </p:txBody>
      </p:sp>
      <p:sp>
        <p:nvSpPr>
          <p:cNvPr id="8" name="TextBox 8"/>
          <p:cNvSpPr txBox="1"/>
          <p:nvPr/>
        </p:nvSpPr>
        <p:spPr>
          <a:xfrm>
            <a:off x="656388" y="4964243"/>
            <a:ext cx="2901360" cy="1159999"/>
          </a:xfrm>
          <a:prstGeom prst="rect">
            <a:avLst/>
          </a:prstGeom>
        </p:spPr>
        <p:txBody>
          <a:bodyPr vert="horz" wrap="square" lIns="91440" tIns="45720" rIns="91440" bIns="45720" rtlCol="0" anchor="t" anchorCtr="0">
            <a:noAutofit/>
          </a:bodyPr>
          <a:lstStyle/>
          <a:p>
            <a:pPr algn="l">
              <a:lnSpc>
                <a:spcPct val="140000"/>
              </a:lnSpc>
              <a:spcBef>
                <a:spcPts val="375"/>
              </a:spcBef>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OneNET云平台提供设备接入、数据读取</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等</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API接口</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spcBef>
                <a:spcPts val="375"/>
              </a:spcBef>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便于开发者进行二次开发。</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AutoShape 9"/>
          <p:cNvSpPr/>
          <p:nvPr/>
        </p:nvSpPr>
        <p:spPr>
          <a:xfrm>
            <a:off x="9009026" y="4046401"/>
            <a:ext cx="2279348" cy="576460"/>
          </a:xfrm>
          <a:prstGeom prst="rect">
            <a:avLst/>
          </a:prstGeom>
          <a:noFill/>
        </p:spPr>
        <p:txBody>
          <a:bodyPr vert="horz" wrap="square" lIns="91440" tIns="45720" rIns="91440" bIns="45720" rtlCol="0" anchor="b" anchorCtr="0">
            <a:noAutofit/>
          </a:bodyPr>
          <a:lstStyle/>
          <a:p>
            <a:pPr algn="l">
              <a:lnSpc>
                <a:spcPct val="120000"/>
              </a:lnSpc>
              <a:defRPr/>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4.下发命令</a:t>
            </a:r>
            <a:endParaRPr lang="en-US" sz="1100"/>
          </a:p>
        </p:txBody>
      </p:sp>
      <p:sp>
        <p:nvSpPr>
          <p:cNvPr id="10" name="TextBox 10"/>
          <p:cNvSpPr txBox="1"/>
          <p:nvPr/>
        </p:nvSpPr>
        <p:spPr>
          <a:xfrm>
            <a:off x="9013190" y="4587240"/>
            <a:ext cx="2694305" cy="1536700"/>
          </a:xfrm>
          <a:prstGeom prst="rect">
            <a:avLst/>
          </a:prstGeom>
        </p:spPr>
        <p:txBody>
          <a:bodyPr vert="horz" wrap="square" lIns="91440" tIns="45720" rIns="91440" bIns="45720" rtlCol="0" anchor="t" anchorCtr="0">
            <a:noAutofit/>
          </a:bodyPr>
          <a:lstStyle/>
          <a:p>
            <a:pPr algn="l">
              <a:lnSpc>
                <a:spcPct val="140000"/>
              </a:lnSpc>
              <a:spcBef>
                <a:spcPts val="375"/>
              </a:spcBef>
            </a:pP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在</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OneNET云平台</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上，</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向设备下发控制命令</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gn="l">
              <a:lnSpc>
                <a:spcPct val="140000"/>
              </a:lnSpc>
              <a:spcBef>
                <a:spcPts val="375"/>
              </a:spcBef>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如启动报警，实现远程管理。</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pic>
        <p:nvPicPr>
          <p:cNvPr id="11" name="Picture 11"/>
          <p:cNvPicPr>
            <a:picLocks noChangeAspect="1"/>
          </p:cNvPicPr>
          <p:nvPr/>
        </p:nvPicPr>
        <p:blipFill>
          <a:blip r:embed="rId2"/>
          <a:srcRect/>
          <a:stretch>
            <a:fillRect/>
          </a:stretch>
        </p:blipFill>
        <p:spPr>
          <a:xfrm>
            <a:off x="3861374" y="1402009"/>
            <a:ext cx="4762679" cy="2383216"/>
          </a:xfrm>
          <a:prstGeom prst="roundRect">
            <a:avLst/>
          </a:prstGeom>
          <a:effectLst>
            <a:outerShdw blurRad="95250" dist="95250" dir="2700000">
              <a:schemeClr val="accent1">
                <a:alpha val="60000"/>
              </a:schemeClr>
            </a:outerShdw>
          </a:effectLst>
        </p:spPr>
      </p:pic>
      <p:pic>
        <p:nvPicPr>
          <p:cNvPr id="12" name="Picture 12"/>
          <p:cNvPicPr>
            <a:picLocks noChangeAspect="1"/>
          </p:cNvPicPr>
          <p:nvPr/>
        </p:nvPicPr>
        <p:blipFill>
          <a:blip r:embed="rId3"/>
          <a:srcRect/>
          <a:stretch>
            <a:fillRect/>
          </a:stretch>
        </p:blipFill>
        <p:spPr>
          <a:xfrm>
            <a:off x="3916592" y="4046401"/>
            <a:ext cx="4762679" cy="2340058"/>
          </a:xfrm>
          <a:prstGeom prst="roundRect">
            <a:avLst/>
          </a:prstGeom>
          <a:effectLst>
            <a:outerShdw blurRad="95250" dist="95250" dir="2700000">
              <a:schemeClr val="accent1">
                <a:alpha val="60000"/>
              </a:scheme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00000"/>
          </a:blip>
          <a:srcRect/>
          <a:stretch>
            <a:fillRect/>
          </a:stretch>
        </p:blipFill>
        <p:spPr>
          <a:xfrm>
            <a:off x="425795" y="2384018"/>
            <a:ext cx="3415971" cy="3415971"/>
          </a:xfrm>
          <a:prstGeom prst="rect">
            <a:avLst/>
          </a:prstGeom>
        </p:spPr>
      </p:pic>
      <p:sp>
        <p:nvSpPr>
          <p:cNvPr id="3" name="TextBox 3"/>
          <p:cNvSpPr txBox="1"/>
          <p:nvPr/>
        </p:nvSpPr>
        <p:spPr>
          <a:xfrm>
            <a:off x="476250" y="-101600"/>
            <a:ext cx="11716385" cy="2573020"/>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（七）</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后端开发技术</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AutoShape 4"/>
          <p:cNvSpPr/>
          <p:nvPr>
            <p:custDataLst>
              <p:tags r:id="rId3"/>
            </p:custDataLst>
          </p:nvPr>
        </p:nvSpPr>
        <p:spPr>
          <a:xfrm>
            <a:off x="4113475" y="1643082"/>
            <a:ext cx="3657600" cy="2219857"/>
          </a:xfrm>
          <a:prstGeom prst="roundRect">
            <a:avLst>
              <a:gd name="adj" fmla="val 16667"/>
            </a:avLst>
          </a:prstGeom>
          <a:solidFill>
            <a:schemeClr val="lt2">
              <a:alpha val="100000"/>
            </a:schemeClr>
          </a:solidFill>
          <a:ln w="19050">
            <a:solidFill>
              <a:schemeClr val="accent6">
                <a:alpha val="100000"/>
                <a:lumMod val="60000"/>
                <a:lumMod val="40000"/>
              </a:schemeClr>
            </a:solidFill>
            <a:prstDash val="solid"/>
          </a:ln>
        </p:spPr>
      </p:sp>
      <p:sp>
        <p:nvSpPr>
          <p:cNvPr id="5" name="TextBox 5"/>
          <p:cNvSpPr txBox="1"/>
          <p:nvPr>
            <p:custDataLst>
              <p:tags r:id="rId4"/>
            </p:custDataLst>
          </p:nvPr>
        </p:nvSpPr>
        <p:spPr>
          <a:xfrm>
            <a:off x="4312581" y="1893684"/>
            <a:ext cx="3251104" cy="490334"/>
          </a:xfrm>
          <a:prstGeom prst="rect">
            <a:avLst/>
          </a:prstGeom>
        </p:spPr>
        <p:txBody>
          <a:bodyPr vert="horz" wrap="square" lIns="66008" tIns="33052" rIns="66008" bIns="33052" rtlCol="0" anchor="ctr" anchorCtr="0">
            <a:no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框架选择</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custDataLst>
              <p:tags r:id="rId5"/>
            </p:custDataLst>
          </p:nvPr>
        </p:nvSpPr>
        <p:spPr>
          <a:xfrm>
            <a:off x="4312581" y="2463837"/>
            <a:ext cx="3251104" cy="1055857"/>
          </a:xfrm>
          <a:prstGeom prst="rect">
            <a:avLst/>
          </a:prstGeom>
        </p:spPr>
        <p:txBody>
          <a:bodyPr vert="horz" wrap="square" lIns="66008" tIns="33052" rIns="66008" bIns="33052" rtlCol="0" anchor="t" anchorCtr="0">
            <a:no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基于SpringBoot框架，利用其简单易用的特性，快速构建稳定可靠的后端系统。</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AutoShape 7"/>
          <p:cNvSpPr/>
          <p:nvPr>
            <p:custDataLst>
              <p:tags r:id="rId6"/>
            </p:custDataLst>
          </p:nvPr>
        </p:nvSpPr>
        <p:spPr>
          <a:xfrm>
            <a:off x="8070842" y="1650556"/>
            <a:ext cx="3657600" cy="2219857"/>
          </a:xfrm>
          <a:prstGeom prst="roundRect">
            <a:avLst>
              <a:gd name="adj" fmla="val 16667"/>
            </a:avLst>
          </a:prstGeom>
          <a:solidFill>
            <a:schemeClr val="lt2">
              <a:alpha val="100000"/>
            </a:schemeClr>
          </a:solidFill>
          <a:ln w="19050">
            <a:solidFill>
              <a:schemeClr val="accent6">
                <a:alpha val="100000"/>
                <a:lumMod val="60000"/>
                <a:lumMod val="40000"/>
              </a:schemeClr>
            </a:solidFill>
            <a:prstDash val="solid"/>
          </a:ln>
        </p:spPr>
      </p:sp>
      <p:sp>
        <p:nvSpPr>
          <p:cNvPr id="8" name="TextBox 8"/>
          <p:cNvSpPr txBox="1"/>
          <p:nvPr>
            <p:custDataLst>
              <p:tags r:id="rId7"/>
            </p:custDataLst>
          </p:nvPr>
        </p:nvSpPr>
        <p:spPr>
          <a:xfrm>
            <a:off x="8269948" y="1901159"/>
            <a:ext cx="3251104" cy="490334"/>
          </a:xfrm>
          <a:prstGeom prst="rect">
            <a:avLst/>
          </a:prstGeom>
        </p:spPr>
        <p:txBody>
          <a:bodyPr vert="horz" wrap="square" lIns="66008" tIns="33052" rIns="66008" bIns="33052" rtlCol="0" anchor="ctr" anchorCtr="0">
            <a:no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消息传递</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custDataLst>
              <p:tags r:id="rId8"/>
            </p:custDataLst>
          </p:nvPr>
        </p:nvSpPr>
        <p:spPr>
          <a:xfrm>
            <a:off x="8269948" y="2471312"/>
            <a:ext cx="3251104" cy="1055857"/>
          </a:xfrm>
          <a:prstGeom prst="rect">
            <a:avLst/>
          </a:prstGeom>
        </p:spPr>
        <p:txBody>
          <a:bodyPr vert="horz" wrap="square" lIns="66008" tIns="33052" rIns="66008" bIns="33052" rtlCol="0" anchor="t" anchorCtr="0">
            <a:no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通过连接OneNET云平台提供的API接口，实现系统组件间通信与同步，确保数据流转高效。</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0" name="AutoShape 10"/>
          <p:cNvSpPr/>
          <p:nvPr>
            <p:custDataLst>
              <p:tags r:id="rId9"/>
            </p:custDataLst>
          </p:nvPr>
        </p:nvSpPr>
        <p:spPr>
          <a:xfrm>
            <a:off x="4120950" y="4294709"/>
            <a:ext cx="3657600" cy="2219857"/>
          </a:xfrm>
          <a:prstGeom prst="roundRect">
            <a:avLst>
              <a:gd name="adj" fmla="val 16667"/>
            </a:avLst>
          </a:prstGeom>
          <a:solidFill>
            <a:schemeClr val="lt2">
              <a:alpha val="100000"/>
            </a:schemeClr>
          </a:solidFill>
          <a:ln w="19050">
            <a:solidFill>
              <a:schemeClr val="accent6">
                <a:alpha val="100000"/>
                <a:lumMod val="60000"/>
                <a:lumMod val="40000"/>
              </a:schemeClr>
            </a:solidFill>
            <a:prstDash val="solid"/>
          </a:ln>
        </p:spPr>
      </p:sp>
      <p:sp>
        <p:nvSpPr>
          <p:cNvPr id="11" name="TextBox 11"/>
          <p:cNvSpPr txBox="1"/>
          <p:nvPr>
            <p:custDataLst>
              <p:tags r:id="rId10"/>
            </p:custDataLst>
          </p:nvPr>
        </p:nvSpPr>
        <p:spPr>
          <a:xfrm>
            <a:off x="4320056" y="4545312"/>
            <a:ext cx="3251104" cy="490334"/>
          </a:xfrm>
          <a:prstGeom prst="rect">
            <a:avLst/>
          </a:prstGeom>
        </p:spPr>
        <p:txBody>
          <a:bodyPr vert="horz" wrap="square" lIns="66008" tIns="33052" rIns="66008" bIns="33052" rtlCol="0" anchor="ctr" anchorCtr="0">
            <a:no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任务调度</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custDataLst>
              <p:tags r:id="rId11"/>
            </p:custDataLst>
          </p:nvPr>
        </p:nvSpPr>
        <p:spPr>
          <a:xfrm>
            <a:off x="4320056" y="5115465"/>
            <a:ext cx="3251104" cy="1055857"/>
          </a:xfrm>
          <a:prstGeom prst="rect">
            <a:avLst/>
          </a:prstGeom>
        </p:spPr>
        <p:txBody>
          <a:bodyPr vert="horz" wrap="square" lIns="66008" tIns="33052" rIns="66008" bIns="33052" rtlCol="0" anchor="t" anchorCtr="0">
            <a:noAutofit/>
          </a:bodyPr>
          <a:lstStyle/>
          <a:p>
            <a:pPr algn="l">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使用@Scheduled注解配置，实现定时任务管理，如</a:t>
            </a:r>
            <a:r>
              <a:rPr lang="en-US" sz="1500">
                <a:solidFill>
                  <a:schemeClr val="accent1">
                    <a:alpha val="100000"/>
                  </a:schemeClr>
                </a:solidFill>
                <a:latin typeface="微软雅黑" panose="020B0503020204020204" charset="-122"/>
                <a:ea typeface="微软雅黑" panose="020B0503020204020204" charset="-122"/>
                <a:cs typeface="微软雅黑" panose="020B0503020204020204" charset="-122"/>
              </a:rPr>
              <a:t>定期数据采集</a:t>
            </a:r>
            <a:r>
              <a:rPr lang="zh-CN" altLang="en-US" sz="1500">
                <a:solidFill>
                  <a:schemeClr val="accent1">
                    <a:alpha val="100000"/>
                  </a:schemeClr>
                </a:solidFill>
                <a:latin typeface="微软雅黑" panose="020B0503020204020204" charset="-122"/>
                <a:ea typeface="微软雅黑" panose="020B0503020204020204" charset="-122"/>
                <a:cs typeface="微软雅黑" panose="020B0503020204020204" charset="-122"/>
              </a:rPr>
              <a:t>（</a:t>
            </a:r>
            <a:r>
              <a:rPr lang="en-US" altLang="zh-CN" sz="1500">
                <a:solidFill>
                  <a:schemeClr val="accent1">
                    <a:alpha val="100000"/>
                  </a:schemeClr>
                </a:solidFill>
                <a:latin typeface="微软雅黑" panose="020B0503020204020204" charset="-122"/>
                <a:ea typeface="微软雅黑" panose="020B0503020204020204" charset="-122"/>
                <a:cs typeface="微软雅黑" panose="020B0503020204020204" charset="-122"/>
              </a:rPr>
              <a:t>10s</a:t>
            </a:r>
            <a:r>
              <a:rPr lang="zh-CN" altLang="en-US" sz="1500">
                <a:solidFill>
                  <a:schemeClr val="accent1">
                    <a:alpha val="100000"/>
                  </a:schemeClr>
                </a:solidFill>
                <a:latin typeface="微软雅黑" panose="020B0503020204020204" charset="-122"/>
                <a:ea typeface="微软雅黑" panose="020B0503020204020204" charset="-122"/>
                <a:cs typeface="微软雅黑" panose="020B0503020204020204" charset="-122"/>
              </a:rPr>
              <a:t>）</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等。</a:t>
            </a:r>
            <a:endPar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 name="AutoShape 13"/>
          <p:cNvSpPr/>
          <p:nvPr>
            <p:custDataLst>
              <p:tags r:id="rId12"/>
            </p:custDataLst>
          </p:nvPr>
        </p:nvSpPr>
        <p:spPr>
          <a:xfrm>
            <a:off x="8078316" y="4302184"/>
            <a:ext cx="3657600" cy="2219857"/>
          </a:xfrm>
          <a:prstGeom prst="roundRect">
            <a:avLst>
              <a:gd name="adj" fmla="val 16667"/>
            </a:avLst>
          </a:prstGeom>
          <a:solidFill>
            <a:schemeClr val="lt2">
              <a:alpha val="100000"/>
            </a:schemeClr>
          </a:solidFill>
          <a:ln w="19050">
            <a:solidFill>
              <a:schemeClr val="accent6">
                <a:alpha val="100000"/>
                <a:lumMod val="60000"/>
                <a:lumMod val="40000"/>
              </a:schemeClr>
            </a:solidFill>
            <a:prstDash val="solid"/>
          </a:ln>
        </p:spPr>
      </p:sp>
      <p:sp>
        <p:nvSpPr>
          <p:cNvPr id="14" name="TextBox 14"/>
          <p:cNvSpPr txBox="1"/>
          <p:nvPr>
            <p:custDataLst>
              <p:tags r:id="rId13"/>
            </p:custDataLst>
          </p:nvPr>
        </p:nvSpPr>
        <p:spPr>
          <a:xfrm>
            <a:off x="8277423" y="4552787"/>
            <a:ext cx="3251104" cy="490334"/>
          </a:xfrm>
          <a:prstGeom prst="rect">
            <a:avLst/>
          </a:prstGeom>
        </p:spPr>
        <p:txBody>
          <a:bodyPr vert="horz" wrap="square" lIns="66008" tIns="33052" rIns="66008" bIns="33052" rtlCol="0" anchor="ctr" anchorCtr="0">
            <a:no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安全控制</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custDataLst>
              <p:tags r:id="rId14"/>
            </p:custDataLst>
          </p:nvPr>
        </p:nvSpPr>
        <p:spPr>
          <a:xfrm>
            <a:off x="8277423" y="5122940"/>
            <a:ext cx="3251104" cy="1055857"/>
          </a:xfrm>
          <a:prstGeom prst="rect">
            <a:avLst/>
          </a:prstGeom>
        </p:spPr>
        <p:txBody>
          <a:bodyPr vert="horz" wrap="square" lIns="66008" tIns="33052" rIns="66008" bIns="33052" rtlCol="0" anchor="t" anchorCtr="0">
            <a:no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采用Spring Security框架，实现用户认证与授权，保障系统访问安全。</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4070039" y="1545914"/>
            <a:ext cx="3861422" cy="3861422"/>
          </a:xfrm>
          <a:prstGeom prst="diamond">
            <a:avLst/>
          </a:prstGeom>
        </p:spPr>
      </p:pic>
      <p:sp>
        <p:nvSpPr>
          <p:cNvPr id="3" name="TextBox 3"/>
          <p:cNvSpPr txBox="1"/>
          <p:nvPr/>
        </p:nvSpPr>
        <p:spPr>
          <a:xfrm>
            <a:off x="457200" y="-76200"/>
            <a:ext cx="11716385" cy="2573020"/>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（八）</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数据库设计</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TextBox 4"/>
          <p:cNvSpPr txBox="1"/>
          <p:nvPr/>
        </p:nvSpPr>
        <p:spPr>
          <a:xfrm>
            <a:off x="156774" y="2323339"/>
            <a:ext cx="4248181" cy="897479"/>
          </a:xfrm>
          <a:prstGeom prst="rect">
            <a:avLst/>
          </a:prstGeom>
        </p:spPr>
        <p:txBody>
          <a:bodyPr vert="horz" wrap="square" lIns="114300" tIns="57150" rIns="114300" bIns="57150" rtlCol="0" anchor="t" anchorCtr="0">
            <a:normAutofit/>
          </a:bodyPr>
          <a:lstStyle/>
          <a:p>
            <a:pPr algn="l">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采用关系型数据库，如MySQL，设计合理的表结构，存储监测数据、设备信息、用户资料等。</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nvSpPr>
        <p:spPr>
          <a:xfrm>
            <a:off x="216800" y="1629875"/>
            <a:ext cx="3905833" cy="502799"/>
          </a:xfrm>
          <a:prstGeom prst="rect">
            <a:avLst/>
          </a:prstGeom>
        </p:spPr>
        <p:txBody>
          <a:bodyPr vert="horz" wrap="square" lIns="114300" tIns="57150" rIns="114300" bIns="57150" rtlCol="0" anchor="ctr" anchorCtr="0">
            <a:noAutofit/>
          </a:bodyPr>
          <a:lstStyle/>
          <a:p>
            <a:pPr algn="r">
              <a:lnSpc>
                <a:spcPct val="120000"/>
              </a:lnSpc>
            </a:pPr>
            <a:r>
              <a:rPr lang="en-US" sz="2100" b="1">
                <a:solidFill>
                  <a:schemeClr val="accent1">
                    <a:alpha val="100000"/>
                  </a:schemeClr>
                </a:solidFill>
                <a:latin typeface="微软雅黑" panose="020B0503020204020204" charset="-122"/>
                <a:ea typeface="微软雅黑" panose="020B0503020204020204" charset="-122"/>
                <a:cs typeface="微软雅黑" panose="020B0503020204020204" charset="-122"/>
              </a:rPr>
              <a:t>数据存储</a:t>
            </a:r>
            <a:endParaRPr lang="en-US" sz="21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nvSpPr>
        <p:spPr>
          <a:xfrm>
            <a:off x="8027972" y="2207383"/>
            <a:ext cx="3905833" cy="1129392"/>
          </a:xfrm>
          <a:prstGeom prst="rect">
            <a:avLst/>
          </a:prstGeom>
        </p:spPr>
        <p:txBody>
          <a:bodyPr vert="horz" wrap="square" lIns="114300" tIns="57150" rIns="114300" bIns="57150" rtlCol="0" anchor="t" anchorCtr="0">
            <a:norm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为了优化查询效率，对关键字段如时间戳、设备ID等建立索引，确保数据能够快速检索和查询。</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8" name="TextBox 8"/>
          <p:cNvSpPr txBox="1"/>
          <p:nvPr/>
        </p:nvSpPr>
        <p:spPr>
          <a:xfrm>
            <a:off x="7988535" y="1629875"/>
            <a:ext cx="3905833" cy="502799"/>
          </a:xfrm>
          <a:prstGeom prst="rect">
            <a:avLst/>
          </a:prstGeom>
        </p:spPr>
        <p:txBody>
          <a:bodyPr vert="horz" wrap="square" lIns="114300" tIns="57150" rIns="114300" bIns="57150" rtlCol="0" anchor="ctr" anchorCtr="0">
            <a:noAutofit/>
          </a:bodyPr>
          <a:lstStyle/>
          <a:p>
            <a:pPr algn="l">
              <a:lnSpc>
                <a:spcPct val="120000"/>
              </a:lnSpc>
            </a:pPr>
            <a:r>
              <a:rPr lang="en-US" sz="2100" b="1">
                <a:solidFill>
                  <a:schemeClr val="accent1">
                    <a:alpha val="100000"/>
                  </a:schemeClr>
                </a:solidFill>
                <a:latin typeface="微软雅黑" panose="020B0503020204020204" charset="-122"/>
                <a:ea typeface="微软雅黑" panose="020B0503020204020204" charset="-122"/>
                <a:cs typeface="微软雅黑" panose="020B0503020204020204" charset="-122"/>
              </a:rPr>
              <a:t>数据索引</a:t>
            </a:r>
            <a:endParaRPr lang="en-US" sz="21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nvSpPr>
        <p:spPr>
          <a:xfrm>
            <a:off x="5228998" y="5455771"/>
            <a:ext cx="3905833" cy="1143173"/>
          </a:xfrm>
          <a:prstGeom prst="rect">
            <a:avLst/>
          </a:prstGeom>
        </p:spPr>
        <p:txBody>
          <a:bodyPr vert="horz" wrap="square" lIns="114300" tIns="57150" rIns="114300" bIns="57150" rtlCol="0" anchor="t" anchorCtr="0">
            <a:normAutofit/>
          </a:bodyPr>
          <a:lstStyle/>
          <a:p>
            <a:pPr algn="l">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对敏感信息如用户密码、个人隐私等实施加密存储，确保数据安全，保护用户隐私</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 name="TextBox 10"/>
          <p:cNvSpPr txBox="1"/>
          <p:nvPr/>
        </p:nvSpPr>
        <p:spPr>
          <a:xfrm>
            <a:off x="2971541" y="4952973"/>
            <a:ext cx="3905833" cy="502799"/>
          </a:xfrm>
          <a:prstGeom prst="rect">
            <a:avLst/>
          </a:prstGeom>
        </p:spPr>
        <p:txBody>
          <a:bodyPr vert="horz" wrap="square" lIns="114300" tIns="57150" rIns="114300" bIns="57150" rtlCol="0" anchor="ctr" anchorCtr="0">
            <a:noAutofit/>
          </a:bodyPr>
          <a:lstStyle/>
          <a:p>
            <a:pPr algn="r">
              <a:lnSpc>
                <a:spcPct val="120000"/>
              </a:lnSpc>
            </a:pPr>
            <a:r>
              <a:rPr lang="en-US" sz="2100" b="1">
                <a:solidFill>
                  <a:schemeClr val="accent1">
                    <a:alpha val="100000"/>
                  </a:schemeClr>
                </a:solidFill>
                <a:latin typeface="微软雅黑" panose="020B0503020204020204" charset="-122"/>
                <a:ea typeface="微软雅黑" panose="020B0503020204020204" charset="-122"/>
                <a:cs typeface="微软雅黑" panose="020B0503020204020204" charset="-122"/>
                <a:sym typeface="+mn-ea"/>
              </a:rPr>
              <a:t>数据加密</a:t>
            </a:r>
            <a:endParaRPr lang="en-US" sz="21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1" name="AutoShape 11"/>
          <p:cNvSpPr/>
          <p:nvPr/>
        </p:nvSpPr>
        <p:spPr>
          <a:xfrm>
            <a:off x="4364358" y="1629875"/>
            <a:ext cx="682752" cy="682752"/>
          </a:xfrm>
          <a:prstGeom prst="ellipse">
            <a:avLst/>
          </a:prstGeom>
          <a:noFill/>
          <a:ln w="19050">
            <a:solidFill>
              <a:schemeClr val="accent1">
                <a:alpha val="100000"/>
              </a:schemeClr>
            </a:solidFill>
            <a:prstDash val="solid"/>
          </a:ln>
        </p:spPr>
      </p:sp>
      <p:sp>
        <p:nvSpPr>
          <p:cNvPr id="12" name="TextBox 12"/>
          <p:cNvSpPr txBox="1"/>
          <p:nvPr/>
        </p:nvSpPr>
        <p:spPr>
          <a:xfrm>
            <a:off x="4170154" y="1730269"/>
            <a:ext cx="1059180" cy="481965"/>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01</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 name="AutoShape 13"/>
          <p:cNvSpPr/>
          <p:nvPr/>
        </p:nvSpPr>
        <p:spPr>
          <a:xfrm>
            <a:off x="7178908" y="1629875"/>
            <a:ext cx="682752" cy="682752"/>
          </a:xfrm>
          <a:prstGeom prst="ellipse">
            <a:avLst/>
          </a:prstGeom>
          <a:noFill/>
          <a:ln w="19050">
            <a:solidFill>
              <a:schemeClr val="accent1">
                <a:alpha val="100000"/>
              </a:schemeClr>
            </a:solidFill>
            <a:prstDash val="solid"/>
          </a:ln>
        </p:spPr>
      </p:sp>
      <p:sp>
        <p:nvSpPr>
          <p:cNvPr id="14" name="TextBox 14"/>
          <p:cNvSpPr txBox="1"/>
          <p:nvPr/>
        </p:nvSpPr>
        <p:spPr>
          <a:xfrm>
            <a:off x="6984704" y="1730269"/>
            <a:ext cx="1059180" cy="481965"/>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02</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7" name="AutoShape 17"/>
          <p:cNvSpPr/>
          <p:nvPr/>
        </p:nvSpPr>
        <p:spPr>
          <a:xfrm>
            <a:off x="4324921" y="4678046"/>
            <a:ext cx="682752" cy="682752"/>
          </a:xfrm>
          <a:prstGeom prst="ellipse">
            <a:avLst/>
          </a:prstGeom>
          <a:noFill/>
          <a:ln w="19050">
            <a:solidFill>
              <a:schemeClr val="accent1">
                <a:alpha val="100000"/>
              </a:schemeClr>
            </a:solidFill>
            <a:prstDash val="solid"/>
          </a:ln>
        </p:spPr>
      </p:sp>
      <p:sp>
        <p:nvSpPr>
          <p:cNvPr id="18" name="TextBox 18"/>
          <p:cNvSpPr txBox="1"/>
          <p:nvPr/>
        </p:nvSpPr>
        <p:spPr>
          <a:xfrm>
            <a:off x="4130717" y="4778440"/>
            <a:ext cx="1059180" cy="481965"/>
          </a:xfrm>
          <a:prstGeom prst="rect">
            <a:avLst/>
          </a:prstGeom>
        </p:spPr>
        <p:txBody>
          <a:bodyPr vert="horz" wrap="square" lIns="91440" tIns="45720" rIns="91440" bIns="45720" rtlCol="0" anchor="ctr" anchorCtr="0">
            <a:spAutoFit/>
          </a:bodyPr>
          <a:lstStyle/>
          <a:p>
            <a:pPr algn="ctr">
              <a:lnSpc>
                <a:spcPct val="100000"/>
              </a:lnSpc>
              <a:spcBef>
                <a:spcPts val="375"/>
              </a:spcBef>
            </a:pPr>
            <a:r>
              <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rPr>
              <a:t>03</a:t>
            </a:r>
            <a:endParaRPr lang="en-US" sz="240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AutoShape 2"/>
          <p:cNvSpPr/>
          <p:nvPr>
            <p:custDataLst>
              <p:tags r:id="rId2"/>
            </p:custDataLst>
          </p:nvPr>
        </p:nvSpPr>
        <p:spPr>
          <a:xfrm>
            <a:off x="751642" y="4006380"/>
            <a:ext cx="6621099" cy="1827334"/>
          </a:xfrm>
          <a:prstGeom prst="roundRect">
            <a:avLst>
              <a:gd name="adj" fmla="val 16667"/>
            </a:avLst>
          </a:prstGeom>
          <a:solidFill>
            <a:schemeClr val="lt2">
              <a:alpha val="80000"/>
            </a:schemeClr>
          </a:solidFill>
          <a:ln w="19050">
            <a:solidFill>
              <a:schemeClr val="accent1">
                <a:alpha val="80000"/>
                <a:lumMod val="60000"/>
                <a:lumMod val="40000"/>
              </a:schemeClr>
            </a:solidFill>
            <a:prstDash val="solid"/>
          </a:ln>
        </p:spPr>
      </p:sp>
      <p:sp>
        <p:nvSpPr>
          <p:cNvPr id="3" name="AutoShape 3"/>
          <p:cNvSpPr/>
          <p:nvPr>
            <p:custDataLst>
              <p:tags r:id="rId3"/>
            </p:custDataLst>
          </p:nvPr>
        </p:nvSpPr>
        <p:spPr>
          <a:xfrm>
            <a:off x="751642" y="1920540"/>
            <a:ext cx="6621099" cy="1827334"/>
          </a:xfrm>
          <a:prstGeom prst="roundRect">
            <a:avLst>
              <a:gd name="adj" fmla="val 16667"/>
            </a:avLst>
          </a:prstGeom>
          <a:solidFill>
            <a:schemeClr val="lt2">
              <a:alpha val="80000"/>
            </a:schemeClr>
          </a:solidFill>
          <a:ln w="19050">
            <a:solidFill>
              <a:schemeClr val="accent1">
                <a:alpha val="80000"/>
                <a:lumMod val="60000"/>
                <a:lumMod val="40000"/>
              </a:schemeClr>
            </a:solidFill>
            <a:prstDash val="solid"/>
          </a:ln>
        </p:spPr>
      </p:sp>
      <p:sp>
        <p:nvSpPr>
          <p:cNvPr id="5" name="TextBox 5"/>
          <p:cNvSpPr txBox="1"/>
          <p:nvPr>
            <p:custDataLst>
              <p:tags r:id="rId4"/>
            </p:custDataLst>
          </p:nvPr>
        </p:nvSpPr>
        <p:spPr>
          <a:xfrm>
            <a:off x="1030579" y="2089154"/>
            <a:ext cx="6238875" cy="637972"/>
          </a:xfrm>
          <a:prstGeom prst="rect">
            <a:avLst/>
          </a:prstGeom>
        </p:spPr>
        <p:txBody>
          <a:bodyPr vert="horz" wrap="square" lIns="123825" tIns="123825" rIns="57150" bIns="123825" rtlCol="0" anchor="ctr" anchorCtr="0">
            <a:noAutofit/>
          </a:bodyPr>
          <a:lstStyle/>
          <a:p>
            <a:pPr>
              <a:lnSpc>
                <a:spcPct val="12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web前端</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custDataLst>
              <p:tags r:id="rId5"/>
            </p:custDataLst>
          </p:nvPr>
        </p:nvSpPr>
        <p:spPr>
          <a:xfrm>
            <a:off x="1030579" y="2610429"/>
            <a:ext cx="6238875" cy="950067"/>
          </a:xfrm>
          <a:prstGeom prst="rect">
            <a:avLst/>
          </a:prstGeom>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采用Vue.js、CSS、JavaScript等前沿技术，构建响应式用户界面，确保在不同设备上呈现良好体验。</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custDataLst>
              <p:tags r:id="rId6"/>
            </p:custDataLst>
          </p:nvPr>
        </p:nvSpPr>
        <p:spPr>
          <a:xfrm>
            <a:off x="1030579" y="4183053"/>
            <a:ext cx="6238875" cy="637972"/>
          </a:xfrm>
          <a:prstGeom prst="rect">
            <a:avLst/>
          </a:prstGeom>
        </p:spPr>
        <p:txBody>
          <a:bodyPr vert="horz" wrap="square" lIns="123825" tIns="123825" rIns="57150" bIns="123825" rtlCol="0" anchor="ctr" anchorCtr="0">
            <a:noAutofit/>
          </a:bodyPr>
          <a:lstStyle/>
          <a:p>
            <a:pPr>
              <a:lnSpc>
                <a:spcPct val="12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微信小程序</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8" name="TextBox 8"/>
          <p:cNvSpPr txBox="1"/>
          <p:nvPr>
            <p:custDataLst>
              <p:tags r:id="rId7"/>
            </p:custDataLst>
          </p:nvPr>
        </p:nvSpPr>
        <p:spPr>
          <a:xfrm>
            <a:off x="1030579" y="4712439"/>
            <a:ext cx="6238875" cy="936429"/>
          </a:xfrm>
          <a:prstGeom prst="rect">
            <a:avLst/>
          </a:prstGeom>
        </p:spPr>
        <p:txBody>
          <a:bodyPr vert="horz" wrap="square" lIns="123825" tIns="123825" rIns="57150" bIns="123825"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利用微信小程序框架，开发轻量级、高性能的小程序，为用户提供便捷的操作与丰富的功能。</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nvSpPr>
        <p:spPr>
          <a:xfrm>
            <a:off x="838002" y="-76329"/>
            <a:ext cx="1123950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二、系统实现</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（九）</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前端开发技术</a:t>
            </a:r>
            <a:r>
              <a:rPr lang="en-US" sz="28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0" name="图片 9"/>
          <p:cNvPicPr>
            <a:picLocks noChangeAspect="1"/>
          </p:cNvPicPr>
          <p:nvPr/>
        </p:nvPicPr>
        <p:blipFill>
          <a:blip r:embed="rId8"/>
          <a:stretch>
            <a:fillRect/>
          </a:stretch>
        </p:blipFill>
        <p:spPr>
          <a:xfrm>
            <a:off x="8305800" y="152400"/>
            <a:ext cx="2969260" cy="64681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1358791" y="1937608"/>
            <a:ext cx="10484808" cy="1798058"/>
          </a:xfrm>
          <a:prstGeom prst="rect">
            <a:avLst/>
          </a:prstGeom>
          <a:noFill/>
        </p:spPr>
        <p:txBody>
          <a:bodyPr vert="horz" wrap="square" lIns="114300" tIns="57150" rIns="114300" bIns="57150" rtlCol="0" anchor="t" anchorCtr="0">
            <a:normAutofit/>
          </a:bodyPr>
          <a:lstStyle/>
          <a:p>
            <a:pPr algn="l">
              <a:lnSpc>
                <a:spcPct val="120000"/>
              </a:lnSpc>
            </a:pPr>
            <a:r>
              <a:rPr lang="zh-CN" alt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三、</a:t>
            </a:r>
            <a:r>
              <a:rPr 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应用效果</a:t>
            </a:r>
            <a:endParaRPr lang="en-US" sz="5700">
              <a:solidFill>
                <a:srgbClr val="669B51">
                  <a:alpha val="100000"/>
                </a:srgbClr>
              </a:solidFill>
              <a:latin typeface="微软雅黑" panose="020B0503020204020204" charset="-122"/>
              <a:ea typeface="微软雅黑" panose="020B0503020204020204" charset="-122"/>
              <a:cs typeface="华文琥珀" panose="02010800040101010101"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00000"/>
          </a:blip>
          <a:srcRect l="-2258" r="2"/>
          <a:stretch>
            <a:fillRect/>
          </a:stretch>
        </p:blipFill>
        <p:spPr>
          <a:xfrm>
            <a:off x="0" y="1981200"/>
            <a:ext cx="8502015" cy="3882390"/>
          </a:xfrm>
          <a:prstGeom prst="roundRect">
            <a:avLst/>
          </a:prstGeom>
          <a:effectLst>
            <a:outerShdw blurRad="95250" dist="95250" dir="2700000">
              <a:schemeClr val="accent1">
                <a:alpha val="60000"/>
              </a:schemeClr>
            </a:outerShdw>
          </a:effectLst>
        </p:spPr>
      </p:pic>
      <p:sp>
        <p:nvSpPr>
          <p:cNvPr id="10" name="TextBox 10"/>
          <p:cNvSpPr txBox="1"/>
          <p:nvPr/>
        </p:nvSpPr>
        <p:spPr>
          <a:xfrm>
            <a:off x="685800" y="467360"/>
            <a:ext cx="12002770" cy="1208405"/>
          </a:xfrm>
          <a:prstGeom prst="rect">
            <a:avLst/>
          </a:prstGeom>
          <a:noFill/>
        </p:spPr>
        <p:txBody>
          <a:bodyPr vert="horz" wrap="square" lIns="123825" tIns="123825" rIns="57150" bIns="123825" rtlCol="0" anchor="ctr" anchorCtr="0">
            <a:no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三、</a:t>
            </a: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（一）</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web端</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首页</a:t>
            </a:r>
            <a:r>
              <a:rPr lang="en-US" sz="32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grpSp>
        <p:nvGrpSpPr>
          <p:cNvPr id="13" name="组合 12"/>
          <p:cNvGrpSpPr/>
          <p:nvPr/>
        </p:nvGrpSpPr>
        <p:grpSpPr>
          <a:xfrm>
            <a:off x="8773160" y="2357120"/>
            <a:ext cx="3558540" cy="3202940"/>
            <a:chOff x="12076" y="2532"/>
            <a:chExt cx="5604" cy="5044"/>
          </a:xfrm>
        </p:grpSpPr>
        <p:sp>
          <p:nvSpPr>
            <p:cNvPr id="5" name="AutoShape 5"/>
            <p:cNvSpPr/>
            <p:nvPr>
              <p:custDataLst>
                <p:tags r:id="rId3"/>
              </p:custDataLst>
            </p:nvPr>
          </p:nvSpPr>
          <p:spPr>
            <a:xfrm>
              <a:off x="12076" y="2884"/>
              <a:ext cx="340" cy="382"/>
            </a:xfrm>
            <a:prstGeom prst="ellipse">
              <a:avLst/>
            </a:prstGeom>
            <a:solidFill>
              <a:schemeClr val="accent1">
                <a:alpha val="100000"/>
              </a:schemeClr>
            </a:solidFill>
          </p:spPr>
        </p:sp>
        <p:sp>
          <p:nvSpPr>
            <p:cNvPr id="6" name="TextBox 6"/>
            <p:cNvSpPr txBox="1"/>
            <p:nvPr>
              <p:custDataLst>
                <p:tags r:id="rId4"/>
              </p:custDataLst>
            </p:nvPr>
          </p:nvSpPr>
          <p:spPr>
            <a:xfrm>
              <a:off x="12540" y="2532"/>
              <a:ext cx="5140" cy="1071"/>
            </a:xfrm>
            <a:prstGeom prst="rect">
              <a:avLst/>
            </a:prstGeom>
          </p:spPr>
          <p:txBody>
            <a:bodyPr vert="horz" wrap="square" lIns="123825" tIns="123825" rIns="57150" bIns="123825" rtlCol="0" anchor="b" anchorCtr="0">
              <a:noAutofit/>
            </a:bodyPr>
            <a:lstStyle/>
            <a:p>
              <a:pPr>
                <a:lnSpc>
                  <a:spcPct val="12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注册和登入界面</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custDataLst>
                <p:tags r:id="rId5"/>
              </p:custDataLst>
            </p:nvPr>
          </p:nvSpPr>
          <p:spPr>
            <a:xfrm>
              <a:off x="12076" y="3488"/>
              <a:ext cx="4510" cy="1470"/>
            </a:xfrm>
            <a:prstGeom prst="rect">
              <a:avLst/>
            </a:prstGeom>
          </p:spPr>
          <p:txBody>
            <a:bodyPr vert="horz" wrap="square" lIns="0" tIns="0" rIns="0" bIns="0"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1.支持用户名、密码及验证码登录</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2.</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密码加密，</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保障用户账户安全。</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8" name="TextBox 8"/>
            <p:cNvSpPr txBox="1"/>
            <p:nvPr>
              <p:custDataLst>
                <p:tags r:id="rId6"/>
              </p:custDataLst>
            </p:nvPr>
          </p:nvSpPr>
          <p:spPr>
            <a:xfrm>
              <a:off x="12451" y="5114"/>
              <a:ext cx="5221" cy="1122"/>
            </a:xfrm>
            <a:prstGeom prst="rect">
              <a:avLst/>
            </a:prstGeom>
          </p:spPr>
          <p:txBody>
            <a:bodyPr vert="horz" wrap="square" lIns="123825" tIns="123825" rIns="57150" bIns="123825" rtlCol="0" anchor="b" anchorCtr="0">
              <a:noAutofit/>
            </a:bodyPr>
            <a:lstStyle/>
            <a:p>
              <a:pPr>
                <a:lnSpc>
                  <a:spcPct val="120000"/>
                </a:lnSpc>
              </a:pPr>
              <a:r>
                <a:rPr lang="zh-CN" alt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系统</a:t>
              </a: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首页</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custDataLst>
                <p:tags r:id="rId7"/>
              </p:custDataLst>
            </p:nvPr>
          </p:nvSpPr>
          <p:spPr>
            <a:xfrm>
              <a:off x="12076" y="6106"/>
              <a:ext cx="4569" cy="1470"/>
            </a:xfrm>
            <a:prstGeom prst="rect">
              <a:avLst/>
            </a:prstGeom>
          </p:spPr>
          <p:txBody>
            <a:bodyPr vert="horz" wrap="square" lIns="0" tIns="0" rIns="0" bIns="0" rtlCol="0" anchor="t" anchorCtr="0">
              <a:noAutofit/>
            </a:bodyPr>
            <a:lstStyle/>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1.用户登入后跳转至首页</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a:p>
              <a:pP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2.侧</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边</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栏</a:t>
              </a:r>
              <a:r>
                <a:rPr lang="zh-CN" alt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查看</a:t>
              </a: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核心功能，如设备管理、工厂管理等。</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1" name="AutoShape 11"/>
            <p:cNvSpPr/>
            <p:nvPr>
              <p:custDataLst>
                <p:tags r:id="rId8"/>
              </p:custDataLst>
            </p:nvPr>
          </p:nvSpPr>
          <p:spPr>
            <a:xfrm>
              <a:off x="12076" y="5492"/>
              <a:ext cx="340" cy="382"/>
            </a:xfrm>
            <a:prstGeom prst="ellipse">
              <a:avLst/>
            </a:prstGeom>
            <a:solidFill>
              <a:schemeClr val="accent1">
                <a:alpha val="100000"/>
              </a:schemeClr>
            </a:solidFill>
          </p:spPr>
        </p:sp>
      </p:grpSp>
      <p:pic>
        <p:nvPicPr>
          <p:cNvPr id="3" name="图片 2"/>
          <p:cNvPicPr>
            <a:picLocks noChangeAspect="1"/>
          </p:cNvPicPr>
          <p:nvPr/>
        </p:nvPicPr>
        <p:blipFill>
          <a:blip r:embed="rId9"/>
          <a:srcRect l="3432" t="3323" r="3890" b="4514"/>
          <a:stretch>
            <a:fillRect/>
          </a:stretch>
        </p:blipFill>
        <p:spPr>
          <a:xfrm>
            <a:off x="12268200" y="2209800"/>
            <a:ext cx="2057400" cy="1866900"/>
          </a:xfrm>
          <a:prstGeom prst="rect">
            <a:avLst/>
          </a:prstGeom>
        </p:spPr>
      </p:pic>
      <p:pic>
        <p:nvPicPr>
          <p:cNvPr id="4" name="图片 3"/>
          <p:cNvPicPr>
            <a:picLocks noChangeAspect="1"/>
          </p:cNvPicPr>
          <p:nvPr/>
        </p:nvPicPr>
        <p:blipFill>
          <a:blip r:embed="rId10"/>
          <a:srcRect l="4707" t="5266" r="4648" b="3363"/>
          <a:stretch>
            <a:fillRect/>
          </a:stretch>
        </p:blipFill>
        <p:spPr>
          <a:xfrm>
            <a:off x="12268200" y="76200"/>
            <a:ext cx="1981200" cy="1828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838200" y="-152400"/>
            <a:ext cx="12122785"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（二）</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web端界面</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3" name="Picture 3"/>
          <p:cNvPicPr>
            <a:picLocks noChangeAspect="1"/>
          </p:cNvPicPr>
          <p:nvPr>
            <p:custDataLst>
              <p:tags r:id="rId2"/>
            </p:custDataLst>
          </p:nvPr>
        </p:nvPicPr>
        <p:blipFill>
          <a:blip r:embed="rId3"/>
          <a:srcRect r="8257"/>
          <a:stretch>
            <a:fillRect/>
          </a:stretch>
        </p:blipFill>
        <p:spPr>
          <a:xfrm>
            <a:off x="8180169" y="1697429"/>
            <a:ext cx="3867154" cy="2386781"/>
          </a:xfrm>
          <a:prstGeom prst="rect">
            <a:avLst/>
          </a:prstGeom>
          <a:noFill/>
          <a:ln w="19050">
            <a:solidFill>
              <a:schemeClr val="accent2"/>
            </a:solidFill>
            <a:prstDash val="solid"/>
          </a:ln>
        </p:spPr>
      </p:pic>
      <p:sp>
        <p:nvSpPr>
          <p:cNvPr id="4" name="TextBox 4"/>
          <p:cNvSpPr txBox="1"/>
          <p:nvPr>
            <p:custDataLst>
              <p:tags r:id="rId4"/>
            </p:custDataLst>
          </p:nvPr>
        </p:nvSpPr>
        <p:spPr>
          <a:xfrm>
            <a:off x="8245482" y="4330210"/>
            <a:ext cx="3048000" cy="490334"/>
          </a:xfrm>
          <a:prstGeom prst="rect">
            <a:avLst/>
          </a:prstGeom>
        </p:spPr>
        <p:txBody>
          <a:bodyPr vert="horz" wrap="square" lIns="66008" tIns="33052" rIns="66008" bIns="33052" rtlCol="0" anchor="ctr" anchorCtr="0">
            <a:no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历史数据界面</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5" name="TextBox 5"/>
          <p:cNvSpPr txBox="1"/>
          <p:nvPr>
            <p:custDataLst>
              <p:tags r:id="rId5"/>
            </p:custDataLst>
          </p:nvPr>
        </p:nvSpPr>
        <p:spPr>
          <a:xfrm>
            <a:off x="8686724" y="4820421"/>
            <a:ext cx="2882348" cy="1245227"/>
          </a:xfrm>
          <a:prstGeom prst="rect">
            <a:avLst/>
          </a:prstGeom>
        </p:spPr>
        <p:txBody>
          <a:bodyPr vert="horz" wrap="square" lIns="66008" tIns="33052" rIns="66008" bIns="33052" rtlCol="0" anchor="t" anchorCtr="0">
            <a:noAutofit/>
          </a:bodyPr>
          <a:lstStyle/>
          <a:p>
            <a:pPr>
              <a:lnSpc>
                <a:spcPct val="110000"/>
              </a:lnSpc>
              <a:spcBef>
                <a:spcPts val="375"/>
              </a:spcBef>
            </a:pP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1.详细查看到历史数据</a:t>
            </a:r>
            <a:endPar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pPr>
              <a:lnSpc>
                <a:spcPct val="110000"/>
              </a:lnSpc>
              <a:spcBef>
                <a:spcPts val="375"/>
              </a:spcBef>
            </a:pP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2.</a:t>
            </a:r>
            <a:r>
              <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支持筛选</a:t>
            </a: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查看工厂的历史数据。</a:t>
            </a:r>
            <a:endPar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6" name="TextBox 6"/>
          <p:cNvSpPr txBox="1"/>
          <p:nvPr>
            <p:custDataLst>
              <p:tags r:id="rId6"/>
            </p:custDataLst>
          </p:nvPr>
        </p:nvSpPr>
        <p:spPr>
          <a:xfrm>
            <a:off x="4572000" y="4330210"/>
            <a:ext cx="3048000" cy="490334"/>
          </a:xfrm>
          <a:prstGeom prst="rect">
            <a:avLst/>
          </a:prstGeom>
        </p:spPr>
        <p:txBody>
          <a:bodyPr vert="horz" wrap="square" lIns="66008" tIns="33052" rIns="66008" bIns="33052" rtlCol="0" anchor="ctr" anchorCtr="0">
            <a:no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实时数据监测界面</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7" name="TextBox 7"/>
          <p:cNvSpPr txBox="1"/>
          <p:nvPr>
            <p:custDataLst>
              <p:tags r:id="rId7"/>
            </p:custDataLst>
          </p:nvPr>
        </p:nvSpPr>
        <p:spPr>
          <a:xfrm>
            <a:off x="4572000" y="4842510"/>
            <a:ext cx="3217545" cy="1245235"/>
          </a:xfrm>
          <a:prstGeom prst="rect">
            <a:avLst/>
          </a:prstGeom>
          <a:noFill/>
        </p:spPr>
        <p:txBody>
          <a:bodyPr vert="horz" wrap="square" lIns="66008" tIns="33052" rIns="66008" bIns="33052" rtlCol="0" anchor="t" anchorCtr="0">
            <a:noAutofit/>
          </a:bodyPr>
          <a:lstStyle/>
          <a:p>
            <a:pPr algn="l">
              <a:lnSpc>
                <a:spcPct val="140000"/>
              </a:lnSpc>
            </a:pP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1.实时查看三类监测气体的气体浓度</a:t>
            </a:r>
            <a:endPar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pPr algn="l">
              <a:lnSpc>
                <a:spcPct val="140000"/>
              </a:lnSpc>
            </a:pP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空气流速</a:t>
            </a:r>
            <a:r>
              <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等</a:t>
            </a:r>
            <a:endPar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pPr algn="l">
              <a:lnSpc>
                <a:spcPct val="140000"/>
              </a:lnSpc>
            </a:pP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2.小时的碳排放量</a:t>
            </a:r>
            <a:r>
              <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a:t>
            </a: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月</a:t>
            </a:r>
            <a:r>
              <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份</a:t>
            </a: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的碳排放总量</a:t>
            </a:r>
            <a:endPar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p:txBody>
      </p:sp>
      <p:pic>
        <p:nvPicPr>
          <p:cNvPr id="8" name="Picture 8"/>
          <p:cNvPicPr>
            <a:picLocks noChangeAspect="1"/>
          </p:cNvPicPr>
          <p:nvPr>
            <p:custDataLst>
              <p:tags r:id="rId8"/>
            </p:custDataLst>
          </p:nvPr>
        </p:nvPicPr>
        <p:blipFill>
          <a:blip r:embed="rId9"/>
          <a:srcRect/>
          <a:stretch>
            <a:fillRect/>
          </a:stretch>
        </p:blipFill>
        <p:spPr>
          <a:xfrm>
            <a:off x="4376432" y="1697429"/>
            <a:ext cx="3707740" cy="2386781"/>
          </a:xfrm>
          <a:prstGeom prst="rect">
            <a:avLst/>
          </a:prstGeom>
          <a:noFill/>
          <a:ln w="19050">
            <a:solidFill>
              <a:schemeClr val="accent2"/>
            </a:solidFill>
            <a:prstDash val="solid"/>
          </a:ln>
        </p:spPr>
      </p:pic>
      <p:pic>
        <p:nvPicPr>
          <p:cNvPr id="9" name="Picture 9"/>
          <p:cNvPicPr>
            <a:picLocks noChangeAspect="1"/>
          </p:cNvPicPr>
          <p:nvPr>
            <p:custDataLst>
              <p:tags r:id="rId10"/>
            </p:custDataLst>
          </p:nvPr>
        </p:nvPicPr>
        <p:blipFill>
          <a:blip r:embed="rId11"/>
          <a:srcRect/>
          <a:stretch>
            <a:fillRect/>
          </a:stretch>
        </p:blipFill>
        <p:spPr>
          <a:xfrm>
            <a:off x="149991" y="1697429"/>
            <a:ext cx="4141634" cy="2386781"/>
          </a:xfrm>
          <a:prstGeom prst="rect">
            <a:avLst/>
          </a:prstGeom>
          <a:noFill/>
          <a:ln w="19050">
            <a:solidFill>
              <a:schemeClr val="accent1"/>
            </a:solidFill>
            <a:prstDash val="solid"/>
          </a:ln>
        </p:spPr>
      </p:pic>
      <p:sp>
        <p:nvSpPr>
          <p:cNvPr id="10" name="TextBox 10"/>
          <p:cNvSpPr txBox="1"/>
          <p:nvPr>
            <p:custDataLst>
              <p:tags r:id="rId12"/>
            </p:custDataLst>
          </p:nvPr>
        </p:nvSpPr>
        <p:spPr>
          <a:xfrm>
            <a:off x="457193" y="4330210"/>
            <a:ext cx="3048000" cy="490334"/>
          </a:xfrm>
          <a:prstGeom prst="rect">
            <a:avLst/>
          </a:prstGeom>
        </p:spPr>
        <p:txBody>
          <a:bodyPr vert="horz" wrap="square" lIns="66008" tIns="33052" rIns="66008" bIns="33052" rtlCol="0" anchor="ctr" anchorCtr="0">
            <a:no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设备管理界面</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1" name="TextBox 11"/>
          <p:cNvSpPr txBox="1"/>
          <p:nvPr>
            <p:custDataLst>
              <p:tags r:id="rId13"/>
            </p:custDataLst>
          </p:nvPr>
        </p:nvSpPr>
        <p:spPr>
          <a:xfrm>
            <a:off x="898518" y="4835171"/>
            <a:ext cx="3048000" cy="1245227"/>
          </a:xfrm>
          <a:prstGeom prst="rect">
            <a:avLst/>
          </a:prstGeom>
          <a:noFill/>
        </p:spPr>
        <p:txBody>
          <a:bodyPr vert="horz" wrap="square" lIns="66008" tIns="33052" rIns="66008" bIns="33052" rtlCol="0" anchor="t" anchorCtr="0">
            <a:noAutofit/>
          </a:bodyPr>
          <a:lstStyle/>
          <a:p>
            <a:pPr algn="l">
              <a:lnSpc>
                <a:spcPct val="140000"/>
              </a:lnSpc>
            </a:pPr>
            <a:r>
              <a:rPr lang="en-US" altLang="zh-CN"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1.</a:t>
            </a:r>
            <a:r>
              <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查看到设备的运行状态</a:t>
            </a:r>
            <a:endPar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pPr algn="l">
              <a:lnSpc>
                <a:spcPct val="140000"/>
              </a:lnSpc>
            </a:pPr>
            <a:r>
              <a:rPr lang="en-US" altLang="zh-CN"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2.</a:t>
            </a:r>
            <a:r>
              <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了解设备是否故障</a:t>
            </a:r>
            <a:endPar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a:p>
            <a:pPr algn="l">
              <a:lnSpc>
                <a:spcPct val="140000"/>
              </a:lnSpc>
            </a:pPr>
            <a:r>
              <a:rPr lang="en-US" altLang="zh-CN"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3.</a:t>
            </a:r>
            <a:r>
              <a:rPr 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rPr>
              <a:t>用户可搜索查看到工厂信息</a:t>
            </a:r>
            <a:endParaRPr lang="zh-CN" altLang="en-US" sz="1350" b="1">
              <a:solidFill>
                <a:srgbClr val="425D37">
                  <a:alpha val="100000"/>
                </a:srgbClr>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TextBox 12"/>
          <p:cNvSpPr txBox="1"/>
          <p:nvPr/>
        </p:nvSpPr>
        <p:spPr>
          <a:xfrm>
            <a:off x="0" y="0"/>
            <a:ext cx="5715000" cy="476250"/>
          </a:xfrm>
          <a:prstGeom prst="rect">
            <a:avLst/>
          </a:prstGeom>
        </p:spPr>
        <p:txBody>
          <a:bodyPr vert="horz" wrap="square" lIns="91440" tIns="45720" rIns="91440" bIns="45720" rtlCol="0" anchor="t" anchorCtr="0">
            <a:spAutoFit/>
          </a:bodyPr>
          <a:lstStyle/>
          <a:p>
            <a:pPr>
              <a:lnSpc>
                <a:spcPct val="100000"/>
              </a:lnSpc>
              <a:spcBef>
                <a:spcPts val="375"/>
              </a:spcBef>
            </a:pPr>
            <a:endParaRPr lang="en-US" sz="9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3" name="图片 12"/>
          <p:cNvPicPr>
            <a:picLocks noChangeAspect="1"/>
          </p:cNvPicPr>
          <p:nvPr>
            <p:custDataLst>
              <p:tags r:id="rId14"/>
            </p:custDataLst>
          </p:nvPr>
        </p:nvPicPr>
        <p:blipFill>
          <a:blip r:embed="rId15"/>
          <a:stretch>
            <a:fillRect/>
          </a:stretch>
        </p:blipFill>
        <p:spPr>
          <a:xfrm>
            <a:off x="152400" y="1697355"/>
            <a:ext cx="1608455" cy="168910"/>
          </a:xfrm>
          <a:prstGeom prst="rect">
            <a:avLst/>
          </a:prstGeom>
        </p:spPr>
      </p:pic>
      <p:pic>
        <p:nvPicPr>
          <p:cNvPr id="14" name="图片 13"/>
          <p:cNvPicPr>
            <a:picLocks noChangeAspect="1"/>
          </p:cNvPicPr>
          <p:nvPr>
            <p:custDataLst>
              <p:tags r:id="rId16"/>
            </p:custDataLst>
          </p:nvPr>
        </p:nvPicPr>
        <p:blipFill>
          <a:blip r:embed="rId15"/>
          <a:stretch>
            <a:fillRect/>
          </a:stretch>
        </p:blipFill>
        <p:spPr>
          <a:xfrm>
            <a:off x="4376420" y="1697355"/>
            <a:ext cx="1493520" cy="156845"/>
          </a:xfrm>
          <a:prstGeom prst="rect">
            <a:avLst/>
          </a:prstGeom>
        </p:spPr>
      </p:pic>
      <p:pic>
        <p:nvPicPr>
          <p:cNvPr id="15" name="图片 14"/>
          <p:cNvPicPr>
            <a:picLocks noChangeAspect="1"/>
          </p:cNvPicPr>
          <p:nvPr>
            <p:custDataLst>
              <p:tags r:id="rId17"/>
            </p:custDataLst>
          </p:nvPr>
        </p:nvPicPr>
        <p:blipFill>
          <a:blip r:embed="rId15"/>
          <a:stretch>
            <a:fillRect/>
          </a:stretch>
        </p:blipFill>
        <p:spPr>
          <a:xfrm>
            <a:off x="8180070" y="1697355"/>
            <a:ext cx="1493520" cy="1568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l="1994" r="1994"/>
          <a:stretch>
            <a:fillRect/>
          </a:stretch>
        </p:blipFill>
        <p:spPr>
          <a:xfrm>
            <a:off x="609600" y="1960245"/>
            <a:ext cx="8046720" cy="4363085"/>
          </a:xfrm>
          <a:prstGeom prst="roundRect">
            <a:avLst/>
          </a:prstGeom>
          <a:ln w="19050">
            <a:solidFill>
              <a:schemeClr val="accent2"/>
            </a:solidFill>
            <a:prstDash val="solid"/>
          </a:ln>
        </p:spPr>
      </p:pic>
      <p:sp>
        <p:nvSpPr>
          <p:cNvPr id="4" name="TextBox 4"/>
          <p:cNvSpPr txBox="1"/>
          <p:nvPr/>
        </p:nvSpPr>
        <p:spPr>
          <a:xfrm>
            <a:off x="720090" y="499745"/>
            <a:ext cx="11473815" cy="914400"/>
          </a:xfrm>
          <a:prstGeom prst="rect">
            <a:avLst/>
          </a:prstGeom>
          <a:noFill/>
        </p:spPr>
        <p:txBody>
          <a:bodyPr vert="horz" wrap="square" lIns="123825" tIns="123825" rIns="57150" bIns="123825" rtlCol="0" anchor="ctr" anchorCtr="0">
            <a:no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（三）</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数据分析</a:t>
            </a:r>
            <a:r>
              <a:rPr lang="en-US" sz="28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grpSp>
        <p:nvGrpSpPr>
          <p:cNvPr id="7" name="组合 6"/>
          <p:cNvGrpSpPr/>
          <p:nvPr/>
        </p:nvGrpSpPr>
        <p:grpSpPr>
          <a:xfrm>
            <a:off x="9067727" y="2971680"/>
            <a:ext cx="2653406" cy="2748482"/>
            <a:chOff x="14279" y="4320"/>
            <a:chExt cx="4179" cy="4328"/>
          </a:xfrm>
        </p:grpSpPr>
        <p:sp>
          <p:nvSpPr>
            <p:cNvPr id="3" name="AutoShape 3"/>
            <p:cNvSpPr/>
            <p:nvPr/>
          </p:nvSpPr>
          <p:spPr>
            <a:xfrm>
              <a:off x="14279" y="4320"/>
              <a:ext cx="4179" cy="4328"/>
            </a:xfrm>
            <a:prstGeom prst="roundRect">
              <a:avLst>
                <a:gd name="adj" fmla="val 5898"/>
              </a:avLst>
            </a:prstGeom>
            <a:solidFill>
              <a:schemeClr val="lt1">
                <a:alpha val="100000"/>
                <a:lumMod val="95000"/>
              </a:schemeClr>
            </a:solidFill>
            <a:ln w="19050">
              <a:solidFill>
                <a:schemeClr val="accent2">
                  <a:alpha val="100000"/>
                </a:schemeClr>
              </a:solidFill>
              <a:prstDash val="solid"/>
            </a:ln>
            <a:effectLst>
              <a:outerShdw blurRad="361950">
                <a:schemeClr val="dk1">
                  <a:alpha val="6000"/>
                </a:schemeClr>
              </a:outerShdw>
            </a:effectLst>
          </p:spPr>
          <p:txBody>
            <a:bodyPr vert="horz" wrap="square" rtlCol="0" anchor="ctr" anchorCtr="0">
              <a:noAutofit/>
            </a:bodyPr>
            <a:lstStyle/>
            <a:p>
              <a:pPr algn="l">
                <a:lnSpc>
                  <a:spcPct val="100000"/>
                </a:lnSpc>
                <a:spcBef>
                  <a:spcPts val="375"/>
                </a:spcBef>
                <a:defRPr/>
              </a:pPr>
              <a:endParaRPr lang="en-US" sz="1100"/>
            </a:p>
          </p:txBody>
        </p:sp>
        <p:sp>
          <p:nvSpPr>
            <p:cNvPr id="5" name="TextBox 5"/>
            <p:cNvSpPr txBox="1"/>
            <p:nvPr/>
          </p:nvSpPr>
          <p:spPr>
            <a:xfrm>
              <a:off x="14611" y="4462"/>
              <a:ext cx="3513" cy="4045"/>
            </a:xfrm>
            <a:prstGeom prst="rect">
              <a:avLst/>
            </a:prstGeom>
          </p:spPr>
          <p:txBody>
            <a:bodyPr vert="horz" wrap="square" lIns="91440" tIns="45720" rIns="91440" bIns="45720" rtlCol="0" anchor="t" anchorCtr="0">
              <a:spAutoFit/>
            </a:bodyPr>
            <a:lstStyle/>
            <a:p>
              <a:pPr>
                <a:lnSpc>
                  <a:spcPct val="100000"/>
                </a:lnSpc>
                <a:spcBef>
                  <a:spcPts val="375"/>
                </a:spcBef>
              </a:pP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1.以图表的形式对比展示</a:t>
              </a: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采集数据</a:t>
              </a: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endParaRPr>
            </a:p>
            <a:p>
              <a:pPr>
                <a:lnSpc>
                  <a:spcPct val="100000"/>
                </a:lnSpc>
                <a:spcBef>
                  <a:spcPts val="375"/>
                </a:spcBef>
              </a:pP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endParaRPr>
            </a:p>
            <a:p>
              <a:pPr>
                <a:lnSpc>
                  <a:spcPct val="100000"/>
                </a:lnSpc>
                <a:spcBef>
                  <a:spcPts val="375"/>
                </a:spcBef>
              </a:pP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sym typeface="+mn-ea"/>
                </a:rPr>
                <a:t>2.</a:t>
              </a: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用户</a:t>
              </a:r>
              <a:r>
                <a:rPr lang="zh-CN" alt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可</a:t>
              </a: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清晰观察到各个工厂</a:t>
              </a:r>
              <a:r>
                <a:rPr lang="zh-CN" alt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气体</a:t>
              </a: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浓度的变化</a:t>
              </a: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a:p>
              <a:pPr>
                <a:lnSpc>
                  <a:spcPct val="100000"/>
                </a:lnSpc>
                <a:spcBef>
                  <a:spcPts val="375"/>
                </a:spcBef>
              </a:pP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a:p>
              <a:pPr>
                <a:lnSpc>
                  <a:spcPct val="100000"/>
                </a:lnSpc>
                <a:spcBef>
                  <a:spcPts val="375"/>
                </a:spcBef>
              </a:pP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3.根据</a:t>
              </a:r>
              <a:r>
                <a:rPr lang="zh-CN" alt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变化</a:t>
              </a: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情况做出调整</a:t>
              </a:r>
              <a:r>
                <a:rPr lang="zh-CN" alt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策略</a:t>
              </a:r>
              <a:endParaRPr lang="zh-CN" alt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16" name="图片 15"/>
          <p:cNvPicPr>
            <a:picLocks noChangeAspect="1"/>
          </p:cNvPicPr>
          <p:nvPr/>
        </p:nvPicPr>
        <p:blipFill>
          <a:blip r:embed="rId2"/>
          <a:stretch>
            <a:fillRect/>
          </a:stretch>
        </p:blipFill>
        <p:spPr>
          <a:xfrm>
            <a:off x="1143000" y="968375"/>
            <a:ext cx="9817100" cy="5808345"/>
          </a:xfrm>
          <a:prstGeom prst="rect">
            <a:avLst/>
          </a:prstGeom>
        </p:spPr>
      </p:pic>
      <p:sp>
        <p:nvSpPr>
          <p:cNvPr id="4" name="TextBox 4"/>
          <p:cNvSpPr txBox="1"/>
          <p:nvPr/>
        </p:nvSpPr>
        <p:spPr>
          <a:xfrm>
            <a:off x="990600" y="457200"/>
            <a:ext cx="11550015" cy="914400"/>
          </a:xfrm>
          <a:prstGeom prst="rect">
            <a:avLst/>
          </a:prstGeom>
          <a:noFill/>
        </p:spPr>
        <p:txBody>
          <a:bodyPr vert="horz" wrap="square" lIns="123825" tIns="123825" rIns="57150" bIns="123825" rtlCol="0" anchor="ctr" anchorCtr="0">
            <a:no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（四）</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数据预测-</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模型</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客观对比</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grpSp>
        <p:nvGrpSpPr>
          <p:cNvPr id="5" name="组合 4"/>
          <p:cNvGrpSpPr/>
          <p:nvPr/>
        </p:nvGrpSpPr>
        <p:grpSpPr>
          <a:xfrm>
            <a:off x="1066800" y="1294765"/>
            <a:ext cx="10034270" cy="5826125"/>
            <a:chOff x="1680" y="2039"/>
            <a:chExt cx="15802" cy="9175"/>
          </a:xfrm>
        </p:grpSpPr>
        <p:pic>
          <p:nvPicPr>
            <p:cNvPr id="13" name="图片 12"/>
            <p:cNvPicPr>
              <a:picLocks noChangeAspect="1"/>
            </p:cNvPicPr>
            <p:nvPr/>
          </p:nvPicPr>
          <p:blipFill>
            <a:blip r:embed="rId2"/>
            <a:stretch>
              <a:fillRect/>
            </a:stretch>
          </p:blipFill>
          <p:spPr>
            <a:xfrm>
              <a:off x="1680" y="2039"/>
              <a:ext cx="8017" cy="4744"/>
            </a:xfrm>
            <a:prstGeom prst="rect">
              <a:avLst/>
            </a:prstGeom>
          </p:spPr>
        </p:pic>
        <p:pic>
          <p:nvPicPr>
            <p:cNvPr id="15" name="图片 14"/>
            <p:cNvPicPr>
              <a:picLocks noChangeAspect="1"/>
            </p:cNvPicPr>
            <p:nvPr/>
          </p:nvPicPr>
          <p:blipFill>
            <a:blip r:embed="rId3"/>
            <a:stretch>
              <a:fillRect/>
            </a:stretch>
          </p:blipFill>
          <p:spPr>
            <a:xfrm>
              <a:off x="9480" y="2039"/>
              <a:ext cx="8002" cy="4735"/>
            </a:xfrm>
            <a:prstGeom prst="rect">
              <a:avLst/>
            </a:prstGeom>
          </p:spPr>
        </p:pic>
        <p:pic>
          <p:nvPicPr>
            <p:cNvPr id="14" name="图片 13"/>
            <p:cNvPicPr>
              <a:picLocks noChangeAspect="1"/>
            </p:cNvPicPr>
            <p:nvPr/>
          </p:nvPicPr>
          <p:blipFill>
            <a:blip r:embed="rId4"/>
            <a:stretch>
              <a:fillRect/>
            </a:stretch>
          </p:blipFill>
          <p:spPr>
            <a:xfrm>
              <a:off x="1680" y="6480"/>
              <a:ext cx="7800" cy="4615"/>
            </a:xfrm>
            <a:prstGeom prst="rect">
              <a:avLst/>
            </a:prstGeom>
          </p:spPr>
        </p:pic>
        <p:pic>
          <p:nvPicPr>
            <p:cNvPr id="21" name="图片 20"/>
            <p:cNvPicPr>
              <a:picLocks noChangeAspect="1"/>
            </p:cNvPicPr>
            <p:nvPr/>
          </p:nvPicPr>
          <p:blipFill>
            <a:blip r:embed="rId5"/>
            <a:stretch>
              <a:fillRect/>
            </a:stretch>
          </p:blipFill>
          <p:spPr>
            <a:xfrm>
              <a:off x="9480" y="6480"/>
              <a:ext cx="8001" cy="4734"/>
            </a:xfrm>
            <a:prstGeom prst="rect">
              <a:avLst/>
            </a:prstGeom>
          </p:spPr>
        </p:pic>
      </p:grpSp>
      <p:sp>
        <p:nvSpPr>
          <p:cNvPr id="4" name="TextBox 4"/>
          <p:cNvSpPr txBox="1"/>
          <p:nvPr/>
        </p:nvSpPr>
        <p:spPr>
          <a:xfrm>
            <a:off x="990600" y="457200"/>
            <a:ext cx="11550015" cy="914400"/>
          </a:xfrm>
          <a:prstGeom prst="rect">
            <a:avLst/>
          </a:prstGeom>
          <a:noFill/>
        </p:spPr>
        <p:txBody>
          <a:bodyPr vert="horz" wrap="square" lIns="123825" tIns="123825" rIns="57150" bIns="123825" rtlCol="0" anchor="ctr" anchorCtr="0">
            <a:no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（四）</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数据预测-</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模型主</a:t>
            </a: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观对比</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00000"/>
          </a:blip>
          <a:srcRect/>
          <a:stretch>
            <a:fillRect/>
          </a:stretch>
        </p:blipFill>
        <p:spPr>
          <a:xfrm>
            <a:off x="6724407" y="773031"/>
            <a:ext cx="4770079" cy="3434928"/>
          </a:xfrm>
          <a:prstGeom prst="rect">
            <a:avLst/>
          </a:prstGeom>
          <a:effectLst>
            <a:outerShdw blurRad="95250" dist="95250" dir="2700000">
              <a:schemeClr val="accent1">
                <a:alpha val="60000"/>
              </a:schemeClr>
            </a:outerShdw>
          </a:effectLst>
        </p:spPr>
      </p:pic>
      <p:sp>
        <p:nvSpPr>
          <p:cNvPr id="4" name="TextBox 4"/>
          <p:cNvSpPr txBox="1"/>
          <p:nvPr/>
        </p:nvSpPr>
        <p:spPr>
          <a:xfrm>
            <a:off x="990600" y="457200"/>
            <a:ext cx="11550015" cy="914400"/>
          </a:xfrm>
          <a:prstGeom prst="rect">
            <a:avLst/>
          </a:prstGeom>
          <a:noFill/>
        </p:spPr>
        <p:txBody>
          <a:bodyPr vert="horz" wrap="square" lIns="123825" tIns="123825" rIns="57150" bIns="123825" rtlCol="0" anchor="ctr" anchorCtr="0">
            <a:no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（四）</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数据预测</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grpSp>
        <p:nvGrpSpPr>
          <p:cNvPr id="7" name="组合 6"/>
          <p:cNvGrpSpPr/>
          <p:nvPr/>
        </p:nvGrpSpPr>
        <p:grpSpPr>
          <a:xfrm>
            <a:off x="0" y="2209800"/>
            <a:ext cx="3312795" cy="3191510"/>
            <a:chOff x="1877" y="1891"/>
            <a:chExt cx="5217" cy="5026"/>
          </a:xfrm>
        </p:grpSpPr>
        <p:sp>
          <p:nvSpPr>
            <p:cNvPr id="5" name="AutoShape 5"/>
            <p:cNvSpPr/>
            <p:nvPr/>
          </p:nvSpPr>
          <p:spPr>
            <a:xfrm>
              <a:off x="1877" y="1891"/>
              <a:ext cx="5217" cy="5026"/>
            </a:xfrm>
            <a:prstGeom prst="ellipse">
              <a:avLst/>
            </a:prstGeom>
            <a:solidFill>
              <a:schemeClr val="lt1">
                <a:alpha val="100000"/>
                <a:lumMod val="85000"/>
              </a:schemeClr>
            </a:solidFill>
          </p:spPr>
        </p:sp>
        <p:sp>
          <p:nvSpPr>
            <p:cNvPr id="6" name="TextBox 6"/>
            <p:cNvSpPr txBox="1"/>
            <p:nvPr/>
          </p:nvSpPr>
          <p:spPr>
            <a:xfrm>
              <a:off x="2482" y="2469"/>
              <a:ext cx="3766" cy="3870"/>
            </a:xfrm>
            <a:prstGeom prst="rect">
              <a:avLst/>
            </a:prstGeom>
            <a:noFill/>
          </p:spPr>
          <p:txBody>
            <a:bodyPr vert="horz" wrap="square" lIns="91440" tIns="45720" rIns="91440" bIns="45720" rtlCol="0" anchor="t" anchorCtr="0">
              <a:spAutoFit/>
            </a:bodyPr>
            <a:lstStyle/>
            <a:p>
              <a:pPr algn="l">
                <a:lnSpc>
                  <a:spcPct val="100000"/>
                </a:lnSpc>
                <a:spcBef>
                  <a:spcPts val="375"/>
                </a:spcBef>
              </a:pPr>
              <a:r>
                <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1.使用python</a:t>
              </a:r>
              <a:r>
                <a:rPr lang="zh-CN" alt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a:t>
              </a:r>
              <a:r>
                <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读取factory的csv文件</a:t>
              </a:r>
              <a:endPar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endPar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r>
                <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2.采用基于时间序列模型创建预测模型</a:t>
              </a:r>
              <a:endPar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endPar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r>
                <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3.预测结果与测试</a:t>
              </a:r>
              <a:r>
                <a:rPr lang="zh-CN" alt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结果</a:t>
              </a:r>
              <a:r>
                <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进行对比</a:t>
              </a:r>
              <a:endPar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endPar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r>
                <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4.图片呈</a:t>
              </a:r>
              <a:r>
                <a:rPr lang="zh-CN" alt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rPr>
                <a:t>现在数据预测界面</a:t>
              </a:r>
              <a:endParaRPr lang="en-US" sz="1350" b="1" i="1">
                <a:solidFill>
                  <a:srgbClr val="775604">
                    <a:alpha val="100000"/>
                  </a:srgbClr>
                </a:solidFill>
                <a:latin typeface="微软雅黑" panose="020B0503020204020204" charset="-122"/>
                <a:ea typeface="微软雅黑" panose="020B0503020204020204" charset="-122"/>
                <a:cs typeface="微软雅黑" panose="020B0503020204020204" charset="-122"/>
              </a:endParaRPr>
            </a:p>
          </p:txBody>
        </p:sp>
      </p:grpSp>
      <p:pic>
        <p:nvPicPr>
          <p:cNvPr id="9" name="图片 8"/>
          <p:cNvPicPr>
            <a:picLocks noChangeAspect="1"/>
          </p:cNvPicPr>
          <p:nvPr/>
        </p:nvPicPr>
        <p:blipFill>
          <a:blip r:embed="rId3"/>
          <a:stretch>
            <a:fillRect/>
          </a:stretch>
        </p:blipFill>
        <p:spPr>
          <a:xfrm>
            <a:off x="4800600" y="1371600"/>
            <a:ext cx="3470275" cy="1732915"/>
          </a:xfrm>
          <a:prstGeom prst="rect">
            <a:avLst/>
          </a:prstGeom>
        </p:spPr>
      </p:pic>
      <p:pic>
        <p:nvPicPr>
          <p:cNvPr id="8" name="图片 7"/>
          <p:cNvPicPr>
            <a:picLocks noChangeAspect="1"/>
          </p:cNvPicPr>
          <p:nvPr/>
        </p:nvPicPr>
        <p:blipFill>
          <a:blip r:embed="rId4"/>
          <a:srcRect l="-543" r="6286"/>
          <a:stretch>
            <a:fillRect/>
          </a:stretch>
        </p:blipFill>
        <p:spPr>
          <a:xfrm>
            <a:off x="3505200" y="3048000"/>
            <a:ext cx="7062470" cy="36036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4" name="Picture 4"/>
          <p:cNvPicPr>
            <a:picLocks noChangeAspect="1"/>
          </p:cNvPicPr>
          <p:nvPr/>
        </p:nvPicPr>
        <p:blipFill>
          <a:blip r:embed="rId2"/>
          <a:srcRect r="18486"/>
          <a:stretch>
            <a:fillRect/>
          </a:stretch>
        </p:blipFill>
        <p:spPr>
          <a:xfrm>
            <a:off x="3124200" y="1833880"/>
            <a:ext cx="8893175" cy="3632835"/>
          </a:xfrm>
          <a:prstGeom prst="roundRect">
            <a:avLst/>
          </a:prstGeom>
          <a:ln w="19050">
            <a:solidFill>
              <a:schemeClr val="accent2"/>
            </a:solidFill>
            <a:prstDash val="solid"/>
          </a:ln>
        </p:spPr>
      </p:pic>
      <p:sp>
        <p:nvSpPr>
          <p:cNvPr id="5" name="TextBox 5"/>
          <p:cNvSpPr txBox="1"/>
          <p:nvPr/>
        </p:nvSpPr>
        <p:spPr>
          <a:xfrm>
            <a:off x="778419" y="2512492"/>
            <a:ext cx="2980818" cy="3593065"/>
          </a:xfrm>
          <a:prstGeom prst="rect">
            <a:avLst/>
          </a:prstGeom>
        </p:spPr>
        <p:txBody>
          <a:bodyPr vert="horz" wrap="square" lIns="66008" tIns="33052" rIns="66008" bIns="33052" rtlCol="0" anchor="t" anchorCtr="0">
            <a:normAutofit/>
          </a:bodyPr>
          <a:lstStyle/>
          <a:p>
            <a:pPr algn="ctr">
              <a:lnSpc>
                <a:spcPct val="140000"/>
              </a:lnSpc>
            </a:pPr>
            <a:r>
              <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rPr>
              <a:t> </a:t>
            </a:r>
            <a:endParaRPr lang="en-US" sz="1575">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6" name="TextBox 6"/>
          <p:cNvSpPr txBox="1"/>
          <p:nvPr/>
        </p:nvSpPr>
        <p:spPr>
          <a:xfrm>
            <a:off x="1004398" y="152409"/>
            <a:ext cx="11239500" cy="1403350"/>
          </a:xfrm>
          <a:prstGeom prst="rect">
            <a:avLst/>
          </a:prstGeom>
          <a:noFill/>
        </p:spPr>
        <p:txBody>
          <a:bodyPr vert="horz" wrap="square" lIns="123825" tIns="123825" rIns="57150" bIns="123825" rtlCol="0" anchor="t" anchorCtr="0">
            <a:spAutoFit/>
          </a:bodyPr>
          <a:lstStyle/>
          <a:p>
            <a:pPr algn="l">
              <a:lnSpc>
                <a:spcPct val="100000"/>
              </a:lnSpc>
              <a:spcBef>
                <a:spcPts val="375"/>
              </a:spcBef>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（五）</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报警记录</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304579" y="2247699"/>
            <a:ext cx="2528956" cy="2805044"/>
            <a:chOff x="480" y="3540"/>
            <a:chExt cx="3983" cy="4417"/>
          </a:xfrm>
        </p:grpSpPr>
        <p:sp>
          <p:nvSpPr>
            <p:cNvPr id="7" name="AutoShape 7"/>
            <p:cNvSpPr/>
            <p:nvPr/>
          </p:nvSpPr>
          <p:spPr>
            <a:xfrm>
              <a:off x="480" y="3540"/>
              <a:ext cx="3983" cy="4417"/>
            </a:xfrm>
            <a:prstGeom prst="roundRect">
              <a:avLst>
                <a:gd name="adj" fmla="val 16667"/>
              </a:avLst>
            </a:prstGeom>
            <a:solidFill>
              <a:schemeClr val="lt1">
                <a:alpha val="100000"/>
                <a:lumMod val="95000"/>
              </a:schemeClr>
            </a:solidFill>
          </p:spPr>
          <p:txBody>
            <a:bodyPr/>
            <a:p>
              <a:endParaRPr lang="zh-CN" altLang="en-US"/>
            </a:p>
          </p:txBody>
        </p:sp>
        <p:sp>
          <p:nvSpPr>
            <p:cNvPr id="8" name="TextBox 8"/>
            <p:cNvSpPr txBox="1"/>
            <p:nvPr/>
          </p:nvSpPr>
          <p:spPr>
            <a:xfrm>
              <a:off x="606" y="4080"/>
              <a:ext cx="3731" cy="3246"/>
            </a:xfrm>
            <a:prstGeom prst="rect">
              <a:avLst/>
            </a:prstGeom>
            <a:noFill/>
          </p:spPr>
          <p:txBody>
            <a:bodyPr vert="horz" wrap="square" lIns="91440" tIns="45720" rIns="91440" bIns="45720" rtlCol="0" anchor="t" anchorCtr="0">
              <a:spAutoFit/>
            </a:bodyPr>
            <a:lstStyle/>
            <a:p>
              <a:pPr algn="l">
                <a:lnSpc>
                  <a:spcPct val="100000"/>
                </a:lnSpc>
                <a:spcBef>
                  <a:spcPts val="375"/>
                </a:spcBef>
              </a:pP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1.收集了所有超出阈值范围的数据</a:t>
              </a: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a:p>
              <a:pPr algn="l">
                <a:lnSpc>
                  <a:spcPct val="100000"/>
                </a:lnSpc>
                <a:spcBef>
                  <a:spcPts val="375"/>
                </a:spcBef>
              </a:pP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a:p>
              <a:pPr algn="l">
                <a:lnSpc>
                  <a:spcPct val="100000"/>
                </a:lnSpc>
                <a:spcBef>
                  <a:spcPts val="375"/>
                </a:spcBef>
              </a:pP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2.起到了预警作用</a:t>
              </a: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a:p>
              <a:pPr algn="l">
                <a:lnSpc>
                  <a:spcPct val="100000"/>
                </a:lnSpc>
                <a:spcBef>
                  <a:spcPts val="375"/>
                </a:spcBef>
              </a:pP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a:p>
              <a:pPr algn="l">
                <a:lnSpc>
                  <a:spcPct val="100000"/>
                </a:lnSpc>
                <a:spcBef>
                  <a:spcPts val="375"/>
                </a:spcBef>
              </a:pP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3.</a:t>
              </a:r>
              <a:r>
                <a:rPr lang="zh-CN" alt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支持</a:t>
              </a: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搜索工厂</a:t>
              </a:r>
              <a:r>
                <a:rPr lang="zh-CN" alt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名</a:t>
              </a:r>
              <a:r>
                <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rPr>
                <a:t>来查看异常数据</a:t>
              </a:r>
              <a:endParaRPr lang="en-US" sz="1650" b="1" i="1">
                <a:solidFill>
                  <a:srgbClr val="775604">
                    <a:alpha val="100000"/>
                  </a:srgbClr>
                </a:solidFill>
                <a:latin typeface="微软雅黑" panose="020B0503020204020204" charset="-122"/>
                <a:ea typeface="微软雅黑" panose="020B0503020204020204" charset="-122"/>
                <a:cs typeface="新宋体" panose="02010609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pic>
        <p:nvPicPr>
          <p:cNvPr id="6" name="Picture 6"/>
          <p:cNvPicPr>
            <a:picLocks noChangeAspect="1"/>
          </p:cNvPicPr>
          <p:nvPr>
            <p:custDataLst>
              <p:tags r:id="rId2"/>
            </p:custDataLst>
          </p:nvPr>
        </p:nvPicPr>
        <p:blipFill>
          <a:blip r:embed="rId3"/>
          <a:srcRect l="53" r="53"/>
          <a:stretch>
            <a:fillRect/>
          </a:stretch>
        </p:blipFill>
        <p:spPr>
          <a:xfrm>
            <a:off x="5875655" y="1523365"/>
            <a:ext cx="6046470" cy="2991485"/>
          </a:xfrm>
          <a:prstGeom prst="rect">
            <a:avLst/>
          </a:prstGeom>
          <a:effectLst>
            <a:outerShdw blurRad="95250" dist="95250" dir="2700000">
              <a:schemeClr val="accent1">
                <a:alpha val="60000"/>
              </a:schemeClr>
            </a:outerShdw>
          </a:effectLst>
        </p:spPr>
      </p:pic>
      <p:sp>
        <p:nvSpPr>
          <p:cNvPr id="3" name="TextBox 3"/>
          <p:cNvSpPr txBox="1"/>
          <p:nvPr>
            <p:custDataLst>
              <p:tags r:id="rId4"/>
            </p:custDataLst>
          </p:nvPr>
        </p:nvSpPr>
        <p:spPr>
          <a:xfrm>
            <a:off x="8000747" y="3960647"/>
            <a:ext cx="2034202" cy="501096"/>
          </a:xfrm>
          <a:prstGeom prst="rect">
            <a:avLst/>
          </a:prstGeom>
          <a:noFill/>
        </p:spPr>
        <p:txBody>
          <a:bodyPr vert="horz" wrap="square" lIns="91440" tIns="45720" rIns="91440" bIns="45720" rtlCol="0" anchor="ctr" anchorCtr="0">
            <a:noAutofit/>
          </a:bodyPr>
          <a:lstStyle/>
          <a:p>
            <a:pPr algn="l">
              <a:lnSpc>
                <a:spcPct val="8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管理用户界面</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4" name="TextBox 4"/>
          <p:cNvSpPr txBox="1"/>
          <p:nvPr/>
        </p:nvSpPr>
        <p:spPr>
          <a:xfrm>
            <a:off x="679450" y="-228600"/>
            <a:ext cx="1151255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（六）阈值设置与用户管理</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5" name="Picture 5"/>
          <p:cNvPicPr>
            <a:picLocks noChangeAspect="1"/>
          </p:cNvPicPr>
          <p:nvPr>
            <p:custDataLst>
              <p:tags r:id="rId5"/>
            </p:custDataLst>
          </p:nvPr>
        </p:nvPicPr>
        <p:blipFill>
          <a:blip r:embed="rId6"/>
          <a:srcRect/>
          <a:stretch>
            <a:fillRect/>
          </a:stretch>
        </p:blipFill>
        <p:spPr>
          <a:xfrm>
            <a:off x="128270" y="1880870"/>
            <a:ext cx="5747385" cy="2633980"/>
          </a:xfrm>
          <a:prstGeom prst="rect">
            <a:avLst/>
          </a:prstGeom>
          <a:effectLst>
            <a:outerShdw blurRad="95250" dist="95250" dir="2700000">
              <a:schemeClr val="accent1">
                <a:alpha val="60000"/>
              </a:schemeClr>
            </a:outerShdw>
          </a:effectLst>
        </p:spPr>
      </p:pic>
      <p:sp>
        <p:nvSpPr>
          <p:cNvPr id="7" name="AutoShape 7"/>
          <p:cNvSpPr/>
          <p:nvPr>
            <p:custDataLst>
              <p:tags r:id="rId7"/>
            </p:custDataLst>
          </p:nvPr>
        </p:nvSpPr>
        <p:spPr>
          <a:xfrm>
            <a:off x="679450" y="4724400"/>
            <a:ext cx="4673600" cy="1424940"/>
          </a:xfrm>
          <a:prstGeom prst="roundRect">
            <a:avLst>
              <a:gd name="adj" fmla="val 16667"/>
            </a:avLst>
          </a:prstGeom>
          <a:solidFill>
            <a:srgbClr val="DCFAD0">
              <a:alpha val="100000"/>
            </a:srgbClr>
          </a:solidFill>
        </p:spPr>
      </p:sp>
      <p:sp>
        <p:nvSpPr>
          <p:cNvPr id="8" name="TextBox 8"/>
          <p:cNvSpPr txBox="1"/>
          <p:nvPr>
            <p:custDataLst>
              <p:tags r:id="rId8"/>
            </p:custDataLst>
          </p:nvPr>
        </p:nvSpPr>
        <p:spPr>
          <a:xfrm>
            <a:off x="1128165" y="5181452"/>
            <a:ext cx="3954780" cy="605790"/>
          </a:xfrm>
          <a:prstGeom prst="rect">
            <a:avLst/>
          </a:prstGeom>
        </p:spPr>
        <p:txBody>
          <a:bodyPr vert="horz" wrap="square" lIns="91440" tIns="45720" rIns="91440" bIns="45720" rtlCol="0" anchor="t" anchorCtr="0">
            <a:spAutoFit/>
          </a:bodyPr>
          <a:lstStyle/>
          <a:p>
            <a:pPr>
              <a:lnSpc>
                <a:spcPct val="100000"/>
              </a:lnSpc>
              <a:spcBef>
                <a:spcPts val="375"/>
              </a:spcBef>
            </a:pPr>
            <a:r>
              <a:rPr lang="en-US" sz="1600" b="1" i="1">
                <a:solidFill>
                  <a:schemeClr val="accent6">
                    <a:alpha val="100000"/>
                  </a:schemeClr>
                </a:solidFill>
                <a:latin typeface="微软雅黑" panose="020B0503020204020204" charset="-122"/>
                <a:ea typeface="微软雅黑" panose="020B0503020204020204" charset="-122"/>
                <a:cs typeface="微软雅黑" panose="020B0503020204020204" charset="-122"/>
              </a:rPr>
              <a:t>允许用户根据实际需求设置各项监测指标的阈值，即三种气体的浓度。</a:t>
            </a:r>
            <a:endParaRPr lang="en-US" sz="1600" b="1" i="1">
              <a:solidFill>
                <a:schemeClr val="accent6">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9" name="AutoShape 9"/>
          <p:cNvSpPr/>
          <p:nvPr>
            <p:custDataLst>
              <p:tags r:id="rId9"/>
            </p:custDataLst>
          </p:nvPr>
        </p:nvSpPr>
        <p:spPr>
          <a:xfrm>
            <a:off x="6927344" y="4724141"/>
            <a:ext cx="4638312" cy="1501913"/>
          </a:xfrm>
          <a:prstGeom prst="roundRect">
            <a:avLst>
              <a:gd name="adj" fmla="val 16667"/>
            </a:avLst>
          </a:prstGeom>
          <a:solidFill>
            <a:srgbClr val="DCFAD0">
              <a:alpha val="100000"/>
            </a:srgbClr>
          </a:solidFill>
        </p:spPr>
      </p:sp>
      <p:sp>
        <p:nvSpPr>
          <p:cNvPr id="10" name="TextBox 10"/>
          <p:cNvSpPr txBox="1"/>
          <p:nvPr>
            <p:custDataLst>
              <p:tags r:id="rId10"/>
            </p:custDataLst>
          </p:nvPr>
        </p:nvSpPr>
        <p:spPr>
          <a:xfrm>
            <a:off x="7443051" y="5105528"/>
            <a:ext cx="3607177" cy="605790"/>
          </a:xfrm>
          <a:prstGeom prst="rect">
            <a:avLst/>
          </a:prstGeom>
          <a:noFill/>
        </p:spPr>
        <p:txBody>
          <a:bodyPr vert="horz" wrap="square" lIns="91440" tIns="45720" rIns="91440" bIns="45720" rtlCol="0" anchor="t" anchorCtr="0">
            <a:spAutoFit/>
          </a:bodyPr>
          <a:lstStyle/>
          <a:p>
            <a:pPr algn="l">
              <a:lnSpc>
                <a:spcPct val="100000"/>
              </a:lnSpc>
              <a:spcBef>
                <a:spcPts val="375"/>
              </a:spcBef>
            </a:pPr>
            <a:r>
              <a:rPr lang="en-US" sz="1600" b="1" i="1">
                <a:solidFill>
                  <a:srgbClr val="24443F">
                    <a:alpha val="100000"/>
                  </a:srgbClr>
                </a:solidFill>
                <a:latin typeface="微软雅黑" panose="020B0503020204020204" charset="-122"/>
                <a:ea typeface="微软雅黑" panose="020B0503020204020204" charset="-122"/>
                <a:cs typeface="微软雅黑" panose="020B0503020204020204" charset="-122"/>
              </a:rPr>
              <a:t>为系统管理员提供管理界面，支持用户权限管理、角色分配等功能。</a:t>
            </a:r>
            <a:endParaRPr lang="en-US" sz="1600" b="1" i="1">
              <a:solidFill>
                <a:srgbClr val="24443F">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TextBox 2"/>
          <p:cNvSpPr txBox="1"/>
          <p:nvPr>
            <p:custDataLst>
              <p:tags r:id="rId11"/>
            </p:custDataLst>
          </p:nvPr>
        </p:nvSpPr>
        <p:spPr>
          <a:xfrm>
            <a:off x="2039620" y="3960495"/>
            <a:ext cx="2025015" cy="501015"/>
          </a:xfrm>
          <a:prstGeom prst="rect">
            <a:avLst/>
          </a:prstGeom>
          <a:noFill/>
        </p:spPr>
        <p:txBody>
          <a:bodyPr vert="horz" wrap="square" lIns="91440" tIns="45720" rIns="91440" bIns="45720" rtlCol="0" anchor="ctr" anchorCtr="0">
            <a:noAutofit/>
          </a:bodyPr>
          <a:lstStyle/>
          <a:p>
            <a:pPr algn="l">
              <a:lnSpc>
                <a:spcPct val="80000"/>
              </a:lnSpc>
            </a:pPr>
            <a:r>
              <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rPr>
              <a:t>阈值设置界面</a:t>
            </a:r>
            <a:endParaRPr lang="en-US" sz="24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4356100" y="2971800"/>
            <a:ext cx="3554730" cy="339090"/>
          </a:xfrm>
          <a:prstGeom prst="rect">
            <a:avLst/>
          </a:prstGeom>
          <a:noFill/>
        </p:spPr>
        <p:txBody>
          <a:bodyPr vert="horz" wrap="square" lIns="91440" tIns="45720" rIns="91440" bIns="45720" rtlCol="0" anchor="t" anchorCtr="0">
            <a:spAutoFit/>
          </a:bodyPr>
          <a:lstStyle/>
          <a:p>
            <a:pPr algn="l">
              <a:lnSpc>
                <a:spcPct val="80000"/>
              </a:lnSpc>
            </a:pPr>
            <a:r>
              <a:rPr lang="en-US" sz="300">
                <a:solidFill>
                  <a:schemeClr val="lt1">
                    <a:alpha val="0"/>
                  </a:schemeClr>
                </a:solidFill>
                <a:latin typeface="微软雅黑" panose="020B0503020204020204" charset="-122"/>
                <a:ea typeface="微软雅黑" panose="020B0503020204020204" charset="-122"/>
                <a:cs typeface="微软雅黑" panose="020B0503020204020204" charset="-122"/>
              </a:rPr>
              <a:t>感谢您下载包图网平台上提供的</a:t>
            </a:r>
            <a:r>
              <a:rPr lang="en-US" sz="300">
                <a:solidFill>
                  <a:schemeClr val="lt1">
                    <a:alpha val="0"/>
                  </a:schemeClr>
                </a:solidFill>
                <a:latin typeface="微软雅黑" panose="020B0503020204020204" charset="-122"/>
                <a:ea typeface="微软雅黑" panose="020B0503020204020204" charset="-122"/>
                <a:cs typeface="微软雅黑" panose="020B0503020204020204" charset="-122"/>
              </a:rPr>
              <a:t>PPT</a:t>
            </a:r>
            <a:r>
              <a:rPr lang="en-US" sz="300">
                <a:solidFill>
                  <a:schemeClr val="lt1">
                    <a:alpha val="0"/>
                  </a:schemeClr>
                </a:solidFill>
                <a:latin typeface="微软雅黑" panose="020B0503020204020204" charset="-122"/>
                <a:ea typeface="微软雅黑" panose="020B0503020204020204" charset="-122"/>
                <a:cs typeface="微软雅黑" panose="020B0503020204020204" charset="-122"/>
              </a:rPr>
              <a:t>作品，为了您和包图网以及原创作者的利益，请勿复制、传播、销售，否则将承担法律责任！包图网将对作品进行维权，按照传播下载次数进行十倍的索取赔偿！</a:t>
            </a:r>
            <a:endParaRPr lang="en-US" sz="300">
              <a:solidFill>
                <a:schemeClr val="lt1">
                  <a:alpha val="0"/>
                </a:schemeClr>
              </a:solidFill>
              <a:latin typeface="微软雅黑" panose="020B0503020204020204" charset="-122"/>
              <a:ea typeface="微软雅黑" panose="020B0503020204020204" charset="-122"/>
              <a:cs typeface="微软雅黑" panose="020B0503020204020204" charset="-122"/>
            </a:endParaRPr>
          </a:p>
          <a:p>
            <a:pPr algn="l">
              <a:lnSpc>
                <a:spcPct val="80000"/>
              </a:lnSpc>
            </a:pPr>
            <a:r>
              <a:rPr lang="en-US" sz="600">
                <a:solidFill>
                  <a:schemeClr val="lt1">
                    <a:alpha val="0"/>
                  </a:schemeClr>
                </a:solidFill>
                <a:latin typeface="微软雅黑" panose="020B0503020204020204" charset="-122"/>
                <a:ea typeface="微软雅黑" panose="020B0503020204020204" charset="-122"/>
                <a:cs typeface="微软雅黑" panose="020B0503020204020204" charset="-122"/>
              </a:rPr>
              <a:t>ibaotu.com</a:t>
            </a:r>
            <a:endParaRPr lang="en-US" sz="600">
              <a:solidFill>
                <a:schemeClr val="lt1">
                  <a:alpha val="0"/>
                </a:schemeClr>
              </a:solidFill>
              <a:latin typeface="微软雅黑" panose="020B0503020204020204" charset="-122"/>
              <a:ea typeface="微软雅黑" panose="020B0503020204020204" charset="-122"/>
              <a:cs typeface="微软雅黑" panose="020B0503020204020204" charset="-122"/>
            </a:endParaRPr>
          </a:p>
        </p:txBody>
      </p:sp>
      <p:sp>
        <p:nvSpPr>
          <p:cNvPr id="3" name="Freeform 3"/>
          <p:cNvSpPr/>
          <p:nvPr/>
        </p:nvSpPr>
        <p:spPr>
          <a:xfrm>
            <a:off x="7431214" y="3452908"/>
            <a:ext cx="359093" cy="900589"/>
          </a:xfrm>
          <a:custGeom>
            <a:avLst/>
            <a:gdLst/>
            <a:ahLst/>
            <a:cxnLst/>
            <a:rect l="l" t="t" r="r" b="b"/>
            <a:pathLst>
              <a:path w="224" h="563">
                <a:moveTo>
                  <a:pt x="0" y="346"/>
                </a:moveTo>
                <a:cubicBezTo>
                  <a:pt x="73" y="563"/>
                  <a:pt x="73" y="563"/>
                  <a:pt x="73" y="563"/>
                </a:cubicBezTo>
                <a:cubicBezTo>
                  <a:pt x="224" y="391"/>
                  <a:pt x="224" y="391"/>
                  <a:pt x="224" y="391"/>
                </a:cubicBezTo>
                <a:cubicBezTo>
                  <a:pt x="149" y="376"/>
                  <a:pt x="149" y="376"/>
                  <a:pt x="149" y="376"/>
                </a:cubicBezTo>
                <a:cubicBezTo>
                  <a:pt x="160" y="250"/>
                  <a:pt x="146" y="121"/>
                  <a:pt x="108" y="0"/>
                </a:cubicBezTo>
                <a:cubicBezTo>
                  <a:pt x="35" y="24"/>
                  <a:pt x="35" y="24"/>
                  <a:pt x="35" y="24"/>
                </a:cubicBezTo>
                <a:cubicBezTo>
                  <a:pt x="69" y="132"/>
                  <a:pt x="82" y="247"/>
                  <a:pt x="73" y="361"/>
                </a:cubicBezTo>
                <a:lnTo>
                  <a:pt x="0" y="346"/>
                </a:lnTo>
              </a:path>
            </a:pathLst>
          </a:custGeom>
          <a:solidFill>
            <a:schemeClr val="accent1">
              <a:alpha val="100000"/>
            </a:schemeClr>
          </a:solidFill>
        </p:spPr>
      </p:sp>
      <p:sp>
        <p:nvSpPr>
          <p:cNvPr id="4" name="Freeform 4"/>
          <p:cNvSpPr/>
          <p:nvPr/>
        </p:nvSpPr>
        <p:spPr>
          <a:xfrm>
            <a:off x="5712238" y="2275522"/>
            <a:ext cx="902113" cy="359093"/>
          </a:xfrm>
          <a:custGeom>
            <a:avLst/>
            <a:gdLst/>
            <a:ahLst/>
            <a:cxnLst/>
            <a:rect l="l" t="t" r="r" b="b"/>
            <a:pathLst>
              <a:path w="563" h="224">
                <a:moveTo>
                  <a:pt x="361" y="151"/>
                </a:moveTo>
                <a:cubicBezTo>
                  <a:pt x="346" y="224"/>
                  <a:pt x="346" y="224"/>
                  <a:pt x="346" y="224"/>
                </a:cubicBezTo>
                <a:cubicBezTo>
                  <a:pt x="563" y="151"/>
                  <a:pt x="563" y="151"/>
                  <a:pt x="563" y="151"/>
                </a:cubicBezTo>
                <a:cubicBezTo>
                  <a:pt x="391" y="0"/>
                  <a:pt x="391" y="0"/>
                  <a:pt x="391" y="0"/>
                </a:cubicBezTo>
                <a:cubicBezTo>
                  <a:pt x="376" y="75"/>
                  <a:pt x="376" y="75"/>
                  <a:pt x="376" y="75"/>
                </a:cubicBezTo>
                <a:cubicBezTo>
                  <a:pt x="250" y="64"/>
                  <a:pt x="121" y="78"/>
                  <a:pt x="0" y="116"/>
                </a:cubicBezTo>
                <a:cubicBezTo>
                  <a:pt x="23" y="189"/>
                  <a:pt x="23" y="189"/>
                  <a:pt x="23" y="189"/>
                </a:cubicBezTo>
                <a:cubicBezTo>
                  <a:pt x="131" y="155"/>
                  <a:pt x="247" y="142"/>
                  <a:pt x="361" y="151"/>
                </a:cubicBezTo>
              </a:path>
            </a:pathLst>
          </a:custGeom>
          <a:solidFill>
            <a:schemeClr val="accent1">
              <a:alpha val="100000"/>
            </a:schemeClr>
          </a:solidFill>
        </p:spPr>
      </p:sp>
      <p:sp>
        <p:nvSpPr>
          <p:cNvPr id="5" name="Freeform 5"/>
          <p:cNvSpPr/>
          <p:nvPr/>
        </p:nvSpPr>
        <p:spPr>
          <a:xfrm>
            <a:off x="4419600" y="3452908"/>
            <a:ext cx="359093" cy="900589"/>
          </a:xfrm>
          <a:custGeom>
            <a:avLst/>
            <a:gdLst/>
            <a:ahLst/>
            <a:cxnLst/>
            <a:rect l="l" t="t" r="r" b="b"/>
            <a:pathLst>
              <a:path w="224" h="563">
                <a:moveTo>
                  <a:pt x="116" y="563"/>
                </a:moveTo>
                <a:cubicBezTo>
                  <a:pt x="189" y="540"/>
                  <a:pt x="189" y="540"/>
                  <a:pt x="189" y="540"/>
                </a:cubicBezTo>
                <a:cubicBezTo>
                  <a:pt x="155" y="432"/>
                  <a:pt x="142" y="316"/>
                  <a:pt x="151" y="202"/>
                </a:cubicBezTo>
                <a:cubicBezTo>
                  <a:pt x="224" y="217"/>
                  <a:pt x="224" y="217"/>
                  <a:pt x="224" y="217"/>
                </a:cubicBezTo>
                <a:cubicBezTo>
                  <a:pt x="151" y="0"/>
                  <a:pt x="151" y="0"/>
                  <a:pt x="151" y="0"/>
                </a:cubicBezTo>
                <a:cubicBezTo>
                  <a:pt x="0" y="172"/>
                  <a:pt x="0" y="172"/>
                  <a:pt x="0" y="172"/>
                </a:cubicBezTo>
                <a:cubicBezTo>
                  <a:pt x="75" y="187"/>
                  <a:pt x="75" y="187"/>
                  <a:pt x="75" y="187"/>
                </a:cubicBezTo>
                <a:cubicBezTo>
                  <a:pt x="64" y="313"/>
                  <a:pt x="78" y="442"/>
                  <a:pt x="116" y="563"/>
                </a:cubicBezTo>
              </a:path>
            </a:pathLst>
          </a:custGeom>
          <a:solidFill>
            <a:schemeClr val="accent1">
              <a:alpha val="100000"/>
            </a:schemeClr>
          </a:solidFill>
        </p:spPr>
      </p:sp>
      <p:sp>
        <p:nvSpPr>
          <p:cNvPr id="6" name="Freeform 6"/>
          <p:cNvSpPr/>
          <p:nvPr/>
        </p:nvSpPr>
        <p:spPr>
          <a:xfrm>
            <a:off x="5712238" y="5287137"/>
            <a:ext cx="902113" cy="359093"/>
          </a:xfrm>
          <a:custGeom>
            <a:avLst/>
            <a:gdLst/>
            <a:ahLst/>
            <a:cxnLst/>
            <a:rect l="l" t="t" r="r" b="b"/>
            <a:pathLst>
              <a:path w="563" h="224">
                <a:moveTo>
                  <a:pt x="202" y="73"/>
                </a:moveTo>
                <a:cubicBezTo>
                  <a:pt x="217" y="0"/>
                  <a:pt x="217" y="0"/>
                  <a:pt x="217" y="0"/>
                </a:cubicBezTo>
                <a:cubicBezTo>
                  <a:pt x="0" y="73"/>
                  <a:pt x="0" y="73"/>
                  <a:pt x="0" y="73"/>
                </a:cubicBezTo>
                <a:cubicBezTo>
                  <a:pt x="172" y="224"/>
                  <a:pt x="172" y="224"/>
                  <a:pt x="172" y="224"/>
                </a:cubicBezTo>
                <a:cubicBezTo>
                  <a:pt x="187" y="149"/>
                  <a:pt x="187" y="149"/>
                  <a:pt x="187" y="149"/>
                </a:cubicBezTo>
                <a:cubicBezTo>
                  <a:pt x="216" y="151"/>
                  <a:pt x="244" y="153"/>
                  <a:pt x="273" y="153"/>
                </a:cubicBezTo>
                <a:cubicBezTo>
                  <a:pt x="371" y="153"/>
                  <a:pt x="470" y="138"/>
                  <a:pt x="563" y="108"/>
                </a:cubicBezTo>
                <a:cubicBezTo>
                  <a:pt x="540" y="35"/>
                  <a:pt x="540" y="35"/>
                  <a:pt x="540" y="35"/>
                </a:cubicBezTo>
                <a:cubicBezTo>
                  <a:pt x="431" y="69"/>
                  <a:pt x="316" y="82"/>
                  <a:pt x="202" y="73"/>
                </a:cubicBezTo>
              </a:path>
            </a:pathLst>
          </a:custGeom>
          <a:solidFill>
            <a:schemeClr val="accent1">
              <a:alpha val="100000"/>
            </a:schemeClr>
          </a:solidFill>
        </p:spPr>
      </p:sp>
      <p:pic>
        <p:nvPicPr>
          <p:cNvPr id="7" name="Picture 7"/>
          <p:cNvPicPr>
            <a:picLocks noChangeAspect="1"/>
          </p:cNvPicPr>
          <p:nvPr/>
        </p:nvPicPr>
        <p:blipFill>
          <a:blip r:embed="rId2"/>
          <a:srcRect l="1453" r="1453"/>
          <a:stretch>
            <a:fillRect/>
          </a:stretch>
        </p:blipFill>
        <p:spPr>
          <a:xfrm>
            <a:off x="4115000" y="1556676"/>
            <a:ext cx="1325998" cy="1584669"/>
          </a:xfrm>
          <a:prstGeom prst="rect">
            <a:avLst/>
          </a:prstGeom>
          <a:ln w="19050">
            <a:solidFill>
              <a:schemeClr val="accent1"/>
            </a:solidFill>
            <a:prstDash val="solid"/>
          </a:ln>
        </p:spPr>
      </p:pic>
      <p:pic>
        <p:nvPicPr>
          <p:cNvPr id="8" name="Picture 8"/>
          <p:cNvPicPr>
            <a:picLocks noChangeAspect="1"/>
          </p:cNvPicPr>
          <p:nvPr/>
        </p:nvPicPr>
        <p:blipFill>
          <a:blip r:embed="rId3"/>
          <a:srcRect t="4624" b="37572"/>
          <a:stretch>
            <a:fillRect/>
          </a:stretch>
        </p:blipFill>
        <p:spPr>
          <a:xfrm>
            <a:off x="6886247" y="1588770"/>
            <a:ext cx="1242060" cy="1552575"/>
          </a:xfrm>
          <a:prstGeom prst="rect">
            <a:avLst/>
          </a:prstGeom>
          <a:ln w="19050">
            <a:solidFill>
              <a:schemeClr val="accent1"/>
            </a:solidFill>
            <a:prstDash val="solid"/>
          </a:ln>
        </p:spPr>
      </p:pic>
      <p:pic>
        <p:nvPicPr>
          <p:cNvPr id="9" name="Picture 9"/>
          <p:cNvPicPr>
            <a:picLocks noChangeAspect="1"/>
          </p:cNvPicPr>
          <p:nvPr/>
        </p:nvPicPr>
        <p:blipFill>
          <a:blip r:embed="rId4"/>
          <a:srcRect t="18023" b="23837"/>
          <a:stretch>
            <a:fillRect/>
          </a:stretch>
        </p:blipFill>
        <p:spPr>
          <a:xfrm>
            <a:off x="6989731" y="4567820"/>
            <a:ext cx="1242060" cy="1552575"/>
          </a:xfrm>
          <a:prstGeom prst="rect">
            <a:avLst/>
          </a:prstGeom>
          <a:ln w="19050">
            <a:solidFill>
              <a:schemeClr val="accent1"/>
            </a:solidFill>
            <a:prstDash val="solid"/>
          </a:ln>
        </p:spPr>
      </p:pic>
      <p:pic>
        <p:nvPicPr>
          <p:cNvPr id="10" name="Picture 10"/>
          <p:cNvPicPr>
            <a:picLocks noChangeAspect="1"/>
          </p:cNvPicPr>
          <p:nvPr/>
        </p:nvPicPr>
        <p:blipFill>
          <a:blip r:embed="rId5"/>
          <a:srcRect t="3468" b="38728"/>
          <a:stretch>
            <a:fillRect/>
          </a:stretch>
        </p:blipFill>
        <p:spPr>
          <a:xfrm>
            <a:off x="4073725" y="4567820"/>
            <a:ext cx="1242060" cy="1552575"/>
          </a:xfrm>
          <a:prstGeom prst="rect">
            <a:avLst/>
          </a:prstGeom>
          <a:ln w="19050">
            <a:solidFill>
              <a:schemeClr val="accent1"/>
            </a:solidFill>
            <a:prstDash val="solid"/>
          </a:ln>
        </p:spPr>
      </p:pic>
      <p:sp>
        <p:nvSpPr>
          <p:cNvPr id="11" name="TextBox 11"/>
          <p:cNvSpPr txBox="1"/>
          <p:nvPr/>
        </p:nvSpPr>
        <p:spPr>
          <a:xfrm>
            <a:off x="952500" y="-152474"/>
            <a:ext cx="11239500" cy="1797685"/>
          </a:xfrm>
          <a:prstGeom prst="rect">
            <a:avLst/>
          </a:prstGeom>
          <a:noFill/>
        </p:spPr>
        <p:txBody>
          <a:bodyPr vert="horz" wrap="square" lIns="123825" tIns="123825" rIns="57150" bIns="123825" rtlCol="0" anchor="t" anchorCtr="0">
            <a:spAutoFit/>
          </a:bodyPr>
          <a:lstStyle/>
          <a:p>
            <a:pPr algn="l">
              <a:lnSpc>
                <a:spcPct val="140000"/>
              </a:lnSpc>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三、应用效果</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（七）</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小程序端界面</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nvSpPr>
        <p:spPr>
          <a:xfrm>
            <a:off x="952594" y="1676471"/>
            <a:ext cx="2915611" cy="490334"/>
          </a:xfrm>
          <a:prstGeom prst="rect">
            <a:avLst/>
          </a:prstGeom>
        </p:spPr>
        <p:txBody>
          <a:bodyPr vert="horz" wrap="square" lIns="66008" tIns="33052" rIns="66008" bIns="33052" rtlCol="0" anchor="ctr" anchorCtr="0">
            <a:norm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智能碳</a:t>
            </a:r>
            <a:r>
              <a:rPr lang="zh-CN" alt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排放</a:t>
            </a: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系统登入页</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nvSpPr>
        <p:spPr>
          <a:xfrm>
            <a:off x="991329" y="2275199"/>
            <a:ext cx="2915611" cy="1465476"/>
          </a:xfrm>
          <a:prstGeom prst="rect">
            <a:avLst/>
          </a:prstGeom>
          <a:noFill/>
        </p:spPr>
        <p:txBody>
          <a:bodyPr vert="horz" wrap="square" lIns="66008" tIns="33052" rIns="66008" bIns="33052" rtlCol="0" anchor="t" anchorCtr="0">
            <a:normAutofit/>
          </a:bodyPr>
          <a:lstStyle/>
          <a:p>
            <a:pPr algn="ctr">
              <a:lnSpc>
                <a:spcPct val="140000"/>
              </a:lnSpc>
            </a:pPr>
            <a:r>
              <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rPr>
              <a:t>智能碳排放监测系统小程序首页，集成用户名和密码输入字段。</a:t>
            </a:r>
            <a:endPar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nvSpPr>
        <p:spPr>
          <a:xfrm>
            <a:off x="980534" y="3911834"/>
            <a:ext cx="2915611" cy="490334"/>
          </a:xfrm>
          <a:prstGeom prst="rect">
            <a:avLst/>
          </a:prstGeom>
        </p:spPr>
        <p:txBody>
          <a:bodyPr vert="horz" wrap="square" lIns="66008" tIns="33052" rIns="66008" bIns="33052" rtlCol="0" anchor="ctr" anchorCtr="0">
            <a:norm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报警记录界面</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5" name="TextBox 15"/>
          <p:cNvSpPr txBox="1"/>
          <p:nvPr/>
        </p:nvSpPr>
        <p:spPr>
          <a:xfrm>
            <a:off x="980534" y="4481987"/>
            <a:ext cx="2915611" cy="1465476"/>
          </a:xfrm>
          <a:prstGeom prst="rect">
            <a:avLst/>
          </a:prstGeom>
        </p:spPr>
        <p:txBody>
          <a:bodyPr vert="horz" wrap="square" lIns="66008" tIns="33052" rIns="66008" bIns="33052" rtlCol="0" anchor="t" anchorCtr="0">
            <a:norm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若气体浓度超过设定的阈值，页面会实时接收并展示报警信息。</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6" name="TextBox 16"/>
          <p:cNvSpPr txBox="1"/>
          <p:nvPr/>
        </p:nvSpPr>
        <p:spPr>
          <a:xfrm>
            <a:off x="8399973" y="1646480"/>
            <a:ext cx="2915611" cy="490334"/>
          </a:xfrm>
          <a:prstGeom prst="rect">
            <a:avLst/>
          </a:prstGeom>
        </p:spPr>
        <p:txBody>
          <a:bodyPr vert="horz" wrap="square" lIns="66008" tIns="33052" rIns="66008" bIns="33052" rtlCol="0" anchor="ctr" anchorCtr="0">
            <a:norm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智能碳</a:t>
            </a:r>
            <a:r>
              <a:rPr lang="zh-CN" alt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排放</a:t>
            </a: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系统主页</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7" name="TextBox 17"/>
          <p:cNvSpPr txBox="1"/>
          <p:nvPr/>
        </p:nvSpPr>
        <p:spPr>
          <a:xfrm>
            <a:off x="8419658" y="2162023"/>
            <a:ext cx="2915611" cy="1465476"/>
          </a:xfrm>
          <a:prstGeom prst="rect">
            <a:avLst/>
          </a:prstGeom>
        </p:spPr>
        <p:txBody>
          <a:bodyPr vert="horz" wrap="square" lIns="66008" tIns="33052" rIns="66008" bIns="33052" rtlCol="0" anchor="t" anchorCtr="0">
            <a:norm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用户登入后跳转至系统主页，展示所有工厂信息。</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8" name="TextBox 18"/>
          <p:cNvSpPr txBox="1"/>
          <p:nvPr/>
        </p:nvSpPr>
        <p:spPr>
          <a:xfrm>
            <a:off x="8419658" y="3909784"/>
            <a:ext cx="2915611" cy="490334"/>
          </a:xfrm>
          <a:prstGeom prst="rect">
            <a:avLst/>
          </a:prstGeom>
        </p:spPr>
        <p:txBody>
          <a:bodyPr vert="horz" wrap="square" lIns="66008" tIns="33052" rIns="66008" bIns="33052" rtlCol="0" anchor="ctr" anchorCtr="0">
            <a:normAutofit/>
          </a:bodyPr>
          <a:lstStyle/>
          <a:p>
            <a:pPr algn="ctr">
              <a:lnSpc>
                <a:spcPct val="120000"/>
              </a:lnSpc>
            </a:pPr>
            <a:r>
              <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rPr>
              <a:t>工厂信息界面</a:t>
            </a:r>
            <a:endParaRPr lang="en-US" sz="2000" b="1">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9" name="TextBox 19"/>
          <p:cNvSpPr txBox="1"/>
          <p:nvPr/>
        </p:nvSpPr>
        <p:spPr>
          <a:xfrm>
            <a:off x="8419658" y="4479937"/>
            <a:ext cx="2915611" cy="1465476"/>
          </a:xfrm>
          <a:prstGeom prst="rect">
            <a:avLst/>
          </a:prstGeom>
        </p:spPr>
        <p:txBody>
          <a:bodyPr vert="horz" wrap="square" lIns="66008" tIns="33052" rIns="66008" bIns="33052" rtlCol="0" anchor="t" anchorCtr="0">
            <a:normAutofit/>
          </a:bodyPr>
          <a:lstStyle/>
          <a:p>
            <a:pPr algn="ctr">
              <a:lnSpc>
                <a:spcPct val="140000"/>
              </a:lnSpc>
            </a:pPr>
            <a:r>
              <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rPr>
              <a:t>详细展示工厂中各种气体的浓度、流速、排量及月总排放量，这里主要展示二氧化碳信息。</a:t>
            </a:r>
            <a:endParaRPr lang="en-US" sz="1500">
              <a:solidFill>
                <a:schemeClr val="dk1">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1060618" y="1926564"/>
            <a:ext cx="10484808" cy="1798058"/>
          </a:xfrm>
          <a:prstGeom prst="rect">
            <a:avLst/>
          </a:prstGeom>
          <a:noFill/>
        </p:spPr>
        <p:txBody>
          <a:bodyPr vert="horz" wrap="square" lIns="114300" tIns="57150" rIns="114300" bIns="57150" rtlCol="0" anchor="t" anchorCtr="0">
            <a:normAutofit/>
          </a:bodyPr>
          <a:lstStyle/>
          <a:p>
            <a:pPr algn="l">
              <a:lnSpc>
                <a:spcPct val="120000"/>
              </a:lnSpc>
            </a:pPr>
            <a:r>
              <a:rPr lang="zh-CN" alt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四、</a:t>
            </a:r>
            <a:r>
              <a:rPr 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创新</a:t>
            </a:r>
            <a:r>
              <a:rPr lang="zh-CN" altLang="en-US" sz="5700">
                <a:solidFill>
                  <a:srgbClr val="669B51">
                    <a:alpha val="100000"/>
                  </a:srgbClr>
                </a:solidFill>
                <a:latin typeface="微软雅黑" panose="020B0503020204020204" charset="-122"/>
                <a:ea typeface="微软雅黑" panose="020B0503020204020204" charset="-122"/>
                <a:cs typeface="华文琥珀" panose="02010800040101010101" charset="-122"/>
              </a:rPr>
              <a:t>点</a:t>
            </a:r>
            <a:endParaRPr lang="zh-CN" altLang="en-US" sz="5700">
              <a:solidFill>
                <a:srgbClr val="669B51">
                  <a:alpha val="100000"/>
                </a:srgbClr>
              </a:solidFill>
              <a:latin typeface="微软雅黑" panose="020B0503020204020204" charset="-122"/>
              <a:ea typeface="微软雅黑" panose="020B0503020204020204" charset="-122"/>
              <a:cs typeface="华文琥珀" panose="0201080004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AutoShape 2"/>
          <p:cNvSpPr/>
          <p:nvPr>
            <p:custDataLst>
              <p:tags r:id="rId2"/>
            </p:custDataLst>
          </p:nvPr>
        </p:nvSpPr>
        <p:spPr>
          <a:xfrm>
            <a:off x="6214085" y="1723373"/>
            <a:ext cx="5442329" cy="1932421"/>
          </a:xfrm>
          <a:prstGeom prst="roundRect">
            <a:avLst>
              <a:gd name="adj" fmla="val 12997"/>
            </a:avLst>
          </a:prstGeom>
          <a:solidFill>
            <a:schemeClr val="lt2">
              <a:alpha val="100000"/>
            </a:schemeClr>
          </a:solidFill>
          <a:ln w="19050">
            <a:solidFill>
              <a:schemeClr val="accent2">
                <a:alpha val="100000"/>
              </a:schemeClr>
            </a:solidFill>
            <a:prstDash val="solid"/>
          </a:ln>
        </p:spPr>
      </p:sp>
      <p:sp>
        <p:nvSpPr>
          <p:cNvPr id="3" name="AutoShape 3"/>
          <p:cNvSpPr/>
          <p:nvPr>
            <p:custDataLst>
              <p:tags r:id="rId3"/>
            </p:custDataLst>
          </p:nvPr>
        </p:nvSpPr>
        <p:spPr>
          <a:xfrm>
            <a:off x="604498" y="1723373"/>
            <a:ext cx="5442329" cy="1932421"/>
          </a:xfrm>
          <a:prstGeom prst="roundRect">
            <a:avLst>
              <a:gd name="adj" fmla="val 12997"/>
            </a:avLst>
          </a:prstGeom>
          <a:solidFill>
            <a:schemeClr val="lt2">
              <a:alpha val="100000"/>
            </a:schemeClr>
          </a:solidFill>
          <a:ln w="19050">
            <a:solidFill>
              <a:schemeClr val="accent2">
                <a:alpha val="100000"/>
              </a:schemeClr>
            </a:solidFill>
            <a:prstDash val="solid"/>
          </a:ln>
        </p:spPr>
      </p:sp>
      <p:sp>
        <p:nvSpPr>
          <p:cNvPr id="4" name="TextBox 4"/>
          <p:cNvSpPr txBox="1"/>
          <p:nvPr>
            <p:custDataLst>
              <p:tags r:id="rId4"/>
            </p:custDataLst>
          </p:nvPr>
        </p:nvSpPr>
        <p:spPr>
          <a:xfrm>
            <a:off x="1148080" y="2008505"/>
            <a:ext cx="3905885" cy="963930"/>
          </a:xfrm>
          <a:prstGeom prst="rect">
            <a:avLst/>
          </a:prstGeom>
        </p:spPr>
        <p:txBody>
          <a:bodyPr vert="horz" wrap="square" lIns="114300" tIns="57150" rIns="114300" bIns="57150" rtlCol="0" anchor="t" anchorCtr="0">
            <a:noAutofit/>
          </a:bodyPr>
          <a:lstStyle/>
          <a:p>
            <a:pPr>
              <a:lnSpc>
                <a:spcPct val="100000"/>
              </a:lnSpc>
              <a:spcBef>
                <a:spcPts val="375"/>
              </a:spcBef>
            </a:pPr>
            <a:r>
              <a:rPr lang="en-US" sz="1350"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rPr>
              <a:t>系统能够实时监测工业环境中的二氧化碳</a:t>
            </a:r>
            <a:r>
              <a:rPr lang="zh-CN" altLang="en-US" sz="1350"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rPr>
              <a:t>等气体</a:t>
            </a:r>
            <a:r>
              <a:rPr lang="en-US" sz="1350"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rPr>
              <a:t>浓度</a:t>
            </a:r>
            <a:r>
              <a:rPr lang="zh-CN" altLang="en-US" sz="1350"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rPr>
              <a:t>，</a:t>
            </a:r>
            <a:r>
              <a:rPr lang="en-US" sz="1350"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rPr>
              <a:t>空气流速等关键参数</a:t>
            </a:r>
            <a:r>
              <a:rPr lang="zh-CN" altLang="en-US" sz="1350"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rPr>
              <a:t>，</a:t>
            </a:r>
            <a:r>
              <a:rPr lang="en-US" sz="1350" b="1">
                <a:solidFill>
                  <a:srgbClr val="425941">
                    <a:alpha val="100000"/>
                  </a:srgbClr>
                </a:solidFill>
                <a:latin typeface="微软雅黑" panose="020B0503020204020204" charset="-122"/>
                <a:ea typeface="微软雅黑" panose="020B0503020204020204" charset="-122"/>
                <a:cs typeface="宋体" panose="02010600030101010101" pitchFamily="2" charset="-122"/>
                <a:sym typeface="+mn-ea"/>
              </a:rPr>
              <a:t>对收集到的数据进行统计分析，并以图表形式展示，帮助用户发现数据规律和趋势。</a:t>
            </a:r>
            <a:endParaRPr lang="zh-CN" altLang="en-US" sz="1350" b="1">
              <a:solidFill>
                <a:schemeClr val="accent5">
                  <a:lumMod val="75000"/>
                  <a:alpha val="100000"/>
                </a:schemeClr>
              </a:solidFill>
              <a:latin typeface="微软雅黑" panose="020B0503020204020204" charset="-122"/>
              <a:ea typeface="微软雅黑" panose="020B0503020204020204" charset="-122"/>
              <a:cs typeface="宋体" panose="02010600030101010101" pitchFamily="2" charset="-122"/>
            </a:endParaRPr>
          </a:p>
        </p:txBody>
      </p:sp>
      <p:sp>
        <p:nvSpPr>
          <p:cNvPr id="5" name="TextBox 5"/>
          <p:cNvSpPr txBox="1"/>
          <p:nvPr>
            <p:custDataLst>
              <p:tags r:id="rId5"/>
            </p:custDataLst>
          </p:nvPr>
        </p:nvSpPr>
        <p:spPr>
          <a:xfrm>
            <a:off x="7306370" y="2008581"/>
            <a:ext cx="3905833" cy="802403"/>
          </a:xfrm>
          <a:prstGeom prst="rect">
            <a:avLst/>
          </a:prstGeom>
          <a:noFill/>
        </p:spPr>
        <p:txBody>
          <a:bodyPr vert="horz" wrap="square" lIns="114300" tIns="57150" rIns="114300" bIns="57150" rtlCol="0" anchor="t" anchorCtr="0">
            <a:noAutofit/>
          </a:bodyPr>
          <a:lstStyle/>
          <a:p>
            <a:pPr algn="l">
              <a:lnSpc>
                <a:spcPct val="100000"/>
              </a:lnSpc>
              <a:spcBef>
                <a:spcPts val="375"/>
              </a:spcBef>
            </a:pPr>
            <a:r>
              <a:rPr lang="zh-CN" altLang="en-US" sz="1350" b="1">
                <a:solidFill>
                  <a:srgbClr val="425941">
                    <a:alpha val="100000"/>
                  </a:srgbClr>
                </a:solidFill>
                <a:latin typeface="微软雅黑" panose="020B0503020204020204" charset="-122"/>
                <a:ea typeface="微软雅黑" panose="020B0503020204020204" charset="-122"/>
                <a:cs typeface="宋体" panose="02010600030101010101" pitchFamily="2" charset="-122"/>
              </a:rPr>
              <a:t>系统采用了物联网终端、</a:t>
            </a:r>
            <a:r>
              <a:rPr lang="en-US" altLang="zh-CN" sz="1350" b="1">
                <a:solidFill>
                  <a:srgbClr val="425941">
                    <a:alpha val="100000"/>
                  </a:srgbClr>
                </a:solidFill>
                <a:latin typeface="微软雅黑" panose="020B0503020204020204" charset="-122"/>
                <a:ea typeface="微软雅黑" panose="020B0503020204020204" charset="-122"/>
                <a:cs typeface="宋体" panose="02010600030101010101" pitchFamily="2" charset="-122"/>
              </a:rPr>
              <a:t>PC</a:t>
            </a:r>
            <a:r>
              <a:rPr lang="zh-CN" altLang="en-US" sz="1350" b="1">
                <a:solidFill>
                  <a:srgbClr val="425941">
                    <a:alpha val="100000"/>
                  </a:srgbClr>
                </a:solidFill>
                <a:latin typeface="微软雅黑" panose="020B0503020204020204" charset="-122"/>
                <a:ea typeface="微软雅黑" panose="020B0503020204020204" charset="-122"/>
                <a:cs typeface="宋体" panose="02010600030101010101" pitchFamily="2" charset="-122"/>
              </a:rPr>
              <a:t>端和小程序端的协同工作，形成了一个高效的多终端协调架构。</a:t>
            </a:r>
            <a:endParaRPr lang="zh-CN" altLang="en-US" sz="1350" b="1">
              <a:solidFill>
                <a:srgbClr val="425941">
                  <a:alpha val="100000"/>
                </a:srgbClr>
              </a:solidFill>
              <a:latin typeface="微软雅黑" panose="020B0503020204020204" charset="-122"/>
              <a:ea typeface="微软雅黑" panose="020B0503020204020204" charset="-122"/>
              <a:cs typeface="宋体" panose="02010600030101010101" pitchFamily="2" charset="-122"/>
            </a:endParaRPr>
          </a:p>
        </p:txBody>
      </p:sp>
      <p:sp>
        <p:nvSpPr>
          <p:cNvPr id="6" name="AutoShape 6"/>
          <p:cNvSpPr/>
          <p:nvPr>
            <p:custDataLst>
              <p:tags r:id="rId6"/>
            </p:custDataLst>
          </p:nvPr>
        </p:nvSpPr>
        <p:spPr>
          <a:xfrm>
            <a:off x="6214085" y="3800472"/>
            <a:ext cx="5442329" cy="1932421"/>
          </a:xfrm>
          <a:prstGeom prst="roundRect">
            <a:avLst>
              <a:gd name="adj" fmla="val 12997"/>
            </a:avLst>
          </a:prstGeom>
          <a:solidFill>
            <a:schemeClr val="lt2">
              <a:alpha val="100000"/>
            </a:schemeClr>
          </a:solidFill>
          <a:ln w="19050">
            <a:solidFill>
              <a:schemeClr val="accent2">
                <a:alpha val="100000"/>
              </a:schemeClr>
            </a:solidFill>
            <a:prstDash val="solid"/>
          </a:ln>
        </p:spPr>
      </p:sp>
      <p:sp>
        <p:nvSpPr>
          <p:cNvPr id="7" name="AutoShape 7"/>
          <p:cNvSpPr/>
          <p:nvPr>
            <p:custDataLst>
              <p:tags r:id="rId7"/>
            </p:custDataLst>
          </p:nvPr>
        </p:nvSpPr>
        <p:spPr>
          <a:xfrm>
            <a:off x="604498" y="3800472"/>
            <a:ext cx="5442329" cy="1932421"/>
          </a:xfrm>
          <a:prstGeom prst="roundRect">
            <a:avLst>
              <a:gd name="adj" fmla="val 12997"/>
            </a:avLst>
          </a:prstGeom>
          <a:solidFill>
            <a:schemeClr val="lt2">
              <a:alpha val="100000"/>
            </a:schemeClr>
          </a:solidFill>
          <a:ln w="19050">
            <a:solidFill>
              <a:schemeClr val="accent2">
                <a:alpha val="100000"/>
              </a:schemeClr>
            </a:solidFill>
            <a:prstDash val="solid"/>
          </a:ln>
        </p:spPr>
      </p:sp>
      <p:sp>
        <p:nvSpPr>
          <p:cNvPr id="8" name="TextBox 8"/>
          <p:cNvSpPr txBox="1"/>
          <p:nvPr/>
        </p:nvSpPr>
        <p:spPr>
          <a:xfrm>
            <a:off x="685800" y="381000"/>
            <a:ext cx="11587480" cy="914400"/>
          </a:xfrm>
          <a:prstGeom prst="rect">
            <a:avLst/>
          </a:prstGeom>
          <a:noFill/>
        </p:spPr>
        <p:txBody>
          <a:bodyPr vert="horz" wrap="square" lIns="123825" tIns="123825" rIns="57150" bIns="123825" rtlCol="0" anchor="ctr" anchorCtr="0">
            <a:noAutofit/>
          </a:bodyPr>
          <a:lstStyle/>
          <a:p>
            <a:pPr algn="l">
              <a:lnSpc>
                <a:spcPct val="100000"/>
              </a:lnSpc>
              <a:spcBef>
                <a:spcPts val="375"/>
              </a:spcBef>
            </a:pP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四、</a:t>
            </a:r>
            <a:r>
              <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创新点</a:t>
            </a:r>
            <a:endParaRPr lang="zh-CN" alt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00000"/>
              </a:lnSpc>
              <a:spcBef>
                <a:spcPts val="375"/>
              </a:spcBef>
            </a:pPr>
            <a:r>
              <a:rPr lang="zh-CN" alt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（一）技术</a:t>
            </a:r>
            <a:r>
              <a:rPr lang="en-US" sz="2400" b="1">
                <a:solidFill>
                  <a:srgbClr val="425941">
                    <a:alpha val="100000"/>
                  </a:srgbClr>
                </a:solidFill>
                <a:latin typeface="微软雅黑" panose="020B0503020204020204" charset="-122"/>
                <a:ea typeface="微软雅黑" panose="020B0503020204020204" charset="-122"/>
                <a:cs typeface="微软雅黑" panose="020B0503020204020204" charset="-122"/>
              </a:rPr>
              <a:t>特点</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9" name="TextBox 9"/>
          <p:cNvSpPr txBox="1"/>
          <p:nvPr>
            <p:custDataLst>
              <p:tags r:id="rId8"/>
            </p:custDataLst>
          </p:nvPr>
        </p:nvSpPr>
        <p:spPr>
          <a:xfrm>
            <a:off x="1967230" y="2898140"/>
            <a:ext cx="2700655" cy="579120"/>
          </a:xfrm>
          <a:prstGeom prst="rect">
            <a:avLst/>
          </a:prstGeom>
          <a:noFill/>
        </p:spPr>
        <p:txBody>
          <a:bodyPr vert="horz" wrap="square" lIns="114300" tIns="57150" rIns="114300" bIns="57150" rtlCol="0" anchor="b" anchorCtr="0">
            <a:noAutofit/>
          </a:bodyPr>
          <a:lstStyle/>
          <a:p>
            <a:pPr algn="l">
              <a:lnSpc>
                <a:spcPct val="120000"/>
              </a:lnSpc>
            </a:pP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多维数据监控分析</a:t>
            </a:r>
            <a:endPar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0" name="TextBox 10"/>
          <p:cNvSpPr txBox="1"/>
          <p:nvPr>
            <p:custDataLst>
              <p:tags r:id="rId9"/>
            </p:custDataLst>
          </p:nvPr>
        </p:nvSpPr>
        <p:spPr>
          <a:xfrm>
            <a:off x="2235200" y="3970020"/>
            <a:ext cx="2432050" cy="579120"/>
          </a:xfrm>
          <a:prstGeom prst="rect">
            <a:avLst/>
          </a:prstGeom>
          <a:noFill/>
        </p:spPr>
        <p:txBody>
          <a:bodyPr vert="horz" wrap="square" lIns="114300" tIns="57150" rIns="114300" bIns="57150" rtlCol="0" anchor="b" anchorCtr="0">
            <a:noAutofit/>
          </a:bodyPr>
          <a:lstStyle/>
          <a:p>
            <a:pPr algn="l">
              <a:lnSpc>
                <a:spcPct val="120000"/>
              </a:lnSpc>
            </a:pP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自动化远程调控</a:t>
            </a:r>
            <a:endPar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1" name="TextBox 11"/>
          <p:cNvSpPr txBox="1"/>
          <p:nvPr>
            <p:custDataLst>
              <p:tags r:id="rId10"/>
            </p:custDataLst>
          </p:nvPr>
        </p:nvSpPr>
        <p:spPr>
          <a:xfrm>
            <a:off x="1057369" y="4549214"/>
            <a:ext cx="3905833" cy="802403"/>
          </a:xfrm>
          <a:prstGeom prst="rect">
            <a:avLst/>
          </a:prstGeom>
          <a:noFill/>
        </p:spPr>
        <p:txBody>
          <a:bodyPr vert="horz" wrap="square" lIns="114300" tIns="57150" rIns="114300" bIns="57150" rtlCol="0" anchor="t" anchorCtr="0">
            <a:noAutofit/>
          </a:bodyPr>
          <a:lstStyle/>
          <a:p>
            <a:pPr algn="l">
              <a:lnSpc>
                <a:spcPct val="100000"/>
              </a:lnSpc>
              <a:spcBef>
                <a:spcPts val="375"/>
              </a:spcBef>
            </a:pPr>
            <a:r>
              <a:rPr lang="zh-CN" altLang="en-US" sz="1350" b="1">
                <a:solidFill>
                  <a:srgbClr val="425941">
                    <a:alpha val="100000"/>
                  </a:srgbClr>
                </a:solidFill>
                <a:latin typeface="微软雅黑" panose="020B0503020204020204" charset="-122"/>
                <a:ea typeface="微软雅黑" panose="020B0503020204020204" charset="-122"/>
                <a:cs typeface="微软雅黑" panose="020B0503020204020204" charset="-122"/>
              </a:rPr>
              <a:t>面对异常数据，系统能够自动通过下行链路进行远程</a:t>
            </a:r>
            <a:r>
              <a:rPr lang="zh-CN" altLang="en-US" sz="1350" b="1">
                <a:solidFill>
                  <a:srgbClr val="425941">
                    <a:alpha val="100000"/>
                  </a:srgbClr>
                </a:solidFill>
                <a:latin typeface="微软雅黑" panose="020B0503020204020204" charset="-122"/>
                <a:ea typeface="微软雅黑" panose="020B0503020204020204" charset="-122"/>
                <a:cs typeface="微软雅黑" panose="020B0503020204020204" charset="-122"/>
              </a:rPr>
              <a:t>调控，并及时采取报警措施，确保环境安全与稳定运行。</a:t>
            </a:r>
            <a:endParaRPr lang="zh-CN" altLang="en-US" sz="135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2" name="TextBox 12"/>
          <p:cNvSpPr txBox="1"/>
          <p:nvPr>
            <p:custDataLst>
              <p:tags r:id="rId11"/>
            </p:custDataLst>
          </p:nvPr>
        </p:nvSpPr>
        <p:spPr>
          <a:xfrm>
            <a:off x="7629757" y="2810985"/>
            <a:ext cx="3915982" cy="579431"/>
          </a:xfrm>
          <a:prstGeom prst="rect">
            <a:avLst/>
          </a:prstGeom>
          <a:noFill/>
        </p:spPr>
        <p:txBody>
          <a:bodyPr vert="horz" wrap="square" lIns="114300" tIns="57150" rIns="114300" bIns="57150" rtlCol="0" anchor="b" anchorCtr="0">
            <a:noAutofit/>
          </a:bodyPr>
          <a:lstStyle/>
          <a:p>
            <a:pPr algn="l">
              <a:lnSpc>
                <a:spcPct val="120000"/>
              </a:lnSpc>
            </a:pP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多终端</a:t>
            </a: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协调</a:t>
            </a:r>
            <a:endPar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3" name="TextBox 13"/>
          <p:cNvSpPr txBox="1"/>
          <p:nvPr>
            <p:custDataLst>
              <p:tags r:id="rId12"/>
            </p:custDataLst>
          </p:nvPr>
        </p:nvSpPr>
        <p:spPr>
          <a:xfrm>
            <a:off x="7629757" y="3969782"/>
            <a:ext cx="3915982" cy="579431"/>
          </a:xfrm>
          <a:prstGeom prst="rect">
            <a:avLst/>
          </a:prstGeom>
          <a:noFill/>
        </p:spPr>
        <p:txBody>
          <a:bodyPr vert="horz" wrap="square" lIns="114300" tIns="57150" rIns="114300" bIns="57150" rtlCol="0" anchor="b" anchorCtr="0">
            <a:noAutofit/>
          </a:bodyPr>
          <a:lstStyle/>
          <a:p>
            <a:pPr algn="l">
              <a:lnSpc>
                <a:spcPct val="100000"/>
              </a:lnSpc>
              <a:spcBef>
                <a:spcPts val="375"/>
              </a:spcBef>
            </a:pPr>
            <a:r>
              <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AI</a:t>
            </a: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智能</a:t>
            </a: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预测</a:t>
            </a:r>
            <a:endPar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4" name="TextBox 14"/>
          <p:cNvSpPr txBox="1"/>
          <p:nvPr>
            <p:custDataLst>
              <p:tags r:id="rId13"/>
            </p:custDataLst>
          </p:nvPr>
        </p:nvSpPr>
        <p:spPr>
          <a:xfrm>
            <a:off x="7306386" y="4549269"/>
            <a:ext cx="3905833" cy="802403"/>
          </a:xfrm>
          <a:prstGeom prst="rect">
            <a:avLst/>
          </a:prstGeom>
          <a:noFill/>
        </p:spPr>
        <p:txBody>
          <a:bodyPr vert="horz" wrap="square" lIns="114300" tIns="57150" rIns="114300" bIns="57150" rtlCol="0" anchor="t" anchorCtr="0">
            <a:noAutofit/>
          </a:bodyPr>
          <a:lstStyle/>
          <a:p>
            <a:pPr algn="l">
              <a:lnSpc>
                <a:spcPct val="100000"/>
              </a:lnSpc>
              <a:spcBef>
                <a:spcPts val="375"/>
              </a:spcBef>
            </a:pPr>
            <a:r>
              <a:rPr lang="zh-CN" altLang="en-US" sz="1350" b="1">
                <a:solidFill>
                  <a:srgbClr val="425941">
                    <a:alpha val="100000"/>
                  </a:srgbClr>
                </a:solidFill>
                <a:latin typeface="微软雅黑" panose="020B0503020204020204" charset="-122"/>
                <a:ea typeface="微软雅黑" panose="020B0503020204020204" charset="-122"/>
                <a:cs typeface="微软雅黑" panose="020B0503020204020204" charset="-122"/>
              </a:rPr>
              <a:t>为了提高预测精度，我们对四种基于时间序列的预测算法进行了对比，最终选定了预测效果最优的</a:t>
            </a:r>
            <a:r>
              <a:rPr lang="en-US" altLang="zh-CN" sz="1350" b="1">
                <a:solidFill>
                  <a:srgbClr val="425941">
                    <a:alpha val="100000"/>
                  </a:srgbClr>
                </a:solidFill>
                <a:latin typeface="微软雅黑" panose="020B0503020204020204" charset="-122"/>
                <a:ea typeface="微软雅黑" panose="020B0503020204020204" charset="-122"/>
                <a:cs typeface="微软雅黑" panose="020B0503020204020204" charset="-122"/>
              </a:rPr>
              <a:t>GRU</a:t>
            </a:r>
            <a:r>
              <a:rPr lang="zh-CN" altLang="en-US" sz="1350" b="1">
                <a:solidFill>
                  <a:srgbClr val="425941">
                    <a:alpha val="100000"/>
                  </a:srgbClr>
                </a:solidFill>
                <a:latin typeface="微软雅黑" panose="020B0503020204020204" charset="-122"/>
                <a:ea typeface="微软雅黑" panose="020B0503020204020204" charset="-122"/>
                <a:cs typeface="微软雅黑" panose="020B0503020204020204" charset="-122"/>
              </a:rPr>
              <a:t>算法，进一步提升了数据预测的准确性与可靠性。</a:t>
            </a:r>
            <a:endParaRPr lang="zh-CN" altLang="en-US" sz="135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5" name="AutoShape 15"/>
          <p:cNvSpPr/>
          <p:nvPr>
            <p:custDataLst>
              <p:tags r:id="rId14"/>
            </p:custDataLst>
          </p:nvPr>
        </p:nvSpPr>
        <p:spPr>
          <a:xfrm>
            <a:off x="4963202" y="3800472"/>
            <a:ext cx="1084522" cy="1084522"/>
          </a:xfrm>
          <a:prstGeom prst="teardrop">
            <a:avLst/>
          </a:prstGeom>
          <a:solidFill>
            <a:schemeClr val="accent1">
              <a:alpha val="100000"/>
            </a:schemeClr>
          </a:solidFill>
        </p:spPr>
      </p:sp>
      <p:sp>
        <p:nvSpPr>
          <p:cNvPr id="16" name="AutoShape 16"/>
          <p:cNvSpPr/>
          <p:nvPr>
            <p:custDataLst>
              <p:tags r:id="rId15"/>
            </p:custDataLst>
          </p:nvPr>
        </p:nvSpPr>
        <p:spPr>
          <a:xfrm flipH="1">
            <a:off x="6221848" y="3800472"/>
            <a:ext cx="1084522" cy="1084522"/>
          </a:xfrm>
          <a:prstGeom prst="teardrop">
            <a:avLst/>
          </a:prstGeom>
          <a:solidFill>
            <a:schemeClr val="accent1">
              <a:alpha val="100000"/>
            </a:schemeClr>
          </a:solidFill>
        </p:spPr>
      </p:sp>
      <p:sp>
        <p:nvSpPr>
          <p:cNvPr id="17" name="AutoShape 17"/>
          <p:cNvSpPr/>
          <p:nvPr>
            <p:custDataLst>
              <p:tags r:id="rId16"/>
            </p:custDataLst>
          </p:nvPr>
        </p:nvSpPr>
        <p:spPr>
          <a:xfrm flipH="1" flipV="1">
            <a:off x="6221848" y="2571272"/>
            <a:ext cx="1084522" cy="1084522"/>
          </a:xfrm>
          <a:prstGeom prst="teardrop">
            <a:avLst/>
          </a:prstGeom>
          <a:solidFill>
            <a:schemeClr val="accent1">
              <a:alpha val="100000"/>
            </a:schemeClr>
          </a:solidFill>
        </p:spPr>
      </p:sp>
      <p:sp>
        <p:nvSpPr>
          <p:cNvPr id="18" name="AutoShape 18"/>
          <p:cNvSpPr/>
          <p:nvPr>
            <p:custDataLst>
              <p:tags r:id="rId17"/>
            </p:custDataLst>
          </p:nvPr>
        </p:nvSpPr>
        <p:spPr>
          <a:xfrm flipV="1">
            <a:off x="4963202" y="2571272"/>
            <a:ext cx="1084522" cy="1084522"/>
          </a:xfrm>
          <a:prstGeom prst="teardrop">
            <a:avLst/>
          </a:prstGeom>
          <a:solidFill>
            <a:srgbClr val="5D9547">
              <a:alpha val="100000"/>
            </a:srgbClr>
          </a:solidFill>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0002" name="AutoShape 2"/>
          <p:cNvSpPr/>
          <p:nvPr>
            <p:custDataLst>
              <p:tags r:id="rId1"/>
            </p:custDataLst>
          </p:nvPr>
        </p:nvSpPr>
        <p:spPr>
          <a:xfrm>
            <a:off x="751642" y="4006380"/>
            <a:ext cx="6621099" cy="1827334"/>
          </a:xfrm>
          <a:prstGeom prst="roundRect">
            <a:avLst>
              <a:gd name="adj" fmla="val 16667"/>
            </a:avLst>
          </a:prstGeom>
          <a:solidFill>
            <a:srgbClr val="FFFFFF">
              <a:alpha val="80000"/>
            </a:srgbClr>
          </a:solidFill>
          <a:ln w="19050">
            <a:solidFill>
              <a:schemeClr val="accent1">
                <a:alpha val="100000"/>
              </a:schemeClr>
            </a:solidFill>
            <a:prstDash val="solid"/>
          </a:ln>
        </p:spPr>
      </p:sp>
      <p:sp>
        <p:nvSpPr>
          <p:cNvPr id="1900003" name="AutoShape 3"/>
          <p:cNvSpPr/>
          <p:nvPr>
            <p:custDataLst>
              <p:tags r:id="rId2"/>
            </p:custDataLst>
          </p:nvPr>
        </p:nvSpPr>
        <p:spPr>
          <a:xfrm>
            <a:off x="751642" y="1920540"/>
            <a:ext cx="6621099" cy="1827334"/>
          </a:xfrm>
          <a:prstGeom prst="roundRect">
            <a:avLst>
              <a:gd name="adj" fmla="val 16667"/>
            </a:avLst>
          </a:prstGeom>
          <a:solidFill>
            <a:srgbClr val="FFFFFF">
              <a:alpha val="80000"/>
            </a:srgbClr>
          </a:solidFill>
          <a:ln w="19050">
            <a:solidFill>
              <a:schemeClr val="accent1">
                <a:alpha val="100000"/>
              </a:schemeClr>
            </a:solidFill>
            <a:prstDash val="solid"/>
          </a:ln>
        </p:spPr>
      </p:sp>
      <p:pic>
        <p:nvPicPr>
          <p:cNvPr id="1900004" name="Picture 4"/>
          <p:cNvPicPr>
            <a:picLocks noChangeAspect="1"/>
          </p:cNvPicPr>
          <p:nvPr/>
        </p:nvPicPr>
        <p:blipFill>
          <a:blip r:embed="rId3">
            <a:alphaModFix amt="100000"/>
          </a:blip>
          <a:srcRect l="29003" r="29003"/>
          <a:stretch>
            <a:fillRect/>
          </a:stretch>
        </p:blipFill>
        <p:spPr>
          <a:xfrm>
            <a:off x="7772258" y="686681"/>
            <a:ext cx="3831201" cy="5701910"/>
          </a:xfrm>
          <a:prstGeom prst="rect">
            <a:avLst/>
          </a:prstGeom>
        </p:spPr>
      </p:pic>
      <p:sp>
        <p:nvSpPr>
          <p:cNvPr id="1900005" name="TextBox 5"/>
          <p:cNvSpPr txBox="1"/>
          <p:nvPr>
            <p:custDataLst>
              <p:tags r:id="rId4"/>
            </p:custDataLst>
          </p:nvPr>
        </p:nvSpPr>
        <p:spPr>
          <a:xfrm>
            <a:off x="1030579" y="2124930"/>
            <a:ext cx="6238875" cy="566420"/>
          </a:xfrm>
          <a:prstGeom prst="rect">
            <a:avLst/>
          </a:prstGeom>
        </p:spPr>
        <p:txBody>
          <a:bodyPr vert="horz" wrap="square" lIns="123825" tIns="123825" rIns="57150" bIns="0" rtlCol="0" anchor="ctr" anchorCtr="0">
            <a:spAutoFit/>
          </a:bodyPr>
          <a:lstStyle/>
          <a:p>
            <a:pPr algn="l">
              <a:lnSpc>
                <a:spcPct val="120000"/>
              </a:lnSpc>
            </a:pP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提供科学依据</a:t>
            </a:r>
            <a:endPar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900006" name="TextBox 6"/>
          <p:cNvSpPr txBox="1"/>
          <p:nvPr>
            <p:custDataLst>
              <p:tags r:id="rId5"/>
            </p:custDataLst>
          </p:nvPr>
        </p:nvSpPr>
        <p:spPr>
          <a:xfrm>
            <a:off x="1030579" y="2610429"/>
            <a:ext cx="6238875" cy="769620"/>
          </a:xfrm>
          <a:prstGeom prst="rect">
            <a:avLst/>
          </a:prstGeom>
        </p:spPr>
        <p:txBody>
          <a:bodyPr vert="horz" wrap="square" lIns="123825" tIns="123825" rIns="57150" bIns="0" rtlCol="0" anchor="t" anchorCtr="0">
            <a:spAutoFit/>
          </a:bodyPr>
          <a:lstStyle/>
          <a:p>
            <a:pPr algn="l">
              <a:lnSpc>
                <a:spcPct val="140000"/>
              </a:lnSpc>
            </a:pPr>
            <a:r>
              <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rPr>
              <a:t>智能碳排放监测系统，依托先进的数据分析能力，结合AI模型等算法，精准预测未来碳排放趋势，为减排策略制定提供科学依据。</a:t>
            </a:r>
            <a:endPar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
        <p:nvSpPr>
          <p:cNvPr id="1900007" name="TextBox 7"/>
          <p:cNvSpPr txBox="1"/>
          <p:nvPr>
            <p:custDataLst>
              <p:tags r:id="rId6"/>
            </p:custDataLst>
          </p:nvPr>
        </p:nvSpPr>
        <p:spPr>
          <a:xfrm>
            <a:off x="1030579" y="4218829"/>
            <a:ext cx="6238875" cy="566420"/>
          </a:xfrm>
          <a:prstGeom prst="rect">
            <a:avLst/>
          </a:prstGeom>
        </p:spPr>
        <p:txBody>
          <a:bodyPr vert="horz" wrap="square" lIns="123825" tIns="123825" rIns="57150" bIns="0" rtlCol="0" anchor="ctr" anchorCtr="0">
            <a:spAutoFit/>
          </a:bodyPr>
          <a:lstStyle/>
          <a:p>
            <a:pPr algn="l">
              <a:lnSpc>
                <a:spcPct val="120000"/>
              </a:lnSpc>
            </a:pP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优化</a:t>
            </a:r>
            <a:r>
              <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减排策略</a:t>
            </a:r>
            <a:endPar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1900008" name="TextBox 8"/>
          <p:cNvSpPr txBox="1"/>
          <p:nvPr>
            <p:custDataLst>
              <p:tags r:id="rId7"/>
            </p:custDataLst>
          </p:nvPr>
        </p:nvSpPr>
        <p:spPr>
          <a:xfrm>
            <a:off x="1030579" y="4712439"/>
            <a:ext cx="6238875" cy="790575"/>
          </a:xfrm>
          <a:prstGeom prst="rect">
            <a:avLst/>
          </a:prstGeom>
        </p:spPr>
        <p:txBody>
          <a:bodyPr vert="horz" wrap="square" lIns="123825" tIns="123825" rIns="57150" bIns="0" rtlCol="0" anchor="t" anchorCtr="0">
            <a:spAutoFit/>
          </a:bodyPr>
          <a:lstStyle/>
          <a:p>
            <a:pPr algn="l">
              <a:lnSpc>
                <a:spcPct val="140000"/>
              </a:lnSpc>
            </a:pPr>
            <a:r>
              <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rPr>
              <a:t>基于精准的数据预测，系统能够提前识别碳排放高峰，为管理者提供制定减排计划的宝贵时间，助力企业实现碳中和目标。</a:t>
            </a:r>
            <a:endParaRPr lang="en-US" sz="15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
        <p:nvSpPr>
          <p:cNvPr id="1900009" name="TextBox 9"/>
          <p:cNvSpPr txBox="1"/>
          <p:nvPr/>
        </p:nvSpPr>
        <p:spPr>
          <a:xfrm>
            <a:off x="838002" y="44321"/>
            <a:ext cx="11239500" cy="1022350"/>
          </a:xfrm>
          <a:prstGeom prst="rect">
            <a:avLst/>
          </a:prstGeom>
          <a:noFill/>
        </p:spPr>
        <p:txBody>
          <a:bodyPr vert="horz" wrap="square" lIns="123825" tIns="123825" rIns="57150" bIns="0" rtlCol="0" anchor="t" anchorCtr="0">
            <a:normAutofit fontScale="25000"/>
          </a:bodyPr>
          <a:lstStyle/>
          <a:p>
            <a:pPr algn="l">
              <a:lnSpc>
                <a:spcPct val="140000"/>
              </a:lnSpc>
            </a:pPr>
            <a:r>
              <a:rPr lang="zh-CN" altLang="en-US" sz="144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四、创新点</a:t>
            </a:r>
            <a:endParaRPr lang="zh-CN" altLang="en-US" sz="144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zh-CN" altLang="en-US" sz="9600" b="1">
                <a:solidFill>
                  <a:srgbClr val="425941">
                    <a:alpha val="100000"/>
                  </a:srgbClr>
                </a:solidFill>
                <a:latin typeface="微软雅黑" panose="020B0503020204020204" charset="-122"/>
                <a:ea typeface="微软雅黑" panose="020B0503020204020204" charset="-122"/>
                <a:cs typeface="微软雅黑" panose="020B0503020204020204" charset="-122"/>
              </a:rPr>
              <a:t>（二）实用价值</a:t>
            </a:r>
            <a:r>
              <a:rPr lang="en-US" sz="9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r>
              <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rPr>
              <a:t>					</a:t>
            </a:r>
            <a:endParaRPr lang="en-US" sz="36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0002" name="Picture 2"/>
          <p:cNvPicPr>
            <a:picLocks noChangeAspect="1"/>
          </p:cNvPicPr>
          <p:nvPr/>
        </p:nvPicPr>
        <p:blipFill>
          <a:blip r:embed="rId1">
            <a:alphaModFix amt="100000"/>
          </a:blip>
          <a:srcRect t="6758" b="6758"/>
          <a:stretch>
            <a:fillRect/>
          </a:stretch>
        </p:blipFill>
        <p:spPr>
          <a:xfrm>
            <a:off x="6741160" y="990600"/>
            <a:ext cx="2255520" cy="1996440"/>
          </a:xfrm>
          <a:prstGeom prst="rect">
            <a:avLst/>
          </a:prstGeom>
        </p:spPr>
      </p:pic>
      <p:sp>
        <p:nvSpPr>
          <p:cNvPr id="400003" name="TextBox 3"/>
          <p:cNvSpPr txBox="1"/>
          <p:nvPr>
            <p:custDataLst>
              <p:tags r:id="rId2"/>
            </p:custDataLst>
          </p:nvPr>
        </p:nvSpPr>
        <p:spPr>
          <a:xfrm>
            <a:off x="1482725" y="1948180"/>
            <a:ext cx="5062220" cy="812165"/>
          </a:xfrm>
          <a:prstGeom prst="rect">
            <a:avLst/>
          </a:prstGeom>
        </p:spPr>
        <p:txBody>
          <a:bodyPr vert="horz" wrap="square" lIns="123825" tIns="123825" rIns="57150" bIns="0" rtlCol="0" anchor="t" anchorCtr="0">
            <a:spAutoFit/>
          </a:bodyPr>
          <a:lstStyle/>
          <a:p>
            <a:pPr algn="l">
              <a:lnSpc>
                <a:spcPct val="140000"/>
              </a:lnSpc>
            </a:pPr>
            <a:r>
              <a:rPr lang="en-US" sz="1600">
                <a:solidFill>
                  <a:srgbClr val="222222">
                    <a:alpha val="100000"/>
                  </a:srgbClr>
                </a:solidFill>
                <a:latin typeface="微软雅黑" panose="020B0503020204020204" charset="-122"/>
                <a:ea typeface="微软雅黑" panose="020B0503020204020204" charset="-122"/>
                <a:cs typeface="微软雅黑" panose="020B0503020204020204" charset="-122"/>
              </a:rPr>
              <a:t>持续研发并优化数据预测算法，精准预测未来碳排放趋势，为企业制定科学减排策略提供坚实的数据支撑。</a:t>
            </a:r>
            <a:endParaRPr lang="en-US" sz="16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0004" name="TextBox 4"/>
          <p:cNvSpPr txBox="1"/>
          <p:nvPr>
            <p:custDataLst>
              <p:tags r:id="rId3"/>
            </p:custDataLst>
          </p:nvPr>
        </p:nvSpPr>
        <p:spPr>
          <a:xfrm>
            <a:off x="1482606" y="1401236"/>
            <a:ext cx="4219575" cy="677545"/>
          </a:xfrm>
          <a:prstGeom prst="rect">
            <a:avLst/>
          </a:prstGeom>
        </p:spPr>
        <p:txBody>
          <a:bodyPr vert="horz" wrap="square" lIns="123825" tIns="123825" rIns="57150" bIns="0" rtlCol="0" anchor="ctr" anchorCtr="0">
            <a:spAutoFit/>
          </a:bodyPr>
          <a:lstStyle/>
          <a:p>
            <a:pPr algn="l">
              <a:lnSpc>
                <a:spcPct val="150000"/>
              </a:lnSpc>
            </a:pPr>
            <a:r>
              <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优化预测算法</a:t>
            </a:r>
            <a:endPar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0005" name="TextBox 5"/>
          <p:cNvSpPr txBox="1"/>
          <p:nvPr>
            <p:custDataLst>
              <p:tags r:id="rId4"/>
            </p:custDataLst>
          </p:nvPr>
        </p:nvSpPr>
        <p:spPr>
          <a:xfrm>
            <a:off x="1482725" y="3712845"/>
            <a:ext cx="5199380" cy="1156335"/>
          </a:xfrm>
          <a:prstGeom prst="rect">
            <a:avLst/>
          </a:prstGeom>
        </p:spPr>
        <p:txBody>
          <a:bodyPr vert="horz" wrap="square" lIns="123825" tIns="123825" rIns="57150" bIns="0" rtlCol="0" anchor="t" anchorCtr="0">
            <a:spAutoFit/>
          </a:bodyPr>
          <a:lstStyle/>
          <a:p>
            <a:pPr algn="l">
              <a:lnSpc>
                <a:spcPct val="140000"/>
              </a:lnSpc>
            </a:pPr>
            <a:r>
              <a:rPr lang="en-US" sz="1600">
                <a:solidFill>
                  <a:srgbClr val="222222">
                    <a:alpha val="100000"/>
                  </a:srgbClr>
                </a:solidFill>
                <a:latin typeface="微软雅黑" panose="020B0503020204020204" charset="-122"/>
                <a:ea typeface="微软雅黑" panose="020B0503020204020204" charset="-122"/>
                <a:cs typeface="微软雅黑" panose="020B0503020204020204" charset="-122"/>
              </a:rPr>
              <a:t>紧跟物联网技术发展趋势，引入更先进、高效的物联网技术，全面提升数据采集和传输效率，为系统提供更强大的技术支撑。</a:t>
            </a:r>
            <a:endParaRPr lang="en-US" sz="16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0006" name="TextBox 6"/>
          <p:cNvSpPr txBox="1"/>
          <p:nvPr>
            <p:custDataLst>
              <p:tags r:id="rId5"/>
            </p:custDataLst>
          </p:nvPr>
        </p:nvSpPr>
        <p:spPr>
          <a:xfrm>
            <a:off x="1482606" y="3146115"/>
            <a:ext cx="4219575" cy="677545"/>
          </a:xfrm>
          <a:prstGeom prst="rect">
            <a:avLst/>
          </a:prstGeom>
        </p:spPr>
        <p:txBody>
          <a:bodyPr vert="horz" wrap="square" lIns="123825" tIns="123825" rIns="57150" bIns="0" rtlCol="0" anchor="ctr" anchorCtr="0">
            <a:spAutoFit/>
          </a:bodyPr>
          <a:lstStyle/>
          <a:p>
            <a:pPr algn="l">
              <a:lnSpc>
                <a:spcPct val="150000"/>
              </a:lnSpc>
            </a:pPr>
            <a:r>
              <a:rPr lang="zh-CN" alt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引入先进</a:t>
            </a:r>
            <a:r>
              <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物联网技术</a:t>
            </a:r>
            <a:endPar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0007" name="TextBox 7"/>
          <p:cNvSpPr txBox="1"/>
          <p:nvPr>
            <p:custDataLst>
              <p:tags r:id="rId6"/>
            </p:custDataLst>
          </p:nvPr>
        </p:nvSpPr>
        <p:spPr>
          <a:xfrm>
            <a:off x="1482725" y="5377180"/>
            <a:ext cx="5338445" cy="1156335"/>
          </a:xfrm>
          <a:prstGeom prst="rect">
            <a:avLst/>
          </a:prstGeom>
        </p:spPr>
        <p:txBody>
          <a:bodyPr vert="horz" wrap="square" lIns="123825" tIns="123825" rIns="57150" bIns="0" rtlCol="0" anchor="t" anchorCtr="0">
            <a:spAutoFit/>
          </a:bodyPr>
          <a:lstStyle/>
          <a:p>
            <a:pPr algn="l">
              <a:lnSpc>
                <a:spcPct val="140000"/>
              </a:lnSpc>
            </a:pPr>
            <a:r>
              <a:rPr lang="en-US" sz="1600">
                <a:solidFill>
                  <a:srgbClr val="222222">
                    <a:alpha val="100000"/>
                  </a:srgbClr>
                </a:solidFill>
                <a:latin typeface="微软雅黑" panose="020B0503020204020204" charset="-122"/>
                <a:ea typeface="微软雅黑" panose="020B0503020204020204" charset="-122"/>
                <a:cs typeface="微软雅黑" panose="020B0503020204020204" charset="-122"/>
              </a:rPr>
              <a:t>加强与AI技术的深度融合</a:t>
            </a:r>
            <a:r>
              <a:rPr lang="zh-CN" altLang="en-US" sz="1600">
                <a:solidFill>
                  <a:srgbClr val="222222">
                    <a:alpha val="100000"/>
                  </a:srgbClr>
                </a:solidFill>
                <a:latin typeface="微软雅黑" panose="020B0503020204020204" charset="-122"/>
                <a:ea typeface="微软雅黑" panose="020B0503020204020204" charset="-122"/>
                <a:cs typeface="微软雅黑" panose="020B0503020204020204" charset="-122"/>
              </a:rPr>
              <a:t>，如：在系统中优化</a:t>
            </a:r>
            <a:r>
              <a:rPr lang="en-US" altLang="zh-CN" sz="1600">
                <a:solidFill>
                  <a:srgbClr val="222222">
                    <a:alpha val="100000"/>
                  </a:srgbClr>
                </a:solidFill>
                <a:latin typeface="微软雅黑" panose="020B0503020204020204" charset="-122"/>
                <a:ea typeface="微软雅黑" panose="020B0503020204020204" charset="-122"/>
                <a:cs typeface="微软雅黑" panose="020B0503020204020204" charset="-122"/>
              </a:rPr>
              <a:t>DeepSeek</a:t>
            </a:r>
            <a:r>
              <a:rPr lang="zh-CN" altLang="en-US" sz="1600">
                <a:solidFill>
                  <a:srgbClr val="222222">
                    <a:alpha val="100000"/>
                  </a:srgbClr>
                </a:solidFill>
                <a:latin typeface="微软雅黑" panose="020B0503020204020204" charset="-122"/>
                <a:ea typeface="微软雅黑" panose="020B0503020204020204" charset="-122"/>
                <a:cs typeface="微软雅黑" panose="020B0503020204020204" charset="-122"/>
              </a:rPr>
              <a:t>助手</a:t>
            </a:r>
            <a:r>
              <a:rPr lang="en-US" sz="1600">
                <a:solidFill>
                  <a:srgbClr val="222222">
                    <a:alpha val="100000"/>
                  </a:srgbClr>
                </a:solidFill>
                <a:latin typeface="微软雅黑" panose="020B0503020204020204" charset="-122"/>
                <a:ea typeface="微软雅黑" panose="020B0503020204020204" charset="-122"/>
                <a:cs typeface="微软雅黑" panose="020B0503020204020204" charset="-122"/>
              </a:rPr>
              <a:t>，实现碳排放管理的全面智能化，通过智能分析、智能预警等功能，为管理者提供更精准、更高效的决策支持。</a:t>
            </a:r>
            <a:endParaRPr lang="en-US" sz="1600">
              <a:solidFill>
                <a:srgbClr val="222222">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0008" name="TextBox 8"/>
          <p:cNvSpPr txBox="1"/>
          <p:nvPr>
            <p:custDataLst>
              <p:tags r:id="rId7"/>
            </p:custDataLst>
          </p:nvPr>
        </p:nvSpPr>
        <p:spPr>
          <a:xfrm>
            <a:off x="1482606" y="4835835"/>
            <a:ext cx="4219575" cy="677545"/>
          </a:xfrm>
          <a:prstGeom prst="rect">
            <a:avLst/>
          </a:prstGeom>
        </p:spPr>
        <p:txBody>
          <a:bodyPr vert="horz" wrap="square" lIns="123825" tIns="123825" rIns="57150" bIns="0" rtlCol="0" anchor="ctr" anchorCtr="0">
            <a:spAutoFit/>
          </a:bodyPr>
          <a:lstStyle/>
          <a:p>
            <a:pPr algn="l">
              <a:lnSpc>
                <a:spcPct val="150000"/>
              </a:lnSpc>
            </a:pPr>
            <a:r>
              <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rPr>
              <a:t>融合AI技术</a:t>
            </a:r>
            <a:endParaRPr lang="en-US" sz="2400"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0009" name="TextBox 9"/>
          <p:cNvSpPr txBox="1"/>
          <p:nvPr/>
        </p:nvSpPr>
        <p:spPr>
          <a:xfrm>
            <a:off x="914400" y="-152400"/>
            <a:ext cx="12619355" cy="1130935"/>
          </a:xfrm>
          <a:prstGeom prst="rect">
            <a:avLst/>
          </a:prstGeom>
        </p:spPr>
        <p:txBody>
          <a:bodyPr vert="horz" wrap="square" lIns="123825" tIns="123825" rIns="57150" bIns="0" rtlCol="0" anchor="t" anchorCtr="0">
            <a:normAutofit fontScale="25000"/>
          </a:bodyPr>
          <a:lstStyle/>
          <a:p>
            <a:pPr algn="l">
              <a:lnSpc>
                <a:spcPct val="140000"/>
              </a:lnSpc>
            </a:pPr>
            <a:r>
              <a:rPr lang="zh-CN" altLang="en-US" sz="14400" b="1">
                <a:solidFill>
                  <a:srgbClr val="425941">
                    <a:alpha val="100000"/>
                  </a:srgbClr>
                </a:solidFill>
                <a:latin typeface="微软雅黑" panose="020B0503020204020204" charset="-122"/>
                <a:ea typeface="微软雅黑" panose="020B0503020204020204" charset="-122"/>
                <a:cs typeface="微软雅黑" panose="020B0503020204020204" charset="-122"/>
                <a:sym typeface="+mn-ea"/>
              </a:rPr>
              <a:t>四、创新点</a:t>
            </a:r>
            <a:endParaRPr lang="zh-CN" altLang="en-US" sz="14400" b="1">
              <a:solidFill>
                <a:srgbClr val="425941">
                  <a:alpha val="100000"/>
                </a:srgbClr>
              </a:solidFill>
              <a:latin typeface="微软雅黑" panose="020B0503020204020204" charset="-122"/>
              <a:ea typeface="微软雅黑" panose="020B0503020204020204" charset="-122"/>
              <a:cs typeface="微软雅黑" panose="020B0503020204020204" charset="-122"/>
            </a:endParaRPr>
          </a:p>
          <a:p>
            <a:pPr algn="l">
              <a:lnSpc>
                <a:spcPct val="140000"/>
              </a:lnSpc>
            </a:pPr>
            <a:r>
              <a:rPr lang="en-US" sz="9600" b="1">
                <a:solidFill>
                  <a:srgbClr val="425941">
                    <a:alpha val="100000"/>
                  </a:srgbClr>
                </a:solidFill>
                <a:latin typeface="微软雅黑" panose="020B0503020204020204" charset="-122"/>
                <a:ea typeface="微软雅黑" panose="020B0503020204020204" charset="-122"/>
                <a:cs typeface="微软雅黑" panose="020B0503020204020204" charset="-122"/>
              </a:rPr>
              <a:t>（三）未来技术展望</a:t>
            </a:r>
            <a:r>
              <a:rPr lang="en-US" altLang="zh-CN" sz="3600" b="1">
                <a:solidFill>
                  <a:srgbClr val="587757">
                    <a:alpha val="100000"/>
                  </a:srgbClr>
                </a:solidFill>
                <a:latin typeface="微软雅黑" panose="020B0503020204020204" charset="-122"/>
                <a:ea typeface="微软雅黑" panose="020B0503020204020204" charset="-122"/>
                <a:cs typeface="微软雅黑" panose="020B0503020204020204" charset="-122"/>
              </a:rPr>
              <a:t>							   </a:t>
            </a:r>
            <a:endParaRPr lang="en-US" altLang="zh-CN" sz="3600" b="1">
              <a:solidFill>
                <a:srgbClr val="587757">
                  <a:alpha val="100000"/>
                </a:srgbClr>
              </a:solidFill>
              <a:latin typeface="微软雅黑" panose="020B0503020204020204" charset="-122"/>
              <a:ea typeface="微软雅黑" panose="020B0503020204020204" charset="-122"/>
              <a:cs typeface="微软雅黑" panose="020B0503020204020204" charset="-122"/>
            </a:endParaRPr>
          </a:p>
        </p:txBody>
      </p:sp>
      <p:sp>
        <p:nvSpPr>
          <p:cNvPr id="400010" name="TextBox 10"/>
          <p:cNvSpPr txBox="1"/>
          <p:nvPr>
            <p:custDataLst>
              <p:tags r:id="rId8"/>
            </p:custDataLst>
          </p:nvPr>
        </p:nvSpPr>
        <p:spPr>
          <a:xfrm>
            <a:off x="542238" y="1676264"/>
            <a:ext cx="849630" cy="481965"/>
          </a:xfrm>
          <a:prstGeom prst="rect">
            <a:avLst/>
          </a:prstGeom>
        </p:spPr>
        <p:txBody>
          <a:bodyPr vert="horz" wrap="square" lIns="91440" tIns="45720" rIns="91440" bIns="45720" rtlCol="0" anchor="ctr" anchorCtr="0">
            <a:noAutofit/>
          </a:bodyPr>
          <a:lstStyle/>
          <a:p>
            <a:pPr algn="ctr">
              <a:defRPr/>
            </a:pPr>
            <a:r>
              <a:rPr lang="en-US" sz="3600">
                <a:solidFill>
                  <a:schemeClr val="accent1"/>
                </a:solidFill>
              </a:rPr>
              <a:t>1</a:t>
            </a:r>
            <a:endParaRPr lang="en-US" sz="3600">
              <a:solidFill>
                <a:schemeClr val="accent1"/>
              </a:solidFill>
            </a:endParaRPr>
          </a:p>
        </p:txBody>
      </p:sp>
      <p:sp>
        <p:nvSpPr>
          <p:cNvPr id="400011" name="TextBox 11"/>
          <p:cNvSpPr txBox="1"/>
          <p:nvPr/>
        </p:nvSpPr>
        <p:spPr>
          <a:xfrm>
            <a:off x="542238" y="3414840"/>
            <a:ext cx="849630" cy="481965"/>
          </a:xfrm>
          <a:prstGeom prst="rect">
            <a:avLst/>
          </a:prstGeom>
        </p:spPr>
        <p:txBody>
          <a:bodyPr vert="horz" wrap="square" lIns="91440" tIns="45720" rIns="91440" bIns="45720" rtlCol="0" anchor="ctr" anchorCtr="0">
            <a:normAutofit/>
          </a:bodyPr>
          <a:lstStyle/>
          <a:p>
            <a:pPr algn="l">
              <a:defRPr/>
            </a:pPr>
            <a:endParaRPr lang="en-US" sz="1100"/>
          </a:p>
        </p:txBody>
      </p:sp>
      <p:sp>
        <p:nvSpPr>
          <p:cNvPr id="400012" name="TextBox 12"/>
          <p:cNvSpPr txBox="1"/>
          <p:nvPr/>
        </p:nvSpPr>
        <p:spPr>
          <a:xfrm>
            <a:off x="542238" y="5136121"/>
            <a:ext cx="849630" cy="481965"/>
          </a:xfrm>
          <a:prstGeom prst="rect">
            <a:avLst/>
          </a:prstGeom>
        </p:spPr>
        <p:txBody>
          <a:bodyPr vert="horz" wrap="square" lIns="91440" tIns="45720" rIns="91440" bIns="45720" rtlCol="0" anchor="ctr" anchorCtr="0">
            <a:normAutofit/>
          </a:bodyPr>
          <a:lstStyle/>
          <a:p>
            <a:pPr algn="l">
              <a:defRPr/>
            </a:pPr>
            <a:endParaRPr lang="en-US" sz="1100"/>
          </a:p>
        </p:txBody>
      </p:sp>
      <p:sp>
        <p:nvSpPr>
          <p:cNvPr id="400013" name="AutoShape 13"/>
          <p:cNvSpPr/>
          <p:nvPr>
            <p:custDataLst>
              <p:tags r:id="rId9"/>
            </p:custDataLst>
          </p:nvPr>
        </p:nvSpPr>
        <p:spPr>
          <a:xfrm>
            <a:off x="647738" y="1597932"/>
            <a:ext cx="638629" cy="638629"/>
          </a:xfrm>
          <a:prstGeom prst="rect">
            <a:avLst/>
          </a:prstGeom>
          <a:noFill/>
          <a:ln w="19050">
            <a:solidFill>
              <a:schemeClr val="accent1">
                <a:alpha val="100000"/>
              </a:schemeClr>
            </a:solidFill>
            <a:prstDash val="solid"/>
          </a:ln>
        </p:spPr>
      </p:sp>
      <p:sp>
        <p:nvSpPr>
          <p:cNvPr id="400014" name="AutoShape 14"/>
          <p:cNvSpPr/>
          <p:nvPr>
            <p:custDataLst>
              <p:tags r:id="rId10"/>
            </p:custDataLst>
          </p:nvPr>
        </p:nvSpPr>
        <p:spPr>
          <a:xfrm>
            <a:off x="647738" y="3327861"/>
            <a:ext cx="638629" cy="638629"/>
          </a:xfrm>
          <a:prstGeom prst="rect">
            <a:avLst/>
          </a:prstGeom>
          <a:noFill/>
          <a:ln w="19050">
            <a:solidFill>
              <a:schemeClr val="accent1">
                <a:alpha val="100000"/>
              </a:schemeClr>
            </a:solidFill>
            <a:prstDash val="solid"/>
          </a:ln>
        </p:spPr>
      </p:sp>
      <p:sp>
        <p:nvSpPr>
          <p:cNvPr id="400015" name="AutoShape 15"/>
          <p:cNvSpPr/>
          <p:nvPr>
            <p:custDataLst>
              <p:tags r:id="rId11"/>
            </p:custDataLst>
          </p:nvPr>
        </p:nvSpPr>
        <p:spPr>
          <a:xfrm>
            <a:off x="647738" y="5057789"/>
            <a:ext cx="638629" cy="638629"/>
          </a:xfrm>
          <a:prstGeom prst="rect">
            <a:avLst/>
          </a:prstGeom>
          <a:noFill/>
          <a:ln w="19050">
            <a:solidFill>
              <a:schemeClr val="accent1">
                <a:alpha val="100000"/>
              </a:schemeClr>
            </a:solidFill>
            <a:prstDash val="solid"/>
          </a:ln>
        </p:spPr>
      </p:sp>
      <p:sp>
        <p:nvSpPr>
          <p:cNvPr id="2" name="TextBox 10"/>
          <p:cNvSpPr txBox="1"/>
          <p:nvPr>
            <p:custDataLst>
              <p:tags r:id="rId12"/>
            </p:custDataLst>
          </p:nvPr>
        </p:nvSpPr>
        <p:spPr>
          <a:xfrm>
            <a:off x="533348" y="3428864"/>
            <a:ext cx="849630" cy="481965"/>
          </a:xfrm>
          <a:prstGeom prst="rect">
            <a:avLst/>
          </a:prstGeom>
        </p:spPr>
        <p:txBody>
          <a:bodyPr vert="horz" wrap="square" lIns="91440" tIns="45720" rIns="91440" bIns="45720" rtlCol="0" anchor="ctr" anchorCtr="0">
            <a:noAutofit/>
          </a:bodyPr>
          <a:p>
            <a:pPr algn="ctr">
              <a:defRPr/>
            </a:pPr>
            <a:r>
              <a:rPr lang="en-US" sz="3600">
                <a:solidFill>
                  <a:schemeClr val="accent1"/>
                </a:solidFill>
              </a:rPr>
              <a:t>2</a:t>
            </a:r>
            <a:endParaRPr lang="en-US" sz="3600">
              <a:solidFill>
                <a:schemeClr val="accent1"/>
              </a:solidFill>
            </a:endParaRPr>
          </a:p>
        </p:txBody>
      </p:sp>
      <p:sp>
        <p:nvSpPr>
          <p:cNvPr id="3" name="TextBox 10"/>
          <p:cNvSpPr txBox="1"/>
          <p:nvPr>
            <p:custDataLst>
              <p:tags r:id="rId13"/>
            </p:custDataLst>
          </p:nvPr>
        </p:nvSpPr>
        <p:spPr>
          <a:xfrm>
            <a:off x="542238" y="5173209"/>
            <a:ext cx="849630" cy="481965"/>
          </a:xfrm>
          <a:prstGeom prst="rect">
            <a:avLst/>
          </a:prstGeom>
        </p:spPr>
        <p:txBody>
          <a:bodyPr vert="horz" wrap="square" lIns="91440" tIns="45720" rIns="91440" bIns="45720" rtlCol="0" anchor="ctr" anchorCtr="0">
            <a:noAutofit/>
          </a:bodyPr>
          <a:lstStyle/>
          <a:p>
            <a:pPr algn="ctr">
              <a:defRPr/>
            </a:pPr>
            <a:r>
              <a:rPr lang="en-US" sz="3600">
                <a:solidFill>
                  <a:schemeClr val="accent1"/>
                </a:solidFill>
              </a:rPr>
              <a:t>3</a:t>
            </a:r>
            <a:endParaRPr lang="en-US" sz="3600">
              <a:solidFill>
                <a:schemeClr val="accent1"/>
              </a:solidFill>
            </a:endParaRPr>
          </a:p>
        </p:txBody>
      </p:sp>
      <p:pic>
        <p:nvPicPr>
          <p:cNvPr id="4" name="图片 3" descr="e2287d2ddf8e0ff53df76cc97b1f62f9"/>
          <p:cNvPicPr>
            <a:picLocks noChangeAspect="1"/>
          </p:cNvPicPr>
          <p:nvPr/>
        </p:nvPicPr>
        <p:blipFill>
          <a:blip r:embed="rId14"/>
          <a:stretch>
            <a:fillRect/>
          </a:stretch>
        </p:blipFill>
        <p:spPr>
          <a:xfrm>
            <a:off x="8996680" y="609600"/>
            <a:ext cx="2785745" cy="2091055"/>
          </a:xfrm>
          <a:prstGeom prst="rect">
            <a:avLst/>
          </a:prstGeom>
        </p:spPr>
      </p:pic>
      <p:pic>
        <p:nvPicPr>
          <p:cNvPr id="6" name="图片 5"/>
          <p:cNvPicPr>
            <a:picLocks noChangeAspect="1"/>
          </p:cNvPicPr>
          <p:nvPr/>
        </p:nvPicPr>
        <p:blipFill>
          <a:blip r:embed="rId15"/>
          <a:stretch>
            <a:fillRect/>
          </a:stretch>
        </p:blipFill>
        <p:spPr>
          <a:xfrm>
            <a:off x="6682105" y="2667000"/>
            <a:ext cx="5422265" cy="320929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100000"/>
          </a:blip>
          <a:srcRect/>
          <a:stretch>
            <a:fillRect/>
          </a:stretch>
        </a:blipFill>
        <a:effectLst/>
      </p:bgPr>
    </p:bg>
    <p:spTree>
      <p:nvGrpSpPr>
        <p:cNvPr id="1" name=""/>
        <p:cNvGrpSpPr/>
        <p:nvPr/>
      </p:nvGrpSpPr>
      <p:grpSpPr>
        <a:xfrm>
          <a:off x="0" y="0"/>
          <a:ext cx="0" cy="0"/>
          <a:chOff x="0" y="0"/>
          <a:chExt cx="0" cy="0"/>
        </a:xfrm>
      </p:grpSpPr>
      <p:sp>
        <p:nvSpPr>
          <p:cNvPr id="2" name="TextBox 2"/>
          <p:cNvSpPr txBox="1"/>
          <p:nvPr/>
        </p:nvSpPr>
        <p:spPr>
          <a:xfrm>
            <a:off x="594989" y="1394597"/>
            <a:ext cx="7924800" cy="1876425"/>
          </a:xfrm>
          <a:prstGeom prst="rect">
            <a:avLst/>
          </a:prstGeom>
        </p:spPr>
        <p:txBody>
          <a:bodyPr vert="horz" wrap="square" lIns="114300" tIns="57150" rIns="114300" bIns="57150" rtlCol="0" anchor="t" anchorCtr="0">
            <a:spAutoFit/>
          </a:bodyPr>
          <a:lstStyle/>
          <a:p>
            <a:pPr>
              <a:lnSpc>
                <a:spcPct val="120000"/>
              </a:lnSpc>
            </a:pPr>
            <a:r>
              <a:rPr lang="en-US" sz="9225" b="1">
                <a:solidFill>
                  <a:srgbClr val="669B51">
                    <a:alpha val="100000"/>
                  </a:srgbClr>
                </a:solidFill>
                <a:latin typeface="微软雅黑" panose="020B0503020204020204" charset="-122"/>
                <a:ea typeface="微软雅黑" panose="020B0503020204020204" charset="-122"/>
                <a:cs typeface="微软雅黑" panose="020B0503020204020204" charset="-122"/>
              </a:rPr>
              <a:t>THANKS</a:t>
            </a:r>
            <a:endParaRPr lang="en-US" sz="9225" b="1">
              <a:solidFill>
                <a:srgbClr val="669B51">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914400" y="4876800"/>
            <a:ext cx="4064000" cy="583565"/>
          </a:xfrm>
          <a:prstGeom prst="rect">
            <a:avLst/>
          </a:prstGeom>
          <a:noFill/>
        </p:spPr>
        <p:txBody>
          <a:bodyPr wrap="square" rtlCol="0">
            <a:spAutoFit/>
          </a:bodyPr>
          <a:p>
            <a:r>
              <a:rPr lang="zh-CN" altLang="en-US" sz="1600">
                <a:latin typeface="微软雅黑" panose="020B0503020204020204" charset="-122"/>
                <a:ea typeface="微软雅黑" panose="020B0503020204020204" charset="-122"/>
              </a:rPr>
              <a:t>学院：计算科学与人工智能学院</a:t>
            </a:r>
            <a:endParaRPr lang="zh-CN" altLang="en-US" sz="1600">
              <a:latin typeface="微软雅黑" panose="020B0503020204020204" charset="-122"/>
              <a:ea typeface="微软雅黑" panose="020B0503020204020204" charset="-122"/>
            </a:endParaRPr>
          </a:p>
          <a:p>
            <a:r>
              <a:rPr lang="zh-CN" altLang="en-US" sz="1600">
                <a:latin typeface="微软雅黑" panose="020B0503020204020204" charset="-122"/>
                <a:ea typeface="微软雅黑" panose="020B0503020204020204" charset="-122"/>
              </a:rPr>
              <a:t>指导老师：龚兰兰、曹金华</a:t>
            </a:r>
            <a:endParaRPr lang="zh-CN" altLang="en-US" sz="1600">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2.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3.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4.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5.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6.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7.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8.xml><?xml version="1.0" encoding="utf-8"?>
<p:tagLst xmlns:p="http://schemas.openxmlformats.org/presentationml/2006/main">
  <p:tag name="KSO_WM_DIAGRAM_VIRTUALLY_FRAME" val="{&quot;height&quot;:371.41204724409454,&quot;left&quot;:401.88204724409445,&quot;top&quot;:166.09976377952754,&quot;width&quot;:409.91795275590556}"/>
</p:tagLst>
</file>

<file path=ppt/tags/tag9.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0.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1.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2.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3.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4.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5.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6.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7.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8.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19.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20.xml><?xml version="1.0" encoding="utf-8"?>
<p:tagLst xmlns:p="http://schemas.openxmlformats.org/presentationml/2006/main">
  <p:tag name="KSO_WM_DIAGRAM_VIRTUALLY_FRAME" val="{&quot;height&quot;:387.468346456693,&quot;left&quot;:42.69590551181103,&quot;top&quot;:107.9255905511811,&quot;width&quot;:407.7947244094488}"/>
</p:tagLst>
</file>

<file path=ppt/tags/tag21.xml><?xml version="1.0" encoding="utf-8"?>
<p:tagLst xmlns:p="http://schemas.openxmlformats.org/presentationml/2006/main">
  <p:tag name="KSO_WM_DIAGRAM_VIRTUALLY_FRAME" val="{&quot;height&quot;:384.17,&quot;left&quot;:323.89566929133855,&quot;top&quot;:129.37653543307084,&quot;width&quot;:600.1922047244095}"/>
</p:tagLst>
</file>

<file path=ppt/tags/tag22.xml><?xml version="1.0" encoding="utf-8"?>
<p:tagLst xmlns:p="http://schemas.openxmlformats.org/presentationml/2006/main">
  <p:tag name="KSO_WM_DIAGRAM_VIRTUALLY_FRAME" val="{&quot;height&quot;:384.17,&quot;left&quot;:323.89566929133855,&quot;top&quot;:129.37653543307084,&quot;width&quot;:600.1922047244095}"/>
</p:tagLst>
</file>

<file path=ppt/tags/tag23.xml><?xml version="1.0" encoding="utf-8"?>
<p:tagLst xmlns:p="http://schemas.openxmlformats.org/presentationml/2006/main">
  <p:tag name="KSO_WM_DIAGRAM_VIRTUALLY_FRAME" val="{&quot;height&quot;:384.17,&quot;left&quot;:323.89566929133855,&quot;top&quot;:129.37653543307084,&quot;width&quot;:600.1922047244095}"/>
</p:tagLst>
</file>

<file path=ppt/tags/tag24.xml><?xml version="1.0" encoding="utf-8"?>
<p:tagLst xmlns:p="http://schemas.openxmlformats.org/presentationml/2006/main">
  <p:tag name="KSO_WM_DIAGRAM_VIRTUALLY_FRAME" val="{&quot;height&quot;:384.17,&quot;left&quot;:323.89566929133855,&quot;top&quot;:129.37653543307084,&quot;width&quot;:600.1922047244095}"/>
</p:tagLst>
</file>

<file path=ppt/tags/tag25.xml><?xml version="1.0" encoding="utf-8"?>
<p:tagLst xmlns:p="http://schemas.openxmlformats.org/presentationml/2006/main">
  <p:tag name="KSO_WM_DIAGRAM_VIRTUALLY_FRAME" val="{&quot;height&quot;:384.17,&quot;left&quot;:323.89566929133855,&quot;top&quot;:129.37653543307084,&quot;width&quot;:600.1922047244095}"/>
</p:tagLst>
</file>

<file path=ppt/tags/tag26.xml><?xml version="1.0" encoding="utf-8"?>
<p:tagLst xmlns:p="http://schemas.openxmlformats.org/presentationml/2006/main">
  <p:tag name="KSO_WM_DIAGRAM_VIRTUALLY_FRAME" val="{&quot;height&quot;:384.17,&quot;left&quot;:323.89566929133855,&quot;top&quot;:129.37653543307084,&quot;width&quot;:600.1922047244095}"/>
</p:tagLst>
</file>

<file path=ppt/tags/tag27.xml><?xml version="1.0" encoding="utf-8"?>
<p:tagLst xmlns:p="http://schemas.openxmlformats.org/presentationml/2006/main">
  <p:tag name="KSO_WM_DIAGRAM_VIRTUALLY_FRAME" val="{&quot;height&quot;:384.17,&quot;left&quot;:323.89566929133855,&quot;top&quot;:129.37653543307084,&quot;width&quot;:600.1922047244095}"/>
</p:tagLst>
</file>

<file path=ppt/tags/tag28.xml><?xml version="1.0" encoding="utf-8"?>
<p:tagLst xmlns:p="http://schemas.openxmlformats.org/presentationml/2006/main">
  <p:tag name="KSO_WM_DIAGRAM_VIRTUALLY_FRAME" val="{&quot;height&quot;:384.17,&quot;left&quot;:323.89566929133855,&quot;top&quot;:129.37653543307084,&quot;width&quot;:600.1922047244095}"/>
</p:tagLst>
</file>

<file path=ppt/tags/tag29.xml><?xml version="1.0" encoding="utf-8"?>
<p:tagLst xmlns:p="http://schemas.openxmlformats.org/presentationml/2006/main">
  <p:tag name="KSO_WM_DIAGRAM_VIRTUALLY_FRAME" val="{&quot;height&quot;:384.17,&quot;left&quot;:323.89566929133855,&quot;top&quot;:129.37653543307084,&quot;width&quot;:600.1922047244095}"/>
</p:tagLst>
</file>

<file path=ppt/tags/tag30.xml><?xml version="1.0" encoding="utf-8"?>
<p:tagLst xmlns:p="http://schemas.openxmlformats.org/presentationml/2006/main">
  <p:tag name="KSO_WM_DIAGRAM_VIRTUALLY_FRAME" val="{&quot;height&quot;:384.17,&quot;left&quot;:323.89566929133855,&quot;top&quot;:129.37653543307084,&quot;width&quot;:600.1922047244095}"/>
</p:tagLst>
</file>

<file path=ppt/tags/tag31.xml><?xml version="1.0" encoding="utf-8"?>
<p:tagLst xmlns:p="http://schemas.openxmlformats.org/presentationml/2006/main">
  <p:tag name="KSO_WM_DIAGRAM_VIRTUALLY_FRAME" val="{&quot;height&quot;:384.17,&quot;left&quot;:323.89566929133855,&quot;top&quot;:129.37653543307084,&quot;width&quot;:600.1922047244095}"/>
</p:tagLst>
</file>

<file path=ppt/tags/tag32.xml><?xml version="1.0" encoding="utf-8"?>
<p:tagLst xmlns:p="http://schemas.openxmlformats.org/presentationml/2006/main">
  <p:tag name="KSO_WM_DIAGRAM_VIRTUALLY_FRAME" val="{&quot;height&quot;:384.17,&quot;left&quot;:323.89566929133855,&quot;top&quot;:129.37653543307084,&quot;width&quot;:600.1922047244095}"/>
</p:tagLst>
</file>

<file path=ppt/tags/tag33.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34.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35.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36.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37.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38.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39.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40.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41.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42.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43.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44.xml><?xml version="1.0" encoding="utf-8"?>
<p:tagLst xmlns:p="http://schemas.openxmlformats.org/presentationml/2006/main">
  <p:tag name="KSO_WM_DIAGRAM_VIRTUALLY_FRAME" val="{&quot;height&quot;:369.86850393700786,&quot;left&quot;:53.99464566929133,&quot;top&quot;:133.61574803149605,&quot;width&quot;:875.1066141732284}"/>
</p:tagLst>
</file>

<file path=ppt/tags/tag45.xml><?xml version="1.0" encoding="utf-8"?>
<p:tagLst xmlns:p="http://schemas.openxmlformats.org/presentationml/2006/main">
  <p:tag name="KSO_WM_DIAGRAM_VIRTUALLY_FRAME" val="{&quot;height&quot;:337.81409448818897,&quot;left&quot;:43.823070866141734,&quot;top&quot;:138.95787401574802,&quot;width&quot;:488.5686614173229}"/>
</p:tagLst>
</file>

<file path=ppt/tags/tag46.xml><?xml version="1.0" encoding="utf-8"?>
<p:tagLst xmlns:p="http://schemas.openxmlformats.org/presentationml/2006/main">
  <p:tag name="KSO_WM_DIAGRAM_VIRTUALLY_FRAME" val="{&quot;height&quot;:337.81409448818897,&quot;left&quot;:43.823070866141734,&quot;top&quot;:138.95787401574802,&quot;width&quot;:488.5686614173229}"/>
</p:tagLst>
</file>

<file path=ppt/tags/tag47.xml><?xml version="1.0" encoding="utf-8"?>
<p:tagLst xmlns:p="http://schemas.openxmlformats.org/presentationml/2006/main">
  <p:tag name="KSO_WM_DIAGRAM_VIRTUALLY_FRAME" val="{&quot;height&quot;:337.81409448818897,&quot;left&quot;:43.823070866141734,&quot;top&quot;:138.95787401574802,&quot;width&quot;:488.5686614173229}"/>
</p:tagLst>
</file>

<file path=ppt/tags/tag48.xml><?xml version="1.0" encoding="utf-8"?>
<p:tagLst xmlns:p="http://schemas.openxmlformats.org/presentationml/2006/main">
  <p:tag name="KSO_WM_DIAGRAM_VIRTUALLY_FRAME" val="{&quot;height&quot;:337.81409448818897,&quot;left&quot;:43.823070866141734,&quot;top&quot;:138.95787401574802,&quot;width&quot;:488.5686614173229}"/>
</p:tagLst>
</file>

<file path=ppt/tags/tag49.xml><?xml version="1.0" encoding="utf-8"?>
<p:tagLst xmlns:p="http://schemas.openxmlformats.org/presentationml/2006/main">
  <p:tag name="KSO_WM_DIAGRAM_VIRTUALLY_FRAME" val="{&quot;height&quot;:337.81409448818897,&quot;left&quot;:43.823070866141734,&quot;top&quot;:138.95787401574802,&quot;width&quot;:488.5686614173229}"/>
</p:tagLst>
</file>

<file path=ppt/tags/tag50.xml><?xml version="1.0" encoding="utf-8"?>
<p:tagLst xmlns:p="http://schemas.openxmlformats.org/presentationml/2006/main">
  <p:tag name="KSO_WM_DIAGRAM_VIRTUALLY_FRAME" val="{&quot;height&quot;:337.81409448818897,&quot;left&quot;:43.823070866141734,&quot;top&quot;:138.95787401574802,&quot;width&quot;:488.5686614173229}"/>
</p:tagLst>
</file>

<file path=ppt/tags/tag51.xml><?xml version="1.0" encoding="utf-8"?>
<p:tagLst xmlns:p="http://schemas.openxmlformats.org/presentationml/2006/main">
  <p:tag name="KSO_WM_DIAGRAM_VIRTUALLY_FRAME" val="{&quot;height&quot;:384.17,&quot;left&quot;:323.89566929133855,&quot;top&quot;:129.37653543307084,&quot;width&quot;:600.1922047244095}"/>
</p:tagLst>
</file>

<file path=ppt/tags/tag52.xml><?xml version="1.0" encoding="utf-8"?>
<p:tagLst xmlns:p="http://schemas.openxmlformats.org/presentationml/2006/main">
  <p:tag name="KSO_WM_DIAGRAM_VIRTUALLY_FRAME" val="{&quot;height&quot;:384.17,&quot;left&quot;:323.89566929133855,&quot;top&quot;:129.37653543307084,&quot;width&quot;:600.1922047244095}"/>
</p:tagLst>
</file>

<file path=ppt/tags/tag53.xml><?xml version="1.0" encoding="utf-8"?>
<p:tagLst xmlns:p="http://schemas.openxmlformats.org/presentationml/2006/main">
  <p:tag name="KSO_WM_DIAGRAM_VIRTUALLY_FRAME" val="{&quot;height&quot;:384.17,&quot;left&quot;:323.89566929133855,&quot;top&quot;:129.37653543307084,&quot;width&quot;:600.1922047244095}"/>
</p:tagLst>
</file>

<file path=ppt/tags/tag54.xml><?xml version="1.0" encoding="utf-8"?>
<p:tagLst xmlns:p="http://schemas.openxmlformats.org/presentationml/2006/main">
  <p:tag name="KSO_WM_DIAGRAM_VIRTUALLY_FRAME" val="{&quot;height&quot;:384.17,&quot;left&quot;:323.89566929133855,&quot;top&quot;:129.37653543307084,&quot;width&quot;:600.1922047244095}"/>
</p:tagLst>
</file>

<file path=ppt/tags/tag55.xml><?xml version="1.0" encoding="utf-8"?>
<p:tagLst xmlns:p="http://schemas.openxmlformats.org/presentationml/2006/main">
  <p:tag name="KSO_WM_DIAGRAM_VIRTUALLY_FRAME" val="{&quot;height&quot;:384.17,&quot;left&quot;:323.89566929133855,&quot;top&quot;:129.37653543307084,&quot;width&quot;:600.1922047244095}"/>
</p:tagLst>
</file>

<file path=ppt/tags/tag56.xml><?xml version="1.0" encoding="utf-8"?>
<p:tagLst xmlns:p="http://schemas.openxmlformats.org/presentationml/2006/main">
  <p:tag name="KSO_WM_DIAGRAM_VIRTUALLY_FRAME" val="{&quot;height&quot;:384.17,&quot;left&quot;:323.89566929133855,&quot;top&quot;:129.37653543307084,&quot;width&quot;:600.1922047244095}"/>
</p:tagLst>
</file>

<file path=ppt/tags/tag57.xml><?xml version="1.0" encoding="utf-8"?>
<p:tagLst xmlns:p="http://schemas.openxmlformats.org/presentationml/2006/main">
  <p:tag name="KSO_WM_DIAGRAM_VIRTUALLY_FRAME" val="{&quot;height&quot;:384.17,&quot;left&quot;:323.89566929133855,&quot;top&quot;:129.37653543307084,&quot;width&quot;:600.1922047244095}"/>
</p:tagLst>
</file>

<file path=ppt/tags/tag58.xml><?xml version="1.0" encoding="utf-8"?>
<p:tagLst xmlns:p="http://schemas.openxmlformats.org/presentationml/2006/main">
  <p:tag name="KSO_WM_DIAGRAM_VIRTUALLY_FRAME" val="{&quot;height&quot;:384.17,&quot;left&quot;:323.89566929133855,&quot;top&quot;:129.37653543307084,&quot;width&quot;:600.1922047244095}"/>
</p:tagLst>
</file>

<file path=ppt/tags/tag59.xml><?xml version="1.0" encoding="utf-8"?>
<p:tagLst xmlns:p="http://schemas.openxmlformats.org/presentationml/2006/main">
  <p:tag name="KSO_WM_DIAGRAM_VIRTUALLY_FRAME" val="{&quot;height&quot;:384.17,&quot;left&quot;:323.89566929133855,&quot;top&quot;:129.37653543307084,&quot;width&quot;:600.1922047244095}"/>
</p:tagLst>
</file>

<file path=ppt/tags/tag60.xml><?xml version="1.0" encoding="utf-8"?>
<p:tagLst xmlns:p="http://schemas.openxmlformats.org/presentationml/2006/main">
  <p:tag name="KSO_WM_DIAGRAM_VIRTUALLY_FRAME" val="{&quot;height&quot;:384.17,&quot;left&quot;:323.89566929133855,&quot;top&quot;:129.37653543307084,&quot;width&quot;:600.1922047244095}"/>
</p:tagLst>
</file>

<file path=ppt/tags/tag61.xml><?xml version="1.0" encoding="utf-8"?>
<p:tagLst xmlns:p="http://schemas.openxmlformats.org/presentationml/2006/main">
  <p:tag name="KSO_WM_DIAGRAM_VIRTUALLY_FRAME" val="{&quot;height&quot;:384.17,&quot;left&quot;:323.89566929133855,&quot;top&quot;:129.37653543307084,&quot;width&quot;:600.1922047244095}"/>
</p:tagLst>
</file>

<file path=ppt/tags/tag62.xml><?xml version="1.0" encoding="utf-8"?>
<p:tagLst xmlns:p="http://schemas.openxmlformats.org/presentationml/2006/main">
  <p:tag name="KSO_WM_DIAGRAM_VIRTUALLY_FRAME" val="{&quot;height&quot;:384.17,&quot;left&quot;:323.89566929133855,&quot;top&quot;:129.37653543307084,&quot;width&quot;:600.1922047244095}"/>
</p:tagLst>
</file>

<file path=ppt/tags/tag63.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64.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65.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66.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67.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68.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69.xml><?xml version="1.0" encoding="utf-8"?>
<p:tagLst xmlns:p="http://schemas.openxmlformats.org/presentationml/2006/main">
  <p:tag name="KSO_WM_DIAGRAM_VIRTUALLY_FRAME" val="{&quot;height&quot;:379.2248031496063,&quot;left&quot;:603.8140157480315,&quot;top&quot;:127.71637795275589,&quot;width&quot;:306.65346456692913}"/>
</p:tagLst>
</file>

<file path=ppt/tags/tag70.xml><?xml version="1.0" encoding="utf-8"?>
<p:tagLst xmlns:p="http://schemas.openxmlformats.org/presentationml/2006/main">
  <p:tag name="KSO_WM_DIAGRAM_VIRTUALLY_FRAME" val="{&quot;height&quot;:379.2248031496063,&quot;left&quot;:603.8140157480315,&quot;top&quot;:127.71637795275589,&quot;width&quot;:306.65346456692913}"/>
</p:tagLst>
</file>

<file path=ppt/tags/tag71.xml><?xml version="1.0" encoding="utf-8"?>
<p:tagLst xmlns:p="http://schemas.openxmlformats.org/presentationml/2006/main">
  <p:tag name="KSO_WM_DIAGRAM_VIRTUALLY_FRAME" val="{&quot;height&quot;:379.2248031496063,&quot;left&quot;:603.8140157480315,&quot;top&quot;:127.71637795275589,&quot;width&quot;:306.65346456692913}"/>
</p:tagLst>
</file>

<file path=ppt/tags/tag72.xml><?xml version="1.0" encoding="utf-8"?>
<p:tagLst xmlns:p="http://schemas.openxmlformats.org/presentationml/2006/main">
  <p:tag name="KSO_WM_DIAGRAM_VIRTUALLY_FRAME" val="{&quot;height&quot;:379.2248031496063,&quot;left&quot;:603.8140157480315,&quot;top&quot;:127.71637795275589,&quot;width&quot;:306.65346456692913}"/>
</p:tagLst>
</file>

<file path=ppt/tags/tag73.xml><?xml version="1.0" encoding="utf-8"?>
<p:tagLst xmlns:p="http://schemas.openxmlformats.org/presentationml/2006/main">
  <p:tag name="KSO_WM_DIAGRAM_VIRTUALLY_FRAME" val="{&quot;height&quot;:379.2248031496063,&quot;left&quot;:603.8140157480315,&quot;top&quot;:127.71637795275589,&quot;width&quot;:306.65346456692913}"/>
</p:tagLst>
</file>

<file path=ppt/tags/tag74.xml><?xml version="1.0" encoding="utf-8"?>
<p:tagLst xmlns:p="http://schemas.openxmlformats.org/presentationml/2006/main">
  <p:tag name="KSO_WM_DIAGRAM_VIRTUALLY_FRAME" val="{&quot;height&quot;:379.2248031496063,&quot;left&quot;:603.8140157480315,&quot;top&quot;:127.71637795275589,&quot;width&quot;:306.65346456692913}"/>
</p:tagLst>
</file>

<file path=ppt/tags/tag75.xml><?xml version="1.0" encoding="utf-8"?>
<p:tagLst xmlns:p="http://schemas.openxmlformats.org/presentationml/2006/main">
  <p:tag name="KSO_WM_DIAGRAM_VIRTUALLY_FRAME" val="{&quot;height&quot;:345.7100787401575,&quot;left&quot;:11.81031496062992,&quot;top&quot;:133.65,&quot;width&quot;:936.7977952755906}"/>
</p:tagLst>
</file>

<file path=ppt/tags/tag76.xml><?xml version="1.0" encoding="utf-8"?>
<p:tagLst xmlns:p="http://schemas.openxmlformats.org/presentationml/2006/main">
  <p:tag name="KSO_WM_DIAGRAM_VIRTUALLY_FRAME" val="{&quot;height&quot;:345.7100787401575,&quot;left&quot;:11.81031496062992,&quot;top&quot;:133.65,&quot;width&quot;:936.7977952755906}"/>
</p:tagLst>
</file>

<file path=ppt/tags/tag77.xml><?xml version="1.0" encoding="utf-8"?>
<p:tagLst xmlns:p="http://schemas.openxmlformats.org/presentationml/2006/main">
  <p:tag name="KSO_WM_DIAGRAM_VIRTUALLY_FRAME" val="{&quot;height&quot;:345.7100787401575,&quot;left&quot;:11.81031496062992,&quot;top&quot;:133.65,&quot;width&quot;:936.7977952755906}"/>
</p:tagLst>
</file>

<file path=ppt/tags/tag78.xml><?xml version="1.0" encoding="utf-8"?>
<p:tagLst xmlns:p="http://schemas.openxmlformats.org/presentationml/2006/main">
  <p:tag name="KSO_WM_DIAGRAM_VIRTUALLY_FRAME" val="{&quot;height&quot;:345.7100787401575,&quot;left&quot;:11.81031496062992,&quot;top&quot;:133.65,&quot;width&quot;:936.7977952755906}"/>
</p:tagLst>
</file>

<file path=ppt/tags/tag79.xml><?xml version="1.0" encoding="utf-8"?>
<p:tagLst xmlns:p="http://schemas.openxmlformats.org/presentationml/2006/main">
  <p:tag name="KSO_WM_DIAGRAM_VIRTUALLY_FRAME" val="{&quot;height&quot;:345.7100787401575,&quot;left&quot;:11.81031496062992,&quot;top&quot;:133.65,&quot;width&quot;:936.7977952755906}"/>
</p:tagLst>
</file>

<file path=ppt/tags/tag80.xml><?xml version="1.0" encoding="utf-8"?>
<p:tagLst xmlns:p="http://schemas.openxmlformats.org/presentationml/2006/main">
  <p:tag name="KSO_WM_DIAGRAM_VIRTUALLY_FRAME" val="{&quot;height&quot;:345.7100787401575,&quot;left&quot;:11.81031496062992,&quot;top&quot;:133.65,&quot;width&quot;:936.7977952755906}"/>
</p:tagLst>
</file>

<file path=ppt/tags/tag81.xml><?xml version="1.0" encoding="utf-8"?>
<p:tagLst xmlns:p="http://schemas.openxmlformats.org/presentationml/2006/main">
  <p:tag name="KSO_WM_DIAGRAM_VIRTUALLY_FRAME" val="{&quot;height&quot;:345.7100787401575,&quot;left&quot;:11.81031496062992,&quot;top&quot;:133.65,&quot;width&quot;:936.7977952755906}"/>
</p:tagLst>
</file>

<file path=ppt/tags/tag82.xml><?xml version="1.0" encoding="utf-8"?>
<p:tagLst xmlns:p="http://schemas.openxmlformats.org/presentationml/2006/main">
  <p:tag name="KSO_WM_DIAGRAM_VIRTUALLY_FRAME" val="{&quot;height&quot;:345.7100787401575,&quot;left&quot;:11.81031496062992,&quot;top&quot;:133.65,&quot;width&quot;:936.7977952755906}"/>
</p:tagLst>
</file>

<file path=ppt/tags/tag83.xml><?xml version="1.0" encoding="utf-8"?>
<p:tagLst xmlns:p="http://schemas.openxmlformats.org/presentationml/2006/main">
  <p:tag name="KSO_WM_DIAGRAM_VIRTUALLY_FRAME" val="{&quot;height&quot;:345.7100787401575,&quot;left&quot;:11.81031496062992,&quot;top&quot;:133.65,&quot;width&quot;:936.7977952755906}"/>
</p:tagLst>
</file>

<file path=ppt/tags/tag84.xml><?xml version="1.0" encoding="utf-8"?>
<p:tagLst xmlns:p="http://schemas.openxmlformats.org/presentationml/2006/main">
  <p:tag name="KSO_WM_DIAGRAM_VIRTUALLY_FRAME" val="{&quot;height&quot;:345.7100787401575,&quot;left&quot;:11.81031496062992,&quot;top&quot;:133.65,&quot;width&quot;:936.7977952755906}"/>
</p:tagLst>
</file>

<file path=ppt/tags/tag85.xml><?xml version="1.0" encoding="utf-8"?>
<p:tagLst xmlns:p="http://schemas.openxmlformats.org/presentationml/2006/main">
  <p:tag name="KSO_WM_DIAGRAM_VIRTUALLY_FRAME" val="{&quot;height&quot;:345.7100787401575,&quot;left&quot;:11.81031496062992,&quot;top&quot;:133.65,&quot;width&quot;:936.7977952755906}"/>
</p:tagLst>
</file>

<file path=ppt/tags/tag86.xml><?xml version="1.0" encoding="utf-8"?>
<p:tagLst xmlns:p="http://schemas.openxmlformats.org/presentationml/2006/main">
  <p:tag name="KSO_WM_DIAGRAM_VIRTUALLY_FRAME" val="{&quot;height&quot;:345.7100787401575,&quot;left&quot;:11.81031496062992,&quot;top&quot;:133.65,&quot;width&quot;:936.7977952755906}"/>
</p:tagLst>
</file>

<file path=ppt/tags/tag87.xml><?xml version="1.0" encoding="utf-8"?>
<p:tagLst xmlns:p="http://schemas.openxmlformats.org/presentationml/2006/main">
  <p:tag name="KSO_WM_DIAGRAM_VIRTUALLY_FRAME" val="{&quot;height&quot;:376.2404724409449,&quot;left&quot;:-16.7,&quot;top&quot;:114,&quot;width&quot;:1003.9}"/>
</p:tagLst>
</file>

<file path=ppt/tags/tag88.xml><?xml version="1.0" encoding="utf-8"?>
<p:tagLst xmlns:p="http://schemas.openxmlformats.org/presentationml/2006/main">
  <p:tag name="KSO_WM_DIAGRAM_VIRTUALLY_FRAME" val="{&quot;height&quot;:376.2404724409449,&quot;left&quot;:-16.7,&quot;top&quot;:114,&quot;width&quot;:1003.9}"/>
</p:tagLst>
</file>

<file path=ppt/tags/tag89.xml><?xml version="1.0" encoding="utf-8"?>
<p:tagLst xmlns:p="http://schemas.openxmlformats.org/presentationml/2006/main">
  <p:tag name="KSO_WM_DIAGRAM_VIRTUALLY_FRAME" val="{&quot;height&quot;:376.2404724409449,&quot;left&quot;:-16.7,&quot;top&quot;:114,&quot;width&quot;:1003.9}"/>
</p:tagLst>
</file>

<file path=ppt/tags/tag90.xml><?xml version="1.0" encoding="utf-8"?>
<p:tagLst xmlns:p="http://schemas.openxmlformats.org/presentationml/2006/main">
  <p:tag name="KSO_WM_DIAGRAM_VIRTUALLY_FRAME" val="{&quot;height&quot;:376.2404724409449,&quot;left&quot;:-16.7,&quot;top&quot;:114,&quot;width&quot;:1003.9}"/>
</p:tagLst>
</file>

<file path=ppt/tags/tag91.xml><?xml version="1.0" encoding="utf-8"?>
<p:tagLst xmlns:p="http://schemas.openxmlformats.org/presentationml/2006/main">
  <p:tag name="KSO_WM_DIAGRAM_VIRTUALLY_FRAME" val="{&quot;height&quot;:376.2404724409449,&quot;left&quot;:-16.7,&quot;top&quot;:114,&quot;width&quot;:1003.9}"/>
</p:tagLst>
</file>

<file path=ppt/tags/tag92.xml><?xml version="1.0" encoding="utf-8"?>
<p:tagLst xmlns:p="http://schemas.openxmlformats.org/presentationml/2006/main">
  <p:tag name="KSO_WM_DIAGRAM_VIRTUALLY_FRAME" val="{&quot;height&quot;:376.2404724409449,&quot;left&quot;:-16.7,&quot;top&quot;:114,&quot;width&quot;:1003.9}"/>
</p:tagLst>
</file>

<file path=ppt/tags/tag93.xml><?xml version="1.0" encoding="utf-8"?>
<p:tagLst xmlns:p="http://schemas.openxmlformats.org/presentationml/2006/main">
  <p:tag name="KSO_WM_DIAGRAM_VIRTUALLY_FRAME" val="{&quot;height&quot;:376.2404724409449,&quot;left&quot;:-16.7,&quot;top&quot;:114,&quot;width&quot;:1003.9}"/>
</p:tagLst>
</file>

<file path=ppt/tags/tag94.xml><?xml version="1.0" encoding="utf-8"?>
<p:tagLst xmlns:p="http://schemas.openxmlformats.org/presentationml/2006/main">
  <p:tag name="KSO_WM_DIAGRAM_VIRTUALLY_FRAME" val="{&quot;height&quot;:376.2404724409449,&quot;left&quot;:-16.7,&quot;top&quot;:114,&quot;width&quot;:1003.9}"/>
</p:tagLst>
</file>

<file path=ppt/tags/tag95.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96.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97.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98.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99.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0.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1.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2.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3.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4.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5.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6.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7.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8.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09.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10.xml><?xml version="1.0" encoding="utf-8"?>
<p:tagLst xmlns:p="http://schemas.openxmlformats.org/presentationml/2006/main">
  <p:tag name="KSO_WM_DIAGRAM_VIRTUALLY_FRAME" val="{&quot;height&quot;:315.71023622047244,&quot;left&quot;:47.59826771653543,&quot;top&quot;:135.69866141732285,&quot;width&quot;:870.2296062992125}"/>
</p:tagLst>
</file>

<file path=ppt/tags/tag111.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112.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113.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114.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115.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116.xml><?xml version="1.0" encoding="utf-8"?>
<p:tagLst xmlns:p="http://schemas.openxmlformats.org/presentationml/2006/main">
  <p:tag name="KSO_WM_DIAGRAM_VIRTUALLY_FRAME" val="{&quot;height&quot;:308.123937007874,&quot;left&quot;:59.1844094488189,&quot;top&quot;:151.22362204724408,&quot;width&quot;:521.3463779527559}"/>
</p:tagLst>
</file>

<file path=ppt/tags/tag117.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18.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19.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0.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1.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2.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3.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4.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5.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6.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7.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ags/tag128.xml><?xml version="1.0" encoding="utf-8"?>
<p:tagLst xmlns:p="http://schemas.openxmlformats.org/presentationml/2006/main">
  <p:tag name="KSO_WM_DIAGRAM_VIRTUALLY_FRAME" val="{&quot;height&quot;:431.96645669291337,&quot;left&quot;:41.995905511811024,&quot;top&quot;:109.63354330708663,&quot;width&quot;:499.554094488189}"/>
</p:tagLst>
</file>

<file path=ppt/theme/theme1.xml><?xml version="1.0" encoding="utf-8"?>
<a:theme xmlns:a="http://schemas.openxmlformats.org/drawingml/2006/main" name="Office Theme">
  <a:themeElements>
    <a:clrScheme name="Office">
      <a:dk1>
        <a:srgbClr val="222222"/>
      </a:dk1>
      <a:lt1>
        <a:srgbClr val="FCFCF6"/>
      </a:lt1>
      <a:dk2>
        <a:srgbClr val="222222"/>
      </a:dk2>
      <a:lt2>
        <a:srgbClr val="FFFFFF"/>
      </a:lt2>
      <a:accent1>
        <a:srgbClr val="669B51"/>
      </a:accent1>
      <a:accent2>
        <a:srgbClr val="6B9160"/>
      </a:accent2>
      <a:accent3>
        <a:srgbClr val="88AF78"/>
      </a:accent3>
      <a:accent4>
        <a:srgbClr val="7C9C5D"/>
      </a:accent4>
      <a:accent5>
        <a:srgbClr val="587757"/>
      </a:accent5>
      <a:accent6>
        <a:srgbClr val="24443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4424</Words>
  <Application>WPS 演示</Application>
  <PresentationFormat>On-screen Show (4:3)</PresentationFormat>
  <Paragraphs>452</Paragraphs>
  <Slides>34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34</vt:i4>
      </vt:variant>
    </vt:vector>
  </HeadingPairs>
  <TitlesOfParts>
    <vt:vector size="45" baseType="lpstr">
      <vt:lpstr>Arial</vt:lpstr>
      <vt:lpstr>宋体</vt:lpstr>
      <vt:lpstr>Wingdings</vt:lpstr>
      <vt:lpstr>微软雅黑</vt:lpstr>
      <vt:lpstr>Comic Sans MS</vt:lpstr>
      <vt:lpstr>华文琥珀</vt:lpstr>
      <vt:lpstr>新宋体</vt:lpstr>
      <vt:lpstr>Arial Unicode MS</vt:lpstr>
      <vt:lpstr>Calibri</vt:lpstr>
      <vt:lpstr>华文宋体</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幽幽人生</cp:lastModifiedBy>
  <cp:revision>304</cp:revision>
  <dcterms:created xsi:type="dcterms:W3CDTF">2006-08-16T00:00:00Z</dcterms:created>
  <dcterms:modified xsi:type="dcterms:W3CDTF">2025-04-07T01:46:16Z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6EED74C8AACF460D80D1A42159A5BDA9_13</vt:lpwstr>
  </property>
  <property fmtid="{D5CDD505-2E9C-101B-9397-08002B2CF9AE}" pid="3" name="KSOProductBuildVer">
    <vt:lpwstr>2052-12.1.0.20784</vt:lpwstr>
  </property>
</Properties>
</file>